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0FA"/>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POWERKLOCK</a:t>
            </a:r>
          </a:p>
        </p:txBody>
      </p:sp>
      <p:sp>
        <p:nvSpPr>
          <p:cNvPr id="3" name="TextBox 2"/>
          <p:cNvSpPr txBox="1"/>
          <p:nvPr/>
        </p:nvSpPr>
        <p:spPr>
          <a:xfrm>
            <a:off x="571500" y="1962150"/>
            <a:ext cx="11049000" cy="1045666"/>
          </a:xfrm>
          <a:prstGeom prst="rect">
            <a:avLst/>
          </a:prstGeom>
          <a:noFill/>
        </p:spPr>
        <p:txBody>
          <a:bodyPr wrap="square" lIns="0" rIns="0" tIns="0" bIns="0" anchor="t">
            <a:spAutoFit/>
          </a:bodyPr>
          <a:lstStyle/>
          <a:p>
            <a:r>
              <a:rPr sz="3450" b="1">
                <a:solidFill>
                  <a:srgbClr val="22252B"/>
                </a:solidFill>
                <a:latin typeface="Arial"/>
              </a:rPr>
              <a:t>Le couplage européen a-t-il fait monter</a:t>
            </a:r>
          </a:p>
          <a:p>
            <a:r>
              <a:rPr sz="3450" b="1">
                <a:solidFill>
                  <a:srgbClr val="22252B"/>
                </a:solidFill>
                <a:latin typeface="Arial"/>
              </a:rPr>
              <a:t>le prix de l’électricité en France ?</a:t>
            </a:r>
          </a:p>
        </p:txBody>
      </p:sp>
      <p:sp>
        <p:nvSpPr>
          <p:cNvPr id="4" name="TextBox 3"/>
          <p:cNvSpPr txBox="1"/>
          <p:nvPr/>
        </p:nvSpPr>
        <p:spPr>
          <a:xfrm>
            <a:off x="571500" y="3169741"/>
            <a:ext cx="11049000" cy="338137"/>
          </a:xfrm>
          <a:prstGeom prst="rect">
            <a:avLst/>
          </a:prstGeom>
          <a:noFill/>
        </p:spPr>
        <p:txBody>
          <a:bodyPr wrap="square" lIns="0" rIns="0" tIns="0" bIns="0" anchor="t">
            <a:spAutoFit/>
          </a:bodyPr>
          <a:lstStyle/>
          <a:p>
            <a:r>
              <a:rPr sz="1575" b="0">
                <a:solidFill>
                  <a:srgbClr val="555555"/>
                </a:solidFill>
                <a:latin typeface="Arial"/>
              </a:rPr>
              <a:t>Heures couplées et coupées, prix d’une France isolée, heures où le prix monte, où va l’argent, 2020 – octobre 2026</a:t>
            </a:r>
          </a:p>
        </p:txBody>
      </p:sp>
      <p:sp>
        <p:nvSpPr>
          <p:cNvPr id="5" name="TextBox 4"/>
          <p:cNvSpPr txBox="1"/>
          <p:nvPr/>
        </p:nvSpPr>
        <p:spPr>
          <a:xfrm>
            <a:off x="8597056" y="6572250"/>
            <a:ext cx="3023443"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novembre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LA RÉPONSE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La réponse en une page</a:t>
            </a:r>
          </a:p>
        </p:txBody>
      </p:sp>
      <p:sp>
        <p:nvSpPr>
          <p:cNvPr id="4" name="TextBox 3"/>
          <p:cNvSpPr txBox="1"/>
          <p:nvPr/>
        </p:nvSpPr>
        <p:spPr>
          <a:xfrm>
            <a:off x="571500" y="1101476"/>
            <a:ext cx="11049000" cy="741164"/>
          </a:xfrm>
          <a:prstGeom prst="rect">
            <a:avLst/>
          </a:prstGeom>
          <a:noFill/>
        </p:spPr>
        <p:txBody>
          <a:bodyPr wrap="square" lIns="0" rIns="0" tIns="0" bIns="0" anchor="t">
            <a:spAutoFit/>
          </a:bodyPr>
          <a:lstStyle/>
          <a:p>
            <a:r>
              <a:rPr sz="1950" b="1">
                <a:solidFill>
                  <a:srgbClr val="7A5CC7"/>
                </a:solidFill>
                <a:latin typeface="Arial"/>
              </a:rPr>
              <a:t>Probablement oui pour le prix spot, les années où la France exporte (presque toutes) ; non en 2022.</a:t>
            </a:r>
          </a:p>
        </p:txBody>
      </p:sp>
      <p:graphicFrame>
        <p:nvGraphicFramePr>
          <p:cNvPr id="5" name="Table 4"/>
          <p:cNvGraphicFramePr>
            <a:graphicFrameLocks noGrp="1"/>
          </p:cNvGraphicFramePr>
          <p:nvPr/>
        </p:nvGraphicFramePr>
        <p:xfrm>
          <a:off x="571500" y="1956941"/>
          <a:ext cx="11048995" cy="3309188"/>
        </p:xfrm>
        <a:graphic>
          <a:graphicData uri="http://schemas.openxmlformats.org/drawingml/2006/table">
            <a:tbl>
              <a:tblPr firstRow="0" bandRow="0">
                <a:tableStyleId>{5C22544A-7EE6-4342-B048-85BDC9FD1C3A}</a:tableStyleId>
              </a:tblPr>
              <a:tblGrid>
                <a:gridCol w="1650503"/>
                <a:gridCol w="899368"/>
                <a:gridCol w="1315640"/>
                <a:gridCol w="1249412"/>
                <a:gridCol w="1249114"/>
                <a:gridCol w="1173360"/>
                <a:gridCol w="1249114"/>
                <a:gridCol w="1173360"/>
                <a:gridCol w="1089124"/>
              </a:tblGrid>
              <a:tr h="567183">
                <a:tc>
                  <a:txBody>
                    <a:bodyPr wrap="square"/>
                    <a:lstStyle/>
                    <a:p>
                      <a:r>
                        <a:rPr sz="1125" b="1">
                          <a:solidFill>
                            <a:srgbClr val="22252B"/>
                          </a:solidFill>
                          <a:latin typeface="Arial"/>
                        </a:rPr>
                        <a:t>Année</a:t>
                      </a:r>
                    </a:p>
                  </a:txBody>
                  <a:tcPr marL="95250" marR="95250" marT="76200" marB="76200">
                    <a:solidFill>
                      <a:srgbClr val="F5F3FB"/>
                    </a:solidFill>
                  </a:tcPr>
                </a:tc>
                <a:tc>
                  <a:txBody>
                    <a:bodyPr wrap="square"/>
                    <a:lstStyle/>
                    <a:p>
                      <a:pPr algn="r"/>
                      <a:r>
                        <a:rPr sz="1125" b="1">
                          <a:solidFill>
                            <a:srgbClr val="22252B"/>
                          </a:solidFill>
                          <a:latin typeface="Arial"/>
                        </a:rPr>
                        <a:t>Prix réel</a:t>
                      </a:r>
                    </a:p>
                    <a:p>
                      <a:pPr algn="r"/>
                      <a:r>
                        <a:rPr sz="937" b="0">
                          <a:solidFill>
                            <a:srgbClr val="777777"/>
                          </a:solidFill>
                          <a:latin typeface="Arial"/>
                        </a:rPr>
                        <a:t>€/MWh</a:t>
                      </a:r>
                    </a:p>
                  </a:txBody>
                  <a:tcPr marL="95250" marR="95250" marT="76200" marB="76200">
                    <a:solidFill>
                      <a:srgbClr val="F5F3FB"/>
                    </a:solidFill>
                  </a:tcPr>
                </a:tc>
                <a:tc>
                  <a:txBody>
                    <a:bodyPr wrap="square"/>
                    <a:lstStyle/>
                    <a:p>
                      <a:pPr algn="r"/>
                      <a:r>
                        <a:rPr sz="1125" b="1">
                          <a:solidFill>
                            <a:srgbClr val="22252B"/>
                          </a:solidFill>
                          <a:latin typeface="Arial"/>
                        </a:rPr>
                        <a:t>France isolée</a:t>
                      </a:r>
                    </a:p>
                    <a:p>
                      <a:pPr algn="r"/>
                      <a:r>
                        <a:rPr sz="937" b="0">
                          <a:solidFill>
                            <a:srgbClr val="777777"/>
                          </a:solidFill>
                          <a:latin typeface="Arial"/>
                        </a:rPr>
                        <a:t>€/MWh, modèle</a:t>
                      </a:r>
                    </a:p>
                  </a:txBody>
                  <a:tcPr marL="95250" marR="95250" marT="76200" marB="76200">
                    <a:solidFill>
                      <a:srgbClr val="F5F3FB"/>
                    </a:solidFill>
                  </a:tcPr>
                </a:tc>
                <a:tc>
                  <a:txBody>
                    <a:bodyPr wrap="square"/>
                    <a:lstStyle/>
                    <a:p>
                      <a:pPr algn="r"/>
                      <a:r>
                        <a:rPr sz="1125" b="1">
                          <a:solidFill>
                            <a:srgbClr val="22252B"/>
                          </a:solidFill>
                          <a:latin typeface="Arial"/>
                        </a:rPr>
                        <a:t>Écart moyen</a:t>
                      </a:r>
                    </a:p>
                    <a:p>
                      <a:pPr algn="r"/>
                      <a:r>
                        <a:rPr sz="937" b="0">
                          <a:solidFill>
                            <a:srgbClr val="777777"/>
                          </a:solidFill>
                          <a:latin typeface="Arial"/>
                        </a:rPr>
                        <a:t>€/MWh</a:t>
                      </a:r>
                    </a:p>
                  </a:txBody>
                  <a:tcPr marL="95250" marR="95250" marT="76200" marB="76200">
                    <a:solidFill>
                      <a:srgbClr val="F5F3FB"/>
                    </a:solidFill>
                  </a:tcPr>
                </a:tc>
                <a:tc>
                  <a:txBody>
                    <a:bodyPr wrap="square"/>
                    <a:lstStyle/>
                    <a:p>
                      <a:pPr algn="r"/>
                      <a:r>
                        <a:rPr sz="1125" b="1">
                          <a:solidFill>
                            <a:srgbClr val="22252B"/>
                          </a:solidFill>
                          <a:latin typeface="Arial"/>
                        </a:rPr>
                        <a:t>Heures où le</a:t>
                      </a:r>
                    </a:p>
                    <a:p>
                      <a:pPr algn="r"/>
                      <a:r>
                        <a:rPr sz="1125" b="1">
                          <a:solidFill>
                            <a:srgbClr val="22252B"/>
                          </a:solidFill>
                          <a:latin typeface="Arial"/>
                        </a:rPr>
                        <a:t>prix monte</a:t>
                      </a:r>
                    </a:p>
                  </a:txBody>
                  <a:tcPr marL="95250" marR="95250" marT="76200" marB="76200">
                    <a:solidFill>
                      <a:srgbClr val="F5F3FB"/>
                    </a:solidFill>
                  </a:tcPr>
                </a:tc>
                <a:tc>
                  <a:txBody>
                    <a:bodyPr wrap="square"/>
                    <a:lstStyle/>
                    <a:p>
                      <a:pPr algn="r"/>
                      <a:r>
                        <a:rPr sz="1125" b="1">
                          <a:solidFill>
                            <a:srgbClr val="22252B"/>
                          </a:solidFill>
                          <a:latin typeface="Arial"/>
                        </a:rPr>
                        <a:t>de combien</a:t>
                      </a:r>
                    </a:p>
                    <a:p>
                      <a:pPr algn="r"/>
                      <a:r>
                        <a:rPr sz="937" b="0">
                          <a:solidFill>
                            <a:srgbClr val="777777"/>
                          </a:solidFill>
                          <a:latin typeface="Arial"/>
                        </a:rPr>
                        <a:t>€/MWh</a:t>
                      </a:r>
                    </a:p>
                  </a:txBody>
                  <a:tcPr marL="95250" marR="95250" marT="76200" marB="76200">
                    <a:solidFill>
                      <a:srgbClr val="F5F3FB"/>
                    </a:solidFill>
                  </a:tcPr>
                </a:tc>
                <a:tc>
                  <a:txBody>
                    <a:bodyPr wrap="square"/>
                    <a:lstStyle/>
                    <a:p>
                      <a:pPr algn="r"/>
                      <a:r>
                        <a:rPr sz="1125" b="1">
                          <a:solidFill>
                            <a:srgbClr val="22252B"/>
                          </a:solidFill>
                          <a:latin typeface="Arial"/>
                        </a:rPr>
                        <a:t>Heures où le</a:t>
                      </a:r>
                    </a:p>
                    <a:p>
                      <a:pPr algn="r"/>
                      <a:r>
                        <a:rPr sz="1125" b="1">
                          <a:solidFill>
                            <a:srgbClr val="22252B"/>
                          </a:solidFill>
                          <a:latin typeface="Arial"/>
                        </a:rPr>
                        <a:t>prix baisse</a:t>
                      </a:r>
                    </a:p>
                  </a:txBody>
                  <a:tcPr marL="95250" marR="95250" marT="76200" marB="76200">
                    <a:solidFill>
                      <a:srgbClr val="F5F3FB"/>
                    </a:solidFill>
                  </a:tcPr>
                </a:tc>
                <a:tc>
                  <a:txBody>
                    <a:bodyPr wrap="square"/>
                    <a:lstStyle/>
                    <a:p>
                      <a:pPr algn="r"/>
                      <a:r>
                        <a:rPr sz="1125" b="1">
                          <a:solidFill>
                            <a:srgbClr val="22252B"/>
                          </a:solidFill>
                          <a:latin typeface="Arial"/>
                        </a:rPr>
                        <a:t>de combien</a:t>
                      </a:r>
                    </a:p>
                    <a:p>
                      <a:pPr algn="r"/>
                      <a:r>
                        <a:rPr sz="937" b="0">
                          <a:solidFill>
                            <a:srgbClr val="777777"/>
                          </a:solidFill>
                          <a:latin typeface="Arial"/>
                        </a:rPr>
                        <a:t>€/MWh</a:t>
                      </a:r>
                    </a:p>
                  </a:txBody>
                  <a:tcPr marL="95250" marR="95250" marT="76200" marB="76200">
                    <a:solidFill>
                      <a:srgbClr val="F5F3FB"/>
                    </a:solidFill>
                  </a:tcPr>
                </a:tc>
                <a:tc>
                  <a:txBody>
                    <a:bodyPr wrap="square"/>
                    <a:lstStyle/>
                    <a:p>
                      <a:pPr algn="r"/>
                      <a:r>
                        <a:rPr sz="1125" b="1">
                          <a:solidFill>
                            <a:srgbClr val="22252B"/>
                          </a:solidFill>
                          <a:latin typeface="Arial"/>
                        </a:rPr>
                        <a:t>Pas d’effet</a:t>
                      </a:r>
                    </a:p>
                    <a:p>
                      <a:pPr algn="r"/>
                      <a:r>
                        <a:rPr sz="937" b="0">
                          <a:solidFill>
                            <a:srgbClr val="777777"/>
                          </a:solidFill>
                          <a:latin typeface="Arial"/>
                        </a:rPr>
                        <a:t>moins de 5 €</a:t>
                      </a:r>
                    </a:p>
                  </a:txBody>
                  <a:tcPr marL="95250" marR="95250" marT="76200" marB="76200">
                    <a:solidFill>
                      <a:srgbClr val="F5F3FB"/>
                    </a:solidFill>
                  </a:tcPr>
                </a:tc>
              </a:tr>
              <a:tr h="391715">
                <a:tc>
                  <a:txBody>
                    <a:bodyPr wrap="square"/>
                    <a:lstStyle/>
                    <a:p>
                      <a:r>
                        <a:rPr sz="1275" b="0">
                          <a:solidFill>
                            <a:srgbClr val="22252B"/>
                          </a:solidFill>
                          <a:latin typeface="Arial"/>
                        </a:rPr>
                        <a:t>2020</a:t>
                      </a:r>
                    </a:p>
                  </a:txBody>
                  <a:tcPr marL="95250" marR="95250" marT="76200" marB="76200">
                    <a:solidFill>
                      <a:srgbClr val="FFFFFF"/>
                    </a:solidFill>
                  </a:tcPr>
                </a:tc>
                <a:tc>
                  <a:txBody>
                    <a:bodyPr wrap="square"/>
                    <a:lstStyle/>
                    <a:p>
                      <a:pPr algn="r"/>
                      <a:r>
                        <a:rPr sz="1275" b="0">
                          <a:solidFill>
                            <a:srgbClr val="22252B"/>
                          </a:solidFill>
                          <a:latin typeface="Arial"/>
                        </a:rPr>
                        <a:t>32</a:t>
                      </a:r>
                    </a:p>
                  </a:txBody>
                  <a:tcPr marL="95250" marR="95250" marT="76200" marB="76200">
                    <a:solidFill>
                      <a:srgbClr val="FFFFFF"/>
                    </a:solidFill>
                  </a:tcPr>
                </a:tc>
                <a:tc>
                  <a:txBody>
                    <a:bodyPr wrap="square"/>
                    <a:lstStyle/>
                    <a:p>
                      <a:pPr algn="r"/>
                      <a:r>
                        <a:rPr sz="1275" b="0">
                          <a:solidFill>
                            <a:srgbClr val="22252B"/>
                          </a:solidFill>
                          <a:latin typeface="Arial"/>
                        </a:rPr>
                        <a:t>19</a:t>
                      </a:r>
                    </a:p>
                  </a:txBody>
                  <a:tcPr marL="95250" marR="95250" marT="76200" marB="76200">
                    <a:solidFill>
                      <a:srgbClr val="FFFFFF"/>
                    </a:solidFill>
                  </a:tcPr>
                </a:tc>
                <a:tc>
                  <a:txBody>
                    <a:bodyPr wrap="square"/>
                    <a:lstStyle/>
                    <a:p>
                      <a:pPr algn="r"/>
                      <a:r>
                        <a:rPr sz="1275" b="0">
                          <a:solidFill>
                            <a:srgbClr val="C8453A"/>
                          </a:solidFill>
                          <a:latin typeface="Arial"/>
                        </a:rPr>
                        <a:t>+14</a:t>
                      </a:r>
                    </a:p>
                  </a:txBody>
                  <a:tcPr marL="95250" marR="95250" marT="76200" marB="76200">
                    <a:solidFill>
                      <a:srgbClr val="FFFFFF"/>
                    </a:solidFill>
                  </a:tcPr>
                </a:tc>
                <a:tc>
                  <a:txBody>
                    <a:bodyPr wrap="square"/>
                    <a:lstStyle/>
                    <a:p>
                      <a:pPr algn="r"/>
                      <a:r>
                        <a:rPr sz="1275" b="0">
                          <a:solidFill>
                            <a:srgbClr val="22252B"/>
                          </a:solidFill>
                          <a:latin typeface="Arial"/>
                        </a:rPr>
                        <a:t>6 289 h</a:t>
                      </a:r>
                    </a:p>
                  </a:txBody>
                  <a:tcPr marL="95250" marR="95250" marT="76200" marB="76200">
                    <a:solidFill>
                      <a:srgbClr val="FFFFFF"/>
                    </a:solidFill>
                  </a:tcPr>
                </a:tc>
                <a:tc>
                  <a:txBody>
                    <a:bodyPr wrap="square"/>
                    <a:lstStyle/>
                    <a:p>
                      <a:pPr algn="r"/>
                      <a:r>
                        <a:rPr sz="1275" b="0">
                          <a:solidFill>
                            <a:srgbClr val="C8453A"/>
                          </a:solidFill>
                          <a:latin typeface="Arial"/>
                        </a:rPr>
                        <a:t>+20</a:t>
                      </a:r>
                    </a:p>
                  </a:txBody>
                  <a:tcPr marL="95250" marR="95250" marT="76200" marB="76200">
                    <a:solidFill>
                      <a:srgbClr val="FFFFFF"/>
                    </a:solidFill>
                  </a:tcPr>
                </a:tc>
                <a:tc>
                  <a:txBody>
                    <a:bodyPr wrap="square"/>
                    <a:lstStyle/>
                    <a:p>
                      <a:pPr algn="r"/>
                      <a:r>
                        <a:rPr sz="1275" b="0">
                          <a:solidFill>
                            <a:srgbClr val="22252B"/>
                          </a:solidFill>
                          <a:latin typeface="Arial"/>
                        </a:rPr>
                        <a:t>600 h</a:t>
                      </a:r>
                    </a:p>
                  </a:txBody>
                  <a:tcPr marL="95250" marR="95250" marT="76200" marB="76200">
                    <a:solidFill>
                      <a:srgbClr val="FFFFFF"/>
                    </a:solidFill>
                  </a:tcPr>
                </a:tc>
                <a:tc>
                  <a:txBody>
                    <a:bodyPr wrap="square"/>
                    <a:lstStyle/>
                    <a:p>
                      <a:pPr algn="r"/>
                      <a:r>
                        <a:rPr sz="1275" b="0">
                          <a:solidFill>
                            <a:srgbClr val="3F8F5A"/>
                          </a:solidFill>
                          <a:latin typeface="Arial"/>
                        </a:rPr>
                        <a:t>-12</a:t>
                      </a:r>
                    </a:p>
                  </a:txBody>
                  <a:tcPr marL="95250" marR="95250" marT="76200" marB="76200">
                    <a:solidFill>
                      <a:srgbClr val="FFFFFF"/>
                    </a:solidFill>
                  </a:tcPr>
                </a:tc>
                <a:tc>
                  <a:txBody>
                    <a:bodyPr wrap="square"/>
                    <a:lstStyle/>
                    <a:p>
                      <a:pPr algn="r"/>
                      <a:r>
                        <a:rPr sz="1275" b="0">
                          <a:solidFill>
                            <a:srgbClr val="22252B"/>
                          </a:solidFill>
                          <a:latin typeface="Arial"/>
                        </a:rPr>
                        <a:t>1 883 h</a:t>
                      </a:r>
                    </a:p>
                  </a:txBody>
                  <a:tcPr marL="95250" marR="95250" marT="76200" marB="76200">
                    <a:solidFill>
                      <a:srgbClr val="FFFFFF"/>
                    </a:solidFill>
                  </a:tcPr>
                </a:tc>
              </a:tr>
              <a:tr h="391715">
                <a:tc>
                  <a:txBody>
                    <a:bodyPr wrap="square"/>
                    <a:lstStyle/>
                    <a:p>
                      <a:r>
                        <a:rPr sz="1275" b="0">
                          <a:solidFill>
                            <a:srgbClr val="22252B"/>
                          </a:solidFill>
                          <a:latin typeface="Arial"/>
                        </a:rPr>
                        <a:t>2021</a:t>
                      </a:r>
                    </a:p>
                  </a:txBody>
                  <a:tcPr marL="95250" marR="95250" marT="76200" marB="76200">
                    <a:solidFill>
                      <a:srgbClr val="FFFFFF"/>
                    </a:solidFill>
                  </a:tcPr>
                </a:tc>
                <a:tc>
                  <a:txBody>
                    <a:bodyPr wrap="square"/>
                    <a:lstStyle/>
                    <a:p>
                      <a:pPr algn="r"/>
                      <a:r>
                        <a:rPr sz="1275" b="0">
                          <a:solidFill>
                            <a:srgbClr val="22252B"/>
                          </a:solidFill>
                          <a:latin typeface="Arial"/>
                        </a:rPr>
                        <a:t>107</a:t>
                      </a:r>
                    </a:p>
                  </a:txBody>
                  <a:tcPr marL="95250" marR="95250" marT="76200" marB="76200">
                    <a:solidFill>
                      <a:srgbClr val="FFFFFF"/>
                    </a:solidFill>
                  </a:tcPr>
                </a:tc>
                <a:tc>
                  <a:txBody>
                    <a:bodyPr wrap="square"/>
                    <a:lstStyle/>
                    <a:p>
                      <a:pPr algn="r"/>
                      <a:r>
                        <a:rPr sz="1275" b="0">
                          <a:solidFill>
                            <a:srgbClr val="22252B"/>
                          </a:solidFill>
                          <a:latin typeface="Arial"/>
                        </a:rPr>
                        <a:t>78</a:t>
                      </a:r>
                    </a:p>
                  </a:txBody>
                  <a:tcPr marL="95250" marR="95250" marT="76200" marB="76200">
                    <a:solidFill>
                      <a:srgbClr val="FFFFFF"/>
                    </a:solidFill>
                  </a:tcPr>
                </a:tc>
                <a:tc>
                  <a:txBody>
                    <a:bodyPr wrap="square"/>
                    <a:lstStyle/>
                    <a:p>
                      <a:pPr algn="r"/>
                      <a:r>
                        <a:rPr sz="1275" b="0">
                          <a:solidFill>
                            <a:srgbClr val="C8453A"/>
                          </a:solidFill>
                          <a:latin typeface="Arial"/>
                        </a:rPr>
                        <a:t>+29</a:t>
                      </a:r>
                    </a:p>
                  </a:txBody>
                  <a:tcPr marL="95250" marR="95250" marT="76200" marB="76200">
                    <a:solidFill>
                      <a:srgbClr val="FFFFFF"/>
                    </a:solidFill>
                  </a:tcPr>
                </a:tc>
                <a:tc>
                  <a:txBody>
                    <a:bodyPr wrap="square"/>
                    <a:lstStyle/>
                    <a:p>
                      <a:pPr algn="r"/>
                      <a:r>
                        <a:rPr sz="1275" b="0">
                          <a:solidFill>
                            <a:srgbClr val="22252B"/>
                          </a:solidFill>
                          <a:latin typeface="Arial"/>
                        </a:rPr>
                        <a:t>6 357 h</a:t>
                      </a:r>
                    </a:p>
                  </a:txBody>
                  <a:tcPr marL="95250" marR="95250" marT="76200" marB="76200">
                    <a:solidFill>
                      <a:srgbClr val="FFFFFF"/>
                    </a:solidFill>
                  </a:tcPr>
                </a:tc>
                <a:tc>
                  <a:txBody>
                    <a:bodyPr wrap="square"/>
                    <a:lstStyle/>
                    <a:p>
                      <a:pPr algn="r"/>
                      <a:r>
                        <a:rPr sz="1275" b="0">
                          <a:solidFill>
                            <a:srgbClr val="C8453A"/>
                          </a:solidFill>
                          <a:latin typeface="Arial"/>
                        </a:rPr>
                        <a:t>+46</a:t>
                      </a:r>
                    </a:p>
                  </a:txBody>
                  <a:tcPr marL="95250" marR="95250" marT="76200" marB="76200">
                    <a:solidFill>
                      <a:srgbClr val="FFFFFF"/>
                    </a:solidFill>
                  </a:tcPr>
                </a:tc>
                <a:tc>
                  <a:txBody>
                    <a:bodyPr wrap="square"/>
                    <a:lstStyle/>
                    <a:p>
                      <a:pPr algn="r"/>
                      <a:r>
                        <a:rPr sz="1275" b="0">
                          <a:solidFill>
                            <a:srgbClr val="22252B"/>
                          </a:solidFill>
                          <a:latin typeface="Arial"/>
                        </a:rPr>
                        <a:t>1 367 h</a:t>
                      </a:r>
                    </a:p>
                  </a:txBody>
                  <a:tcPr marL="95250" marR="95250" marT="76200" marB="76200">
                    <a:solidFill>
                      <a:srgbClr val="FFFFFF"/>
                    </a:solidFill>
                  </a:tcPr>
                </a:tc>
                <a:tc>
                  <a:txBody>
                    <a:bodyPr wrap="square"/>
                    <a:lstStyle/>
                    <a:p>
                      <a:pPr algn="r"/>
                      <a:r>
                        <a:rPr sz="1275" b="0">
                          <a:solidFill>
                            <a:srgbClr val="3F8F5A"/>
                          </a:solidFill>
                          <a:latin typeface="Arial"/>
                        </a:rPr>
                        <a:t>-31</a:t>
                      </a:r>
                    </a:p>
                  </a:txBody>
                  <a:tcPr marL="95250" marR="95250" marT="76200" marB="76200">
                    <a:solidFill>
                      <a:srgbClr val="FFFFFF"/>
                    </a:solidFill>
                  </a:tcPr>
                </a:tc>
                <a:tc>
                  <a:txBody>
                    <a:bodyPr wrap="square"/>
                    <a:lstStyle/>
                    <a:p>
                      <a:pPr algn="r"/>
                      <a:r>
                        <a:rPr sz="1275" b="0">
                          <a:solidFill>
                            <a:srgbClr val="22252B"/>
                          </a:solidFill>
                          <a:latin typeface="Arial"/>
                        </a:rPr>
                        <a:t>970 h</a:t>
                      </a:r>
                    </a:p>
                  </a:txBody>
                  <a:tcPr marL="95250" marR="95250" marT="76200" marB="76200">
                    <a:solidFill>
                      <a:srgbClr val="FFFFFF"/>
                    </a:solidFill>
                  </a:tcPr>
                </a:tc>
              </a:tr>
              <a:tr h="391715">
                <a:tc>
                  <a:txBody>
                    <a:bodyPr wrap="square"/>
                    <a:lstStyle/>
                    <a:p>
                      <a:r>
                        <a:rPr sz="1275" b="0">
                          <a:solidFill>
                            <a:srgbClr val="22252B"/>
                          </a:solidFill>
                          <a:latin typeface="Arial"/>
                        </a:rPr>
                        <a:t>2022</a:t>
                      </a:r>
                    </a:p>
                  </a:txBody>
                  <a:tcPr marL="95250" marR="95250" marT="76200" marB="76200">
                    <a:solidFill>
                      <a:srgbClr val="FFFFFF"/>
                    </a:solidFill>
                  </a:tcPr>
                </a:tc>
                <a:tc>
                  <a:txBody>
                    <a:bodyPr wrap="square"/>
                    <a:lstStyle/>
                    <a:p>
                      <a:pPr algn="r"/>
                      <a:r>
                        <a:rPr sz="1275" b="0">
                          <a:solidFill>
                            <a:srgbClr val="22252B"/>
                          </a:solidFill>
                          <a:latin typeface="Arial"/>
                        </a:rPr>
                        <a:t>273</a:t>
                      </a:r>
                    </a:p>
                  </a:txBody>
                  <a:tcPr marL="95250" marR="95250" marT="76200" marB="76200">
                    <a:solidFill>
                      <a:srgbClr val="FFFFFF"/>
                    </a:solidFill>
                  </a:tcPr>
                </a:tc>
                <a:tc>
                  <a:txBody>
                    <a:bodyPr wrap="square"/>
                    <a:lstStyle/>
                    <a:p>
                      <a:pPr algn="r"/>
                      <a:r>
                        <a:rPr sz="1275" b="0">
                          <a:solidFill>
                            <a:srgbClr val="22252B"/>
                          </a:solidFill>
                          <a:latin typeface="Arial"/>
                        </a:rPr>
                        <a:t>295</a:t>
                      </a:r>
                    </a:p>
                  </a:txBody>
                  <a:tcPr marL="95250" marR="95250" marT="76200" marB="76200">
                    <a:solidFill>
                      <a:srgbClr val="FFFFFF"/>
                    </a:solidFill>
                  </a:tcPr>
                </a:tc>
                <a:tc>
                  <a:txBody>
                    <a:bodyPr wrap="square"/>
                    <a:lstStyle/>
                    <a:p>
                      <a:pPr algn="r"/>
                      <a:r>
                        <a:rPr sz="1275" b="0">
                          <a:solidFill>
                            <a:srgbClr val="3F8F5A"/>
                          </a:solidFill>
                          <a:latin typeface="Arial"/>
                        </a:rPr>
                        <a:t>-22</a:t>
                      </a:r>
                    </a:p>
                  </a:txBody>
                  <a:tcPr marL="95250" marR="95250" marT="76200" marB="76200">
                    <a:solidFill>
                      <a:srgbClr val="FFFFFF"/>
                    </a:solidFill>
                  </a:tcPr>
                </a:tc>
                <a:tc>
                  <a:txBody>
                    <a:bodyPr wrap="square"/>
                    <a:lstStyle/>
                    <a:p>
                      <a:pPr algn="r"/>
                      <a:r>
                        <a:rPr sz="1275" b="0">
                          <a:solidFill>
                            <a:srgbClr val="22252B"/>
                          </a:solidFill>
                          <a:latin typeface="Arial"/>
                        </a:rPr>
                        <a:t>3 035 h</a:t>
                      </a:r>
                    </a:p>
                  </a:txBody>
                  <a:tcPr marL="95250" marR="95250" marT="76200" marB="76200">
                    <a:solidFill>
                      <a:srgbClr val="FFFFFF"/>
                    </a:solidFill>
                  </a:tcPr>
                </a:tc>
                <a:tc>
                  <a:txBody>
                    <a:bodyPr wrap="square"/>
                    <a:lstStyle/>
                    <a:p>
                      <a:pPr algn="r"/>
                      <a:r>
                        <a:rPr sz="1275" b="0">
                          <a:solidFill>
                            <a:srgbClr val="C8453A"/>
                          </a:solidFill>
                          <a:latin typeface="Arial"/>
                        </a:rPr>
                        <a:t>+40</a:t>
                      </a:r>
                    </a:p>
                  </a:txBody>
                  <a:tcPr marL="95250" marR="95250" marT="76200" marB="76200">
                    <a:solidFill>
                      <a:srgbClr val="FFFFFF"/>
                    </a:solidFill>
                  </a:tcPr>
                </a:tc>
                <a:tc>
                  <a:txBody>
                    <a:bodyPr wrap="square"/>
                    <a:lstStyle/>
                    <a:p>
                      <a:pPr algn="r"/>
                      <a:r>
                        <a:rPr sz="1275" b="0">
                          <a:solidFill>
                            <a:srgbClr val="22252B"/>
                          </a:solidFill>
                          <a:latin typeface="Arial"/>
                        </a:rPr>
                        <a:t>4 769 h</a:t>
                      </a:r>
                    </a:p>
                  </a:txBody>
                  <a:tcPr marL="95250" marR="95250" marT="76200" marB="76200">
                    <a:solidFill>
                      <a:srgbClr val="FFFFFF"/>
                    </a:solidFill>
                  </a:tcPr>
                </a:tc>
                <a:tc>
                  <a:txBody>
                    <a:bodyPr wrap="square"/>
                    <a:lstStyle/>
                    <a:p>
                      <a:pPr algn="r"/>
                      <a:r>
                        <a:rPr sz="1275" b="0">
                          <a:solidFill>
                            <a:srgbClr val="3F8F5A"/>
                          </a:solidFill>
                          <a:latin typeface="Arial"/>
                        </a:rPr>
                        <a:t>-65</a:t>
                      </a:r>
                    </a:p>
                  </a:txBody>
                  <a:tcPr marL="95250" marR="95250" marT="76200" marB="76200">
                    <a:solidFill>
                      <a:srgbClr val="FFFFFF"/>
                    </a:solidFill>
                  </a:tcPr>
                </a:tc>
                <a:tc>
                  <a:txBody>
                    <a:bodyPr wrap="square"/>
                    <a:lstStyle/>
                    <a:p>
                      <a:pPr algn="r"/>
                      <a:r>
                        <a:rPr sz="1275" b="0">
                          <a:solidFill>
                            <a:srgbClr val="22252B"/>
                          </a:solidFill>
                          <a:latin typeface="Arial"/>
                        </a:rPr>
                        <a:t>866 h</a:t>
                      </a:r>
                    </a:p>
                  </a:txBody>
                  <a:tcPr marL="95250" marR="95250" marT="76200" marB="76200">
                    <a:solidFill>
                      <a:srgbClr val="FFFFFF"/>
                    </a:solidFill>
                  </a:tcPr>
                </a:tc>
              </a:tr>
              <a:tr h="391715">
                <a:tc>
                  <a:txBody>
                    <a:bodyPr wrap="square"/>
                    <a:lstStyle/>
                    <a:p>
                      <a:r>
                        <a:rPr sz="1275" b="0">
                          <a:solidFill>
                            <a:srgbClr val="22252B"/>
                          </a:solidFill>
                          <a:latin typeface="Arial"/>
                        </a:rPr>
                        <a:t>2023</a:t>
                      </a:r>
                    </a:p>
                  </a:txBody>
                  <a:tcPr marL="95250" marR="95250" marT="76200" marB="76200">
                    <a:solidFill>
                      <a:srgbClr val="FFFFFF"/>
                    </a:solidFill>
                  </a:tcPr>
                </a:tc>
                <a:tc>
                  <a:txBody>
                    <a:bodyPr wrap="square"/>
                    <a:lstStyle/>
                    <a:p>
                      <a:pPr algn="r"/>
                      <a:r>
                        <a:rPr sz="1275" b="0">
                          <a:solidFill>
                            <a:srgbClr val="22252B"/>
                          </a:solidFill>
                          <a:latin typeface="Arial"/>
                        </a:rPr>
                        <a:t>96</a:t>
                      </a:r>
                    </a:p>
                  </a:txBody>
                  <a:tcPr marL="95250" marR="95250" marT="76200" marB="76200">
                    <a:solidFill>
                      <a:srgbClr val="FFFFFF"/>
                    </a:solidFill>
                  </a:tcPr>
                </a:tc>
                <a:tc>
                  <a:txBody>
                    <a:bodyPr wrap="square"/>
                    <a:lstStyle/>
                    <a:p>
                      <a:pPr algn="r"/>
                      <a:r>
                        <a:rPr sz="1275" b="0">
                          <a:solidFill>
                            <a:srgbClr val="22252B"/>
                          </a:solidFill>
                          <a:latin typeface="Arial"/>
                        </a:rPr>
                        <a:t>65</a:t>
                      </a:r>
                    </a:p>
                  </a:txBody>
                  <a:tcPr marL="95250" marR="95250" marT="76200" marB="76200">
                    <a:solidFill>
                      <a:srgbClr val="FFFFFF"/>
                    </a:solidFill>
                  </a:tcPr>
                </a:tc>
                <a:tc>
                  <a:txBody>
                    <a:bodyPr wrap="square"/>
                    <a:lstStyle/>
                    <a:p>
                      <a:pPr algn="r"/>
                      <a:r>
                        <a:rPr sz="1275" b="0">
                          <a:solidFill>
                            <a:srgbClr val="C8453A"/>
                          </a:solidFill>
                          <a:latin typeface="Arial"/>
                        </a:rPr>
                        <a:t>+31</a:t>
                      </a:r>
                    </a:p>
                  </a:txBody>
                  <a:tcPr marL="95250" marR="95250" marT="76200" marB="76200">
                    <a:solidFill>
                      <a:srgbClr val="FFFFFF"/>
                    </a:solidFill>
                  </a:tcPr>
                </a:tc>
                <a:tc>
                  <a:txBody>
                    <a:bodyPr wrap="square"/>
                    <a:lstStyle/>
                    <a:p>
                      <a:pPr algn="r"/>
                      <a:r>
                        <a:rPr sz="1275" b="0">
                          <a:solidFill>
                            <a:srgbClr val="22252B"/>
                          </a:solidFill>
                          <a:latin typeface="Arial"/>
                        </a:rPr>
                        <a:t>6 902 h</a:t>
                      </a:r>
                    </a:p>
                  </a:txBody>
                  <a:tcPr marL="95250" marR="95250" marT="76200" marB="76200">
                    <a:solidFill>
                      <a:srgbClr val="FFFFFF"/>
                    </a:solidFill>
                  </a:tcPr>
                </a:tc>
                <a:tc>
                  <a:txBody>
                    <a:bodyPr wrap="square"/>
                    <a:lstStyle/>
                    <a:p>
                      <a:pPr algn="r"/>
                      <a:r>
                        <a:rPr sz="1275" b="0">
                          <a:solidFill>
                            <a:srgbClr val="C8453A"/>
                          </a:solidFill>
                          <a:latin typeface="Arial"/>
                        </a:rPr>
                        <a:t>+43</a:t>
                      </a:r>
                    </a:p>
                  </a:txBody>
                  <a:tcPr marL="95250" marR="95250" marT="76200" marB="76200">
                    <a:solidFill>
                      <a:srgbClr val="FFFFFF"/>
                    </a:solidFill>
                  </a:tcPr>
                </a:tc>
                <a:tc>
                  <a:txBody>
                    <a:bodyPr wrap="square"/>
                    <a:lstStyle/>
                    <a:p>
                      <a:pPr algn="r"/>
                      <a:r>
                        <a:rPr sz="1275" b="0">
                          <a:solidFill>
                            <a:srgbClr val="22252B"/>
                          </a:solidFill>
                          <a:latin typeface="Arial"/>
                        </a:rPr>
                        <a:t>947 h</a:t>
                      </a:r>
                    </a:p>
                  </a:txBody>
                  <a:tcPr marL="95250" marR="95250" marT="76200" marB="76200">
                    <a:solidFill>
                      <a:srgbClr val="FFFFFF"/>
                    </a:solidFill>
                  </a:tcPr>
                </a:tc>
                <a:tc>
                  <a:txBody>
                    <a:bodyPr wrap="square"/>
                    <a:lstStyle/>
                    <a:p>
                      <a:pPr algn="r"/>
                      <a:r>
                        <a:rPr sz="1275" b="0">
                          <a:solidFill>
                            <a:srgbClr val="3F8F5A"/>
                          </a:solidFill>
                          <a:latin typeface="Arial"/>
                        </a:rPr>
                        <a:t>-24</a:t>
                      </a:r>
                    </a:p>
                  </a:txBody>
                  <a:tcPr marL="95250" marR="95250" marT="76200" marB="76200">
                    <a:solidFill>
                      <a:srgbClr val="FFFFFF"/>
                    </a:solidFill>
                  </a:tcPr>
                </a:tc>
                <a:tc>
                  <a:txBody>
                    <a:bodyPr wrap="square"/>
                    <a:lstStyle/>
                    <a:p>
                      <a:pPr algn="r"/>
                      <a:r>
                        <a:rPr sz="1275" b="0">
                          <a:solidFill>
                            <a:srgbClr val="22252B"/>
                          </a:solidFill>
                          <a:latin typeface="Arial"/>
                        </a:rPr>
                        <a:t>872 h</a:t>
                      </a:r>
                    </a:p>
                  </a:txBody>
                  <a:tcPr marL="95250" marR="95250" marT="76200" marB="76200">
                    <a:solidFill>
                      <a:srgbClr val="FFFFFF"/>
                    </a:solidFill>
                  </a:tcPr>
                </a:tc>
              </a:tr>
              <a:tr h="391715">
                <a:tc>
                  <a:txBody>
                    <a:bodyPr wrap="square"/>
                    <a:lstStyle/>
                    <a:p>
                      <a:r>
                        <a:rPr sz="1275" b="0">
                          <a:solidFill>
                            <a:srgbClr val="22252B"/>
                          </a:solidFill>
                          <a:latin typeface="Arial"/>
                        </a:rPr>
                        <a:t>2024</a:t>
                      </a:r>
                    </a:p>
                  </a:txBody>
                  <a:tcPr marL="95250" marR="95250" marT="76200" marB="76200">
                    <a:solidFill>
                      <a:srgbClr val="FFFFFF"/>
                    </a:solidFill>
                  </a:tcPr>
                </a:tc>
                <a:tc>
                  <a:txBody>
                    <a:bodyPr wrap="square"/>
                    <a:lstStyle/>
                    <a:p>
                      <a:pPr algn="r"/>
                      <a:r>
                        <a:rPr sz="1275" b="0">
                          <a:solidFill>
                            <a:srgbClr val="22252B"/>
                          </a:solidFill>
                          <a:latin typeface="Arial"/>
                        </a:rPr>
                        <a:t>58</a:t>
                      </a:r>
                    </a:p>
                  </a:txBody>
                  <a:tcPr marL="95250" marR="95250" marT="76200" marB="76200">
                    <a:solidFill>
                      <a:srgbClr val="FFFFFF"/>
                    </a:solidFill>
                  </a:tcPr>
                </a:tc>
                <a:tc>
                  <a:txBody>
                    <a:bodyPr wrap="square"/>
                    <a:lstStyle/>
                    <a:p>
                      <a:pPr algn="r"/>
                      <a:r>
                        <a:rPr sz="1275" b="0">
                          <a:solidFill>
                            <a:srgbClr val="22252B"/>
                          </a:solidFill>
                          <a:latin typeface="Arial"/>
                        </a:rPr>
                        <a:t>19</a:t>
                      </a:r>
                    </a:p>
                  </a:txBody>
                  <a:tcPr marL="95250" marR="95250" marT="76200" marB="76200">
                    <a:solidFill>
                      <a:srgbClr val="FFFFFF"/>
                    </a:solidFill>
                  </a:tcPr>
                </a:tc>
                <a:tc>
                  <a:txBody>
                    <a:bodyPr wrap="square"/>
                    <a:lstStyle/>
                    <a:p>
                      <a:pPr algn="r"/>
                      <a:r>
                        <a:rPr sz="1275" b="0">
                          <a:solidFill>
                            <a:srgbClr val="C8453A"/>
                          </a:solidFill>
                          <a:latin typeface="Arial"/>
                        </a:rPr>
                        <a:t>+39</a:t>
                      </a:r>
                    </a:p>
                  </a:txBody>
                  <a:tcPr marL="95250" marR="95250" marT="76200" marB="76200">
                    <a:solidFill>
                      <a:srgbClr val="FFFFFF"/>
                    </a:solidFill>
                  </a:tcPr>
                </a:tc>
                <a:tc>
                  <a:txBody>
                    <a:bodyPr wrap="square"/>
                    <a:lstStyle/>
                    <a:p>
                      <a:pPr algn="r"/>
                      <a:r>
                        <a:rPr sz="1275" b="0">
                          <a:solidFill>
                            <a:srgbClr val="22252B"/>
                          </a:solidFill>
                          <a:latin typeface="Arial"/>
                        </a:rPr>
                        <a:t>7 765 h</a:t>
                      </a:r>
                    </a:p>
                  </a:txBody>
                  <a:tcPr marL="95250" marR="95250" marT="76200" marB="76200">
                    <a:solidFill>
                      <a:srgbClr val="FFFFFF"/>
                    </a:solidFill>
                  </a:tcPr>
                </a:tc>
                <a:tc>
                  <a:txBody>
                    <a:bodyPr wrap="square"/>
                    <a:lstStyle/>
                    <a:p>
                      <a:pPr algn="r"/>
                      <a:r>
                        <a:rPr sz="1275" b="0">
                          <a:solidFill>
                            <a:srgbClr val="C8453A"/>
                          </a:solidFill>
                          <a:latin typeface="Arial"/>
                        </a:rPr>
                        <a:t>+44</a:t>
                      </a:r>
                    </a:p>
                  </a:txBody>
                  <a:tcPr marL="95250" marR="95250" marT="76200" marB="76200">
                    <a:solidFill>
                      <a:srgbClr val="FFFFFF"/>
                    </a:solidFill>
                  </a:tcPr>
                </a:tc>
                <a:tc>
                  <a:txBody>
                    <a:bodyPr wrap="square"/>
                    <a:lstStyle/>
                    <a:p>
                      <a:pPr algn="r"/>
                      <a:r>
                        <a:rPr sz="1275" b="0">
                          <a:solidFill>
                            <a:srgbClr val="22252B"/>
                          </a:solidFill>
                          <a:latin typeface="Arial"/>
                        </a:rPr>
                        <a:t>211 h</a:t>
                      </a:r>
                    </a:p>
                  </a:txBody>
                  <a:tcPr marL="95250" marR="95250" marT="76200" marB="76200">
                    <a:solidFill>
                      <a:srgbClr val="FFFFFF"/>
                    </a:solidFill>
                  </a:tcPr>
                </a:tc>
                <a:tc>
                  <a:txBody>
                    <a:bodyPr wrap="square"/>
                    <a:lstStyle/>
                    <a:p>
                      <a:pPr algn="r"/>
                      <a:r>
                        <a:rPr sz="1275" b="0">
                          <a:solidFill>
                            <a:srgbClr val="3F8F5A"/>
                          </a:solidFill>
                          <a:latin typeface="Arial"/>
                        </a:rPr>
                        <a:t>-20</a:t>
                      </a:r>
                    </a:p>
                  </a:txBody>
                  <a:tcPr marL="95250" marR="95250" marT="76200" marB="76200">
                    <a:solidFill>
                      <a:srgbClr val="FFFFFF"/>
                    </a:solidFill>
                  </a:tcPr>
                </a:tc>
                <a:tc>
                  <a:txBody>
                    <a:bodyPr wrap="square"/>
                    <a:lstStyle/>
                    <a:p>
                      <a:pPr algn="r"/>
                      <a:r>
                        <a:rPr sz="1275" b="0">
                          <a:solidFill>
                            <a:srgbClr val="22252B"/>
                          </a:solidFill>
                          <a:latin typeface="Arial"/>
                        </a:rPr>
                        <a:t>807 h</a:t>
                      </a:r>
                    </a:p>
                  </a:txBody>
                  <a:tcPr marL="95250" marR="95250" marT="76200" marB="76200">
                    <a:solidFill>
                      <a:srgbClr val="FFFFFF"/>
                    </a:solidFill>
                  </a:tcPr>
                </a:tc>
              </a:tr>
              <a:tr h="391715">
                <a:tc>
                  <a:txBody>
                    <a:bodyPr wrap="square"/>
                    <a:lstStyle/>
                    <a:p>
                      <a:r>
                        <a:rPr sz="1275" b="0">
                          <a:solidFill>
                            <a:srgbClr val="22252B"/>
                          </a:solidFill>
                          <a:latin typeface="Arial"/>
                        </a:rPr>
                        <a:t>2025</a:t>
                      </a:r>
                    </a:p>
                  </a:txBody>
                  <a:tcPr marL="95250" marR="95250" marT="76200" marB="76200">
                    <a:solidFill>
                      <a:srgbClr val="FFFFFF"/>
                    </a:solidFill>
                  </a:tcPr>
                </a:tc>
                <a:tc>
                  <a:txBody>
                    <a:bodyPr wrap="square"/>
                    <a:lstStyle/>
                    <a:p>
                      <a:pPr algn="r"/>
                      <a:r>
                        <a:rPr sz="1275" b="0">
                          <a:solidFill>
                            <a:srgbClr val="22252B"/>
                          </a:solidFill>
                          <a:latin typeface="Arial"/>
                        </a:rPr>
                        <a:t>61</a:t>
                      </a:r>
                    </a:p>
                  </a:txBody>
                  <a:tcPr marL="95250" marR="95250" marT="76200" marB="76200">
                    <a:solidFill>
                      <a:srgbClr val="FFFFFF"/>
                    </a:solidFill>
                  </a:tcPr>
                </a:tc>
                <a:tc>
                  <a:txBody>
                    <a:bodyPr wrap="square"/>
                    <a:lstStyle/>
                    <a:p>
                      <a:pPr algn="r"/>
                      <a:r>
                        <a:rPr sz="1275" b="0">
                          <a:solidFill>
                            <a:srgbClr val="22252B"/>
                          </a:solidFill>
                          <a:latin typeface="Arial"/>
                        </a:rPr>
                        <a:t>23</a:t>
                      </a:r>
                    </a:p>
                  </a:txBody>
                  <a:tcPr marL="95250" marR="95250" marT="76200" marB="76200">
                    <a:solidFill>
                      <a:srgbClr val="FFFFFF"/>
                    </a:solidFill>
                  </a:tcPr>
                </a:tc>
                <a:tc>
                  <a:txBody>
                    <a:bodyPr wrap="square"/>
                    <a:lstStyle/>
                    <a:p>
                      <a:pPr algn="r"/>
                      <a:r>
                        <a:rPr sz="1275" b="0">
                          <a:solidFill>
                            <a:srgbClr val="C8453A"/>
                          </a:solidFill>
                          <a:latin typeface="Arial"/>
                        </a:rPr>
                        <a:t>+38</a:t>
                      </a:r>
                    </a:p>
                  </a:txBody>
                  <a:tcPr marL="95250" marR="95250" marT="76200" marB="76200">
                    <a:solidFill>
                      <a:srgbClr val="FFFFFF"/>
                    </a:solidFill>
                  </a:tcPr>
                </a:tc>
                <a:tc>
                  <a:txBody>
                    <a:bodyPr wrap="square"/>
                    <a:lstStyle/>
                    <a:p>
                      <a:pPr algn="r"/>
                      <a:r>
                        <a:rPr sz="1275" b="0">
                          <a:solidFill>
                            <a:srgbClr val="22252B"/>
                          </a:solidFill>
                          <a:latin typeface="Arial"/>
                        </a:rPr>
                        <a:t>7 666 h</a:t>
                      </a:r>
                    </a:p>
                  </a:txBody>
                  <a:tcPr marL="95250" marR="95250" marT="76200" marB="76200">
                    <a:solidFill>
                      <a:srgbClr val="FFFFFF"/>
                    </a:solidFill>
                  </a:tcPr>
                </a:tc>
                <a:tc>
                  <a:txBody>
                    <a:bodyPr wrap="square"/>
                    <a:lstStyle/>
                    <a:p>
                      <a:pPr algn="r"/>
                      <a:r>
                        <a:rPr sz="1275" b="0">
                          <a:solidFill>
                            <a:srgbClr val="C8453A"/>
                          </a:solidFill>
                          <a:latin typeface="Arial"/>
                        </a:rPr>
                        <a:t>+44</a:t>
                      </a:r>
                    </a:p>
                  </a:txBody>
                  <a:tcPr marL="95250" marR="95250" marT="76200" marB="76200">
                    <a:solidFill>
                      <a:srgbClr val="FFFFFF"/>
                    </a:solidFill>
                  </a:tcPr>
                </a:tc>
                <a:tc>
                  <a:txBody>
                    <a:bodyPr wrap="square"/>
                    <a:lstStyle/>
                    <a:p>
                      <a:pPr algn="r"/>
                      <a:r>
                        <a:rPr sz="1275" b="0">
                          <a:solidFill>
                            <a:srgbClr val="22252B"/>
                          </a:solidFill>
                          <a:latin typeface="Arial"/>
                        </a:rPr>
                        <a:t>196 h</a:t>
                      </a:r>
                    </a:p>
                  </a:txBody>
                  <a:tcPr marL="95250" marR="95250" marT="76200" marB="76200">
                    <a:solidFill>
                      <a:srgbClr val="FFFFFF"/>
                    </a:solidFill>
                  </a:tcPr>
                </a:tc>
                <a:tc>
                  <a:txBody>
                    <a:bodyPr wrap="square"/>
                    <a:lstStyle/>
                    <a:p>
                      <a:pPr algn="r"/>
                      <a:r>
                        <a:rPr sz="1275" b="0">
                          <a:solidFill>
                            <a:srgbClr val="3F8F5A"/>
                          </a:solidFill>
                          <a:latin typeface="Arial"/>
                        </a:rPr>
                        <a:t>-22</a:t>
                      </a:r>
                    </a:p>
                  </a:txBody>
                  <a:tcPr marL="95250" marR="95250" marT="76200" marB="76200">
                    <a:solidFill>
                      <a:srgbClr val="FFFFFF"/>
                    </a:solidFill>
                  </a:tcPr>
                </a:tc>
                <a:tc>
                  <a:txBody>
                    <a:bodyPr wrap="square"/>
                    <a:lstStyle/>
                    <a:p>
                      <a:pPr algn="r"/>
                      <a:r>
                        <a:rPr sz="1275" b="0">
                          <a:solidFill>
                            <a:srgbClr val="22252B"/>
                          </a:solidFill>
                          <a:latin typeface="Arial"/>
                        </a:rPr>
                        <a:t>897 h</a:t>
                      </a:r>
                    </a:p>
                  </a:txBody>
                  <a:tcPr marL="95250" marR="95250" marT="76200" marB="76200">
                    <a:solidFill>
                      <a:srgbClr val="FFFFFF"/>
                    </a:solidFill>
                  </a:tcPr>
                </a:tc>
              </a:tr>
              <a:tr h="391715">
                <a:tc>
                  <a:txBody>
                    <a:bodyPr wrap="square"/>
                    <a:lstStyle/>
                    <a:p>
                      <a:r>
                        <a:rPr sz="1275" b="0">
                          <a:solidFill>
                            <a:srgbClr val="22252B"/>
                          </a:solidFill>
                          <a:latin typeface="Arial"/>
                        </a:rPr>
                        <a:t>2026 (janv.–oct.)</a:t>
                      </a:r>
                    </a:p>
                  </a:txBody>
                  <a:tcPr marL="95250" marR="95250" marT="76200" marB="76200">
                    <a:solidFill>
                      <a:srgbClr val="FFFFFF"/>
                    </a:solidFill>
                  </a:tcPr>
                </a:tc>
                <a:tc>
                  <a:txBody>
                    <a:bodyPr wrap="square"/>
                    <a:lstStyle/>
                    <a:p>
                      <a:pPr algn="r"/>
                      <a:r>
                        <a:rPr sz="1275" b="0">
                          <a:solidFill>
                            <a:srgbClr val="22252B"/>
                          </a:solidFill>
                          <a:latin typeface="Arial"/>
                        </a:rPr>
                        <a:t>89</a:t>
                      </a:r>
                    </a:p>
                  </a:txBody>
                  <a:tcPr marL="95250" marR="95250" marT="76200" marB="76200">
                    <a:solidFill>
                      <a:srgbClr val="FFFFFF"/>
                    </a:solidFill>
                  </a:tcPr>
                </a:tc>
                <a:tc>
                  <a:txBody>
                    <a:bodyPr wrap="square"/>
                    <a:lstStyle/>
                    <a:p>
                      <a:pPr algn="r"/>
                      <a:r>
                        <a:rPr sz="1275" b="0">
                          <a:solidFill>
                            <a:srgbClr val="22252B"/>
                          </a:solidFill>
                          <a:latin typeface="Arial"/>
                        </a:rPr>
                        <a:t>38</a:t>
                      </a:r>
                    </a:p>
                  </a:txBody>
                  <a:tcPr marL="95250" marR="95250" marT="76200" marB="76200">
                    <a:solidFill>
                      <a:srgbClr val="FFFFFF"/>
                    </a:solidFill>
                  </a:tcPr>
                </a:tc>
                <a:tc>
                  <a:txBody>
                    <a:bodyPr wrap="square"/>
                    <a:lstStyle/>
                    <a:p>
                      <a:pPr algn="r"/>
                      <a:r>
                        <a:rPr sz="1275" b="0">
                          <a:solidFill>
                            <a:srgbClr val="C8453A"/>
                          </a:solidFill>
                          <a:latin typeface="Arial"/>
                        </a:rPr>
                        <a:t>+51</a:t>
                      </a:r>
                    </a:p>
                  </a:txBody>
                  <a:tcPr marL="95250" marR="95250" marT="76200" marB="76200">
                    <a:solidFill>
                      <a:srgbClr val="FFFFFF"/>
                    </a:solidFill>
                  </a:tcPr>
                </a:tc>
                <a:tc>
                  <a:txBody>
                    <a:bodyPr wrap="square"/>
                    <a:lstStyle/>
                    <a:p>
                      <a:pPr algn="r"/>
                      <a:r>
                        <a:rPr sz="1275" b="0">
                          <a:solidFill>
                            <a:srgbClr val="22252B"/>
                          </a:solidFill>
                          <a:latin typeface="Arial"/>
                        </a:rPr>
                        <a:t>6 003 h</a:t>
                      </a:r>
                    </a:p>
                  </a:txBody>
                  <a:tcPr marL="95250" marR="95250" marT="76200" marB="76200">
                    <a:solidFill>
                      <a:srgbClr val="FFFFFF"/>
                    </a:solidFill>
                  </a:tcPr>
                </a:tc>
                <a:tc>
                  <a:txBody>
                    <a:bodyPr wrap="square"/>
                    <a:lstStyle/>
                    <a:p>
                      <a:pPr algn="r"/>
                      <a:r>
                        <a:rPr sz="1275" b="0">
                          <a:solidFill>
                            <a:srgbClr val="C8453A"/>
                          </a:solidFill>
                          <a:latin typeface="Arial"/>
                        </a:rPr>
                        <a:t>+63</a:t>
                      </a:r>
                    </a:p>
                  </a:txBody>
                  <a:tcPr marL="95250" marR="95250" marT="76200" marB="76200">
                    <a:solidFill>
                      <a:srgbClr val="FFFFFF"/>
                    </a:solidFill>
                  </a:tcPr>
                </a:tc>
                <a:tc>
                  <a:txBody>
                    <a:bodyPr wrap="square"/>
                    <a:lstStyle/>
                    <a:p>
                      <a:pPr algn="r"/>
                      <a:r>
                        <a:rPr sz="1275" b="0">
                          <a:solidFill>
                            <a:srgbClr val="22252B"/>
                          </a:solidFill>
                          <a:latin typeface="Arial"/>
                        </a:rPr>
                        <a:t>202 h</a:t>
                      </a:r>
                    </a:p>
                  </a:txBody>
                  <a:tcPr marL="95250" marR="95250" marT="76200" marB="76200">
                    <a:solidFill>
                      <a:srgbClr val="FFFFFF"/>
                    </a:solidFill>
                  </a:tcPr>
                </a:tc>
                <a:tc>
                  <a:txBody>
                    <a:bodyPr wrap="square"/>
                    <a:lstStyle/>
                    <a:p>
                      <a:pPr algn="r"/>
                      <a:r>
                        <a:rPr sz="1275" b="0">
                          <a:solidFill>
                            <a:srgbClr val="3F8F5A"/>
                          </a:solidFill>
                          <a:latin typeface="Arial"/>
                        </a:rPr>
                        <a:t>-41</a:t>
                      </a:r>
                    </a:p>
                  </a:txBody>
                  <a:tcPr marL="95250" marR="95250" marT="76200" marB="76200">
                    <a:solidFill>
                      <a:srgbClr val="FFFFFF"/>
                    </a:solidFill>
                  </a:tcPr>
                </a:tc>
                <a:tc>
                  <a:txBody>
                    <a:bodyPr wrap="square"/>
                    <a:lstStyle/>
                    <a:p>
                      <a:pPr algn="r"/>
                      <a:r>
                        <a:rPr sz="1275" b="0">
                          <a:solidFill>
                            <a:srgbClr val="22252B"/>
                          </a:solidFill>
                          <a:latin typeface="Arial"/>
                        </a:rPr>
                        <a:t>1 026 h</a:t>
                      </a:r>
                    </a:p>
                  </a:txBody>
                  <a:tcPr marL="95250" marR="95250" marT="76200" marB="76200">
                    <a:solidFill>
                      <a:srgbClr val="FFFFFF"/>
                    </a:solidFill>
                  </a:tcPr>
                </a:tc>
              </a:tr>
            </a:tbl>
          </a:graphicData>
        </a:graphic>
      </p:graphicFrame>
      <p:sp>
        <p:nvSpPr>
          <p:cNvPr id="6" name="TextBox 5"/>
          <p:cNvSpPr txBox="1"/>
          <p:nvPr/>
        </p:nvSpPr>
        <p:spPr>
          <a:xfrm>
            <a:off x="571500" y="5404246"/>
            <a:ext cx="11049000" cy="666750"/>
          </a:xfrm>
          <a:prstGeom prst="rect">
            <a:avLst/>
          </a:prstGeom>
          <a:noFill/>
        </p:spPr>
        <p:txBody>
          <a:bodyPr wrap="square" lIns="0" rIns="0" tIns="0" bIns="0" anchor="t">
            <a:spAutoFit/>
          </a:bodyPr>
          <a:lstStyle/>
          <a:p>
            <a:r>
              <a:rPr sz="1162" b="0">
                <a:solidFill>
                  <a:srgbClr val="22252B"/>
                </a:solidFill>
                <a:latin typeface="Arial"/>
              </a:rPr>
              <a:t>L’argent payé en plus ne disparaît pas : en 2025, la consommation française vaut 17,1 Md€ de plus au prix spot (ce n’est pas la facture : page 26), les acheteurs étrangers paient 10,0 Md€ pour les exports, et le nucléaire (EDF, détenue à 100 % par l’État) reçoit 16,2 Md€, l’éolien et le solaire 2,8 Md€ (ce qui allège d’autant le soutien public des parcs sous contrat), la rente de congestion 4,5 Md€ (moitié RTE, dont l’excédent baisse le TURPE). Pages 17 à 20.</a:t>
            </a:r>
          </a:p>
        </p:txBody>
      </p:sp>
      <p:sp>
        <p:nvSpPr>
          <p:cNvPr id="7" name="TextBox 6"/>
          <p:cNvSpPr txBox="1"/>
          <p:nvPr/>
        </p:nvSpPr>
        <p:spPr>
          <a:xfrm>
            <a:off x="571500" y="6180534"/>
            <a:ext cx="11049000" cy="359568"/>
          </a:xfrm>
          <a:prstGeom prst="rect">
            <a:avLst/>
          </a:prstGeom>
          <a:noFill/>
        </p:spPr>
        <p:txBody>
          <a:bodyPr wrap="square" lIns="0" rIns="0" tIns="0" bIns="0" anchor="t">
            <a:spAutoFit/>
          </a:bodyPr>
          <a:lstStyle/>
          <a:p>
            <a:r>
              <a:rPr sz="937" b="0">
                <a:solidFill>
                  <a:srgbClr val="8A8F98"/>
                </a:solidFill>
                <a:latin typeface="Arial"/>
              </a:rPr>
              <a:t>France isolée : estimation de modèle, jamais observée ; erreur ± 15 à 20 €/MWh sur une heure, biais annuel +0,6 à +2,6 €/MWh en 2020–2025, +8 € en 2026 (page 14). Même parc et même consommation dans les deux mondes ; hors heures de pénurie de la France isolée (0 à 89 h par an, page 22). Sources : ENTSO-E, RTE éCO2mix, JAO, Energy-Charts ; calcul PowerKlock.</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BASES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Le principe en trois règles</a:t>
            </a:r>
          </a:p>
        </p:txBody>
      </p:sp>
      <p:sp>
        <p:nvSpPr>
          <p:cNvPr id="4" name="TextBox 3"/>
          <p:cNvSpPr txBox="1"/>
          <p:nvPr/>
        </p:nvSpPr>
        <p:spPr>
          <a:xfrm>
            <a:off x="571500" y="1101476"/>
            <a:ext cx="11049000" cy="2856309"/>
          </a:xfrm>
          <a:prstGeom prst="rect">
            <a:avLst/>
          </a:prstGeom>
          <a:noFill/>
        </p:spPr>
        <p:txBody>
          <a:bodyPr wrap="square" lIns="0" rIns="0" tIns="0" bIns="0" anchor="t">
            <a:spAutoFit/>
          </a:bodyPr>
          <a:lstStyle/>
          <a:p>
            <a:pPr marL="152400" indent="-133350">
              <a:spcAft>
                <a:spcPts val="500"/>
              </a:spcAft>
              <a:buAutoNum type="arabicPeriod"/>
            </a:pPr>
            <a:r>
              <a:rPr sz="1650" b="1">
                <a:solidFill>
                  <a:srgbClr val="22252B"/>
                </a:solidFill>
                <a:latin typeface="Arial"/>
              </a:rPr>
              <a:t>Un prix par zone, le même pour tous.</a:t>
            </a:r>
            <a:r>
              <a:rPr sz="1650" b="0">
                <a:solidFill>
                  <a:srgbClr val="22252B"/>
                </a:solidFill>
                <a:latin typeface="Arial"/>
              </a:rPr>
              <a:t> Dans chaque pays, tous les MWh d’une heure sont payés au prix de la dernière centrale appelée (le merit order).</a:t>
            </a:r>
          </a:p>
          <a:p>
            <a:pPr marL="152400" indent="-133350">
              <a:spcAft>
                <a:spcPts val="500"/>
              </a:spcAft>
              <a:buAutoNum type="arabicPeriod"/>
            </a:pPr>
            <a:r>
              <a:rPr sz="1650" b="1">
                <a:solidFill>
                  <a:srgbClr val="22252B"/>
                </a:solidFill>
                <a:latin typeface="Arial"/>
              </a:rPr>
              <a:t>Une seule enchère pour toute l’Europe.</a:t>
            </a:r>
            <a:r>
              <a:rPr sz="1650" b="0">
                <a:solidFill>
                  <a:srgbClr val="22252B"/>
                </a:solidFill>
                <a:latin typeface="Arial"/>
              </a:rPr>
              <a:t> Chaque jour, l’enchère de la veille fait tourner ensemble le merit order de chaque pays et décide des échanges entre eux. C’est le couplage (France–Belgique–Pays-Bas depuis 2006, zone Core avec le calcul « flow-based » depuis le 8 juin 2022). La Suisse n’en fait pas partie ; la Grande-Bretagne en est sortie au 1er janvier 2021.</a:t>
            </a:r>
          </a:p>
          <a:p>
            <a:pPr marL="152400" indent="-133350">
              <a:spcAft>
                <a:spcPts val="500"/>
              </a:spcAft>
              <a:buAutoNum type="arabicPeriod"/>
            </a:pPr>
            <a:r>
              <a:rPr sz="1650" b="1">
                <a:solidFill>
                  <a:srgbClr val="22252B"/>
                </a:solidFill>
                <a:latin typeface="Arial"/>
              </a:rPr>
              <a:t>Les échanges sont limités par les lignes.</a:t>
            </a:r>
            <a:r>
              <a:rPr sz="1650" b="0">
                <a:solidFill>
                  <a:srgbClr val="22252B"/>
                </a:solidFill>
                <a:latin typeface="Arial"/>
              </a:rPr>
              <a:t> Tant qu’une ligne a de la place, l’électricité va du pays le moins cher vers le plus cher, jusqu’à égaliser les prix. Quand elle est pleine, les prix se séparent.</a:t>
            </a:r>
          </a:p>
        </p:txBody>
      </p:sp>
      <p:sp>
        <p:nvSpPr>
          <p:cNvPr id="5" name="TextBox 4"/>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BASES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L’image : deux villages, un seul camion</a:t>
            </a:r>
          </a:p>
        </p:txBody>
      </p:sp>
      <p:sp>
        <p:nvSpPr>
          <p:cNvPr id="4" name="TextBox 3"/>
          <p:cNvSpPr txBox="1"/>
          <p:nvPr/>
        </p:nvSpPr>
        <p:spPr>
          <a:xfrm>
            <a:off x="571500" y="1272926"/>
            <a:ext cx="5512742" cy="524767"/>
          </a:xfrm>
          <a:prstGeom prst="rect">
            <a:avLst/>
          </a:prstGeom>
          <a:noFill/>
        </p:spPr>
        <p:txBody>
          <a:bodyPr wrap="square" lIns="0" rIns="0" tIns="0" bIns="0" anchor="t">
            <a:spAutoFit/>
          </a:bodyPr>
          <a:lstStyle/>
          <a:p>
            <a:r>
              <a:rPr sz="1350" b="0">
                <a:solidFill>
                  <a:srgbClr val="22252B"/>
                </a:solidFill>
                <a:latin typeface="Arial"/>
              </a:rPr>
              <a:t>Au </a:t>
            </a:r>
            <a:r>
              <a:rPr sz="1350" b="1">
                <a:solidFill>
                  <a:srgbClr val="22252B"/>
                </a:solidFill>
                <a:latin typeface="Arial"/>
              </a:rPr>
              <a:t>village A</a:t>
            </a:r>
            <a:r>
              <a:rPr sz="1350" b="0">
                <a:solidFill>
                  <a:srgbClr val="22252B"/>
                </a:solidFill>
                <a:latin typeface="Arial"/>
              </a:rPr>
              <a:t>, trop de pommes : elles valent </a:t>
            </a:r>
            <a:r>
              <a:rPr sz="1350" b="1">
                <a:solidFill>
                  <a:srgbClr val="22252B"/>
                </a:solidFill>
                <a:latin typeface="Arial"/>
              </a:rPr>
              <a:t>30 €</a:t>
            </a:r>
            <a:r>
              <a:rPr sz="1350" b="0">
                <a:solidFill>
                  <a:srgbClr val="22252B"/>
                </a:solidFill>
                <a:latin typeface="Arial"/>
              </a:rPr>
              <a:t>.</a:t>
            </a:r>
          </a:p>
          <a:p>
            <a:r>
              <a:rPr sz="1350" b="0">
                <a:solidFill>
                  <a:srgbClr val="22252B"/>
                </a:solidFill>
                <a:latin typeface="Arial"/>
              </a:rPr>
              <a:t>Au </a:t>
            </a:r>
            <a:r>
              <a:rPr sz="1350" b="1">
                <a:solidFill>
                  <a:srgbClr val="22252B"/>
                </a:solidFill>
                <a:latin typeface="Arial"/>
              </a:rPr>
              <a:t>village B</a:t>
            </a:r>
            <a:r>
              <a:rPr sz="1350" b="0">
                <a:solidFill>
                  <a:srgbClr val="22252B"/>
                </a:solidFill>
                <a:latin typeface="Arial"/>
              </a:rPr>
              <a:t>, il en manque : elles valent </a:t>
            </a:r>
            <a:r>
              <a:rPr sz="1350" b="1">
                <a:solidFill>
                  <a:srgbClr val="22252B"/>
                </a:solidFill>
                <a:latin typeface="Arial"/>
              </a:rPr>
              <a:t>60 €</a:t>
            </a:r>
            <a:r>
              <a:rPr sz="1350" b="0">
                <a:solidFill>
                  <a:srgbClr val="22252B"/>
                </a:solidFill>
                <a:latin typeface="Arial"/>
              </a:rPr>
              <a:t>.</a:t>
            </a:r>
          </a:p>
        </p:txBody>
      </p:sp>
      <p:sp>
        <p:nvSpPr>
          <p:cNvPr id="5" name="TextBox 4"/>
          <p:cNvSpPr txBox="1"/>
          <p:nvPr/>
        </p:nvSpPr>
        <p:spPr>
          <a:xfrm>
            <a:off x="571500" y="1931044"/>
            <a:ext cx="5512742" cy="281433"/>
          </a:xfrm>
          <a:prstGeom prst="rect">
            <a:avLst/>
          </a:prstGeom>
          <a:noFill/>
        </p:spPr>
        <p:txBody>
          <a:bodyPr wrap="square" lIns="0" rIns="0" tIns="0" bIns="0" anchor="t">
            <a:spAutoFit/>
          </a:bodyPr>
          <a:lstStyle/>
          <a:p>
            <a:r>
              <a:rPr sz="1350" b="0">
                <a:solidFill>
                  <a:srgbClr val="22252B"/>
                </a:solidFill>
                <a:latin typeface="Arial"/>
              </a:rPr>
              <a:t>Un seul camion relie les villages, il porte </a:t>
            </a:r>
            <a:r>
              <a:rPr sz="1350" b="1">
                <a:solidFill>
                  <a:srgbClr val="22252B"/>
                </a:solidFill>
                <a:latin typeface="Arial"/>
              </a:rPr>
              <a:t>5 caisses</a:t>
            </a:r>
            <a:r>
              <a:rPr sz="1350" b="0">
                <a:solidFill>
                  <a:srgbClr val="22252B"/>
                </a:solidFill>
                <a:latin typeface="Arial"/>
              </a:rPr>
              <a:t>.</a:t>
            </a:r>
          </a:p>
        </p:txBody>
      </p:sp>
      <p:sp>
        <p:nvSpPr>
          <p:cNvPr id="6" name="TextBox 5"/>
          <p:cNvSpPr txBox="1"/>
          <p:nvPr/>
        </p:nvSpPr>
        <p:spPr>
          <a:xfrm>
            <a:off x="571500" y="2345828"/>
            <a:ext cx="5512742" cy="1201935"/>
          </a:xfrm>
          <a:prstGeom prst="rect">
            <a:avLst/>
          </a:prstGeom>
          <a:noFill/>
        </p:spPr>
        <p:txBody>
          <a:bodyPr wrap="square" lIns="0" rIns="0" tIns="0" bIns="0" anchor="t">
            <a:spAutoFit/>
          </a:bodyPr>
          <a:lstStyle/>
          <a:p>
            <a:pPr marL="152400" indent="-133350">
              <a:spcAft>
                <a:spcPts val="500"/>
              </a:spcAft>
              <a:buChar char="•"/>
            </a:pPr>
            <a:r>
              <a:rPr sz="1350" b="0">
                <a:solidFill>
                  <a:srgbClr val="22252B"/>
                </a:solidFill>
                <a:latin typeface="Arial"/>
              </a:rPr>
              <a:t>Il achète 5 caisses à A au prix de A : 30 €.</a:t>
            </a:r>
          </a:p>
          <a:p>
            <a:pPr marL="152400" indent="-133350">
              <a:spcAft>
                <a:spcPts val="500"/>
              </a:spcAft>
              <a:buChar char="•"/>
            </a:pPr>
            <a:r>
              <a:rPr sz="1350" b="0">
                <a:solidFill>
                  <a:srgbClr val="22252B"/>
                </a:solidFill>
                <a:latin typeface="Arial"/>
              </a:rPr>
              <a:t>Il les revend à B au prix de B : 60 €.</a:t>
            </a:r>
          </a:p>
          <a:p>
            <a:pPr marL="152400" indent="-133350">
              <a:spcAft>
                <a:spcPts val="500"/>
              </a:spcAft>
              <a:buChar char="•"/>
            </a:pPr>
            <a:r>
              <a:rPr sz="1350" b="0">
                <a:solidFill>
                  <a:srgbClr val="22252B"/>
                </a:solidFill>
                <a:latin typeface="Arial"/>
              </a:rPr>
              <a:t>Son propriétaire garde </a:t>
            </a:r>
            <a:r>
              <a:rPr sz="1350" b="1">
                <a:solidFill>
                  <a:srgbClr val="22252B"/>
                </a:solidFill>
                <a:latin typeface="Arial"/>
              </a:rPr>
              <a:t>30 € par caisse</a:t>
            </a:r>
            <a:r>
              <a:rPr sz="1350" b="0">
                <a:solidFill>
                  <a:srgbClr val="22252B"/>
                </a:solidFill>
                <a:latin typeface="Arial"/>
              </a:rPr>
              <a:t> : c’est la </a:t>
            </a:r>
            <a:r>
              <a:rPr sz="1350" b="1">
                <a:solidFill>
                  <a:srgbClr val="22252B"/>
                </a:solidFill>
                <a:latin typeface="Arial"/>
              </a:rPr>
              <a:t>rente de congestion</a:t>
            </a:r>
            <a:r>
              <a:rPr sz="1350" b="0">
                <a:solidFill>
                  <a:srgbClr val="22252B"/>
                </a:solidFill>
                <a:latin typeface="Arial"/>
              </a:rPr>
              <a:t>.</a:t>
            </a:r>
          </a:p>
        </p:txBody>
      </p:sp>
      <p:sp>
        <p:nvSpPr>
          <p:cNvPr id="7" name="TextBox 6"/>
          <p:cNvSpPr txBox="1"/>
          <p:nvPr/>
        </p:nvSpPr>
        <p:spPr>
          <a:xfrm>
            <a:off x="571500" y="3662064"/>
            <a:ext cx="5512742" cy="524767"/>
          </a:xfrm>
          <a:prstGeom prst="rect">
            <a:avLst/>
          </a:prstGeom>
          <a:noFill/>
        </p:spPr>
        <p:txBody>
          <a:bodyPr wrap="square" lIns="0" rIns="0" tIns="0" bIns="0" anchor="t">
            <a:spAutoFit/>
          </a:bodyPr>
          <a:lstStyle/>
          <a:p>
            <a:r>
              <a:rPr sz="1350" b="0">
                <a:solidFill>
                  <a:srgbClr val="22252B"/>
                </a:solidFill>
                <a:latin typeface="Arial"/>
              </a:rPr>
              <a:t>Les agriculteurs de A ne touchent pas 60 € : ils voudraient tous vendre à B, mais il n’y a que 5 places. A reste à 30 €, B reste à 60 €.</a:t>
            </a:r>
          </a:p>
        </p:txBody>
      </p:sp>
      <p:sp>
        <p:nvSpPr>
          <p:cNvPr id="8" name="TextBox 7"/>
          <p:cNvSpPr txBox="1"/>
          <p:nvPr/>
        </p:nvSpPr>
        <p:spPr>
          <a:xfrm>
            <a:off x="571500" y="4320182"/>
            <a:ext cx="5512742" cy="524767"/>
          </a:xfrm>
          <a:prstGeom prst="rect">
            <a:avLst/>
          </a:prstGeom>
          <a:noFill/>
        </p:spPr>
        <p:txBody>
          <a:bodyPr wrap="square" lIns="0" rIns="0" tIns="0" bIns="0" anchor="t">
            <a:spAutoFit/>
          </a:bodyPr>
          <a:lstStyle/>
          <a:p>
            <a:r>
              <a:rPr sz="1350" b="1">
                <a:solidFill>
                  <a:srgbClr val="22252B"/>
                </a:solidFill>
                <a:latin typeface="Arial"/>
              </a:rPr>
              <a:t>Si le camion avait de la place</a:t>
            </a:r>
            <a:r>
              <a:rPr sz="1350" b="0">
                <a:solidFill>
                  <a:srgbClr val="22252B"/>
                </a:solidFill>
                <a:latin typeface="Arial"/>
              </a:rPr>
              <a:t>, A enverrait des pommes à B jusqu’à ce que les deux prix soient égaux : plus d’écart, plus de rente.</a:t>
            </a:r>
          </a:p>
        </p:txBody>
      </p:sp>
      <p:graphicFrame>
        <p:nvGraphicFramePr>
          <p:cNvPr id="9" name="Table 8"/>
          <p:cNvGraphicFramePr>
            <a:graphicFrameLocks noGrp="1"/>
          </p:cNvGraphicFramePr>
          <p:nvPr/>
        </p:nvGraphicFramePr>
        <p:xfrm>
          <a:off x="6369992" y="1101476"/>
          <a:ext cx="5250506" cy="2940096"/>
        </p:xfrm>
        <a:graphic>
          <a:graphicData uri="http://schemas.openxmlformats.org/drawingml/2006/table">
            <a:tbl>
              <a:tblPr firstRow="0" bandRow="0">
                <a:tableStyleId>{5C22544A-7EE6-4342-B048-85BDC9FD1C3A}</a:tableStyleId>
              </a:tblPr>
              <a:tblGrid>
                <a:gridCol w="1768524"/>
                <a:gridCol w="3481982"/>
              </a:tblGrid>
              <a:tr h="360015">
                <a:tc>
                  <a:txBody>
                    <a:bodyPr wrap="square"/>
                    <a:lstStyle/>
                    <a:p>
                      <a:r>
                        <a:rPr sz="1125" b="1">
                          <a:solidFill>
                            <a:srgbClr val="22252B"/>
                          </a:solidFill>
                          <a:latin typeface="Arial"/>
                        </a:rPr>
                        <a:t>Image</a:t>
                      </a:r>
                    </a:p>
                  </a:txBody>
                  <a:tcPr marL="95250" marR="95250" marT="76200" marB="76200">
                    <a:solidFill>
                      <a:srgbClr val="F5F3FB"/>
                    </a:solidFill>
                  </a:tcPr>
                </a:tc>
                <a:tc>
                  <a:txBody>
                    <a:bodyPr wrap="square"/>
                    <a:lstStyle/>
                    <a:p>
                      <a:r>
                        <a:rPr sz="1125" b="1">
                          <a:solidFill>
                            <a:srgbClr val="22252B"/>
                          </a:solidFill>
                          <a:latin typeface="Arial"/>
                        </a:rPr>
                        <a:t>Réalité</a:t>
                      </a:r>
                    </a:p>
                  </a:txBody>
                  <a:tcPr marL="95250" marR="95250" marT="76200" marB="76200">
                    <a:solidFill>
                      <a:srgbClr val="F5F3FB"/>
                    </a:solidFill>
                  </a:tcPr>
                </a:tc>
              </a:tr>
              <a:tr h="391715">
                <a:tc>
                  <a:txBody>
                    <a:bodyPr wrap="square"/>
                    <a:lstStyle/>
                    <a:p>
                      <a:r>
                        <a:rPr sz="1275" b="1">
                          <a:solidFill>
                            <a:srgbClr val="3B6FB6"/>
                          </a:solidFill>
                          <a:latin typeface="Arial"/>
                        </a:rPr>
                        <a:t>Village A</a:t>
                      </a:r>
                    </a:p>
                  </a:txBody>
                  <a:tcPr marL="95250" marR="95250" marT="76200" marB="76200">
                    <a:solidFill>
                      <a:srgbClr val="FFFFFF"/>
                    </a:solidFill>
                  </a:tcPr>
                </a:tc>
                <a:tc>
                  <a:txBody>
                    <a:bodyPr wrap="square"/>
                    <a:lstStyle/>
                    <a:p>
                      <a:r>
                        <a:rPr sz="1275" b="0">
                          <a:solidFill>
                            <a:srgbClr val="22252B"/>
                          </a:solidFill>
                          <a:latin typeface="Arial"/>
                        </a:rPr>
                        <a:t>la France</a:t>
                      </a:r>
                    </a:p>
                  </a:txBody>
                  <a:tcPr marL="95250" marR="95250" marT="76200" marB="76200">
                    <a:solidFill>
                      <a:srgbClr val="FFFFFF"/>
                    </a:solidFill>
                  </a:tcPr>
                </a:tc>
              </a:tr>
              <a:tr h="391715">
                <a:tc>
                  <a:txBody>
                    <a:bodyPr wrap="square"/>
                    <a:lstStyle/>
                    <a:p>
                      <a:r>
                        <a:rPr sz="1275" b="1">
                          <a:solidFill>
                            <a:srgbClr val="3B6FB6"/>
                          </a:solidFill>
                          <a:latin typeface="Arial"/>
                        </a:rPr>
                        <a:t>Village B</a:t>
                      </a:r>
                    </a:p>
                  </a:txBody>
                  <a:tcPr marL="95250" marR="95250" marT="76200" marB="76200">
                    <a:solidFill>
                      <a:srgbClr val="FFFFFF"/>
                    </a:solidFill>
                  </a:tcPr>
                </a:tc>
                <a:tc>
                  <a:txBody>
                    <a:bodyPr wrap="square"/>
                    <a:lstStyle/>
                    <a:p>
                      <a:r>
                        <a:rPr sz="1275" b="0">
                          <a:solidFill>
                            <a:srgbClr val="22252B"/>
                          </a:solidFill>
                          <a:latin typeface="Arial"/>
                        </a:rPr>
                        <a:t>l’Allemagne, l’Italie…</a:t>
                      </a:r>
                    </a:p>
                  </a:txBody>
                  <a:tcPr marL="95250" marR="95250" marT="76200" marB="76200">
                    <a:solidFill>
                      <a:srgbClr val="FFFFFF"/>
                    </a:solidFill>
                  </a:tcPr>
                </a:tc>
              </a:tr>
              <a:tr h="391715">
                <a:tc>
                  <a:txBody>
                    <a:bodyPr wrap="square"/>
                    <a:lstStyle/>
                    <a:p>
                      <a:r>
                        <a:rPr sz="1275" b="1">
                          <a:solidFill>
                            <a:srgbClr val="3B6FB6"/>
                          </a:solidFill>
                          <a:latin typeface="Arial"/>
                        </a:rPr>
                        <a:t>Les pommes</a:t>
                      </a:r>
                    </a:p>
                  </a:txBody>
                  <a:tcPr marL="95250" marR="95250" marT="76200" marB="76200">
                    <a:solidFill>
                      <a:srgbClr val="FFFFFF"/>
                    </a:solidFill>
                  </a:tcPr>
                </a:tc>
                <a:tc>
                  <a:txBody>
                    <a:bodyPr wrap="square"/>
                    <a:lstStyle/>
                    <a:p>
                      <a:r>
                        <a:rPr sz="1275" b="0">
                          <a:solidFill>
                            <a:srgbClr val="22252B"/>
                          </a:solidFill>
                          <a:latin typeface="Arial"/>
                        </a:rPr>
                        <a:t>les MWh</a:t>
                      </a:r>
                    </a:p>
                  </a:txBody>
                  <a:tcPr marL="95250" marR="95250" marT="76200" marB="76200">
                    <a:solidFill>
                      <a:srgbClr val="FFFFFF"/>
                    </a:solidFill>
                  </a:tcPr>
                </a:tc>
              </a:tr>
              <a:tr h="391715">
                <a:tc>
                  <a:txBody>
                    <a:bodyPr wrap="square"/>
                    <a:lstStyle/>
                    <a:p>
                      <a:r>
                        <a:rPr sz="1275" b="1">
                          <a:solidFill>
                            <a:srgbClr val="3B6FB6"/>
                          </a:solidFill>
                          <a:latin typeface="Arial"/>
                        </a:rPr>
                        <a:t>Le camion</a:t>
                      </a:r>
                    </a:p>
                  </a:txBody>
                  <a:tcPr marL="95250" marR="95250" marT="76200" marB="76200">
                    <a:solidFill>
                      <a:srgbClr val="FFFFFF"/>
                    </a:solidFill>
                  </a:tcPr>
                </a:tc>
                <a:tc>
                  <a:txBody>
                    <a:bodyPr wrap="square"/>
                    <a:lstStyle/>
                    <a:p>
                      <a:r>
                        <a:rPr sz="1275" b="0">
                          <a:solidFill>
                            <a:srgbClr val="22252B"/>
                          </a:solidFill>
                          <a:latin typeface="Arial"/>
                        </a:rPr>
                        <a:t>la ligne (limite d’export de la France)</a:t>
                      </a:r>
                    </a:p>
                  </a:txBody>
                  <a:tcPr marL="95250" marR="95250" marT="76200" marB="76200">
                    <a:solidFill>
                      <a:srgbClr val="FFFFFF"/>
                    </a:solidFill>
                  </a:tcPr>
                </a:tc>
              </a:tr>
              <a:tr h="391715">
                <a:tc>
                  <a:txBody>
                    <a:bodyPr wrap="square"/>
                    <a:lstStyle/>
                    <a:p>
                      <a:r>
                        <a:rPr sz="1275" b="1">
                          <a:solidFill>
                            <a:srgbClr val="3B6FB6"/>
                          </a:solidFill>
                          <a:latin typeface="Arial"/>
                        </a:rPr>
                        <a:t>Son propriétaire</a:t>
                      </a:r>
                    </a:p>
                  </a:txBody>
                  <a:tcPr marL="95250" marR="95250" marT="76200" marB="76200">
                    <a:solidFill>
                      <a:srgbClr val="FFFFFF"/>
                    </a:solidFill>
                  </a:tcPr>
                </a:tc>
                <a:tc>
                  <a:txBody>
                    <a:bodyPr wrap="square"/>
                    <a:lstStyle/>
                    <a:p>
                      <a:r>
                        <a:rPr sz="1275" b="0">
                          <a:solidFill>
                            <a:srgbClr val="22252B"/>
                          </a:solidFill>
                          <a:latin typeface="Arial"/>
                        </a:rPr>
                        <a:t>RTE et les gestionnaires de réseau voisins</a:t>
                      </a:r>
                    </a:p>
                  </a:txBody>
                  <a:tcPr marL="95250" marR="95250" marT="76200" marB="76200">
                    <a:solidFill>
                      <a:srgbClr val="FFFFFF"/>
                    </a:solidFill>
                  </a:tcPr>
                </a:tc>
              </a:tr>
              <a:tr h="621506">
                <a:tc>
                  <a:txBody>
                    <a:bodyPr wrap="square"/>
                    <a:lstStyle/>
                    <a:p>
                      <a:r>
                        <a:rPr sz="1275" b="1">
                          <a:solidFill>
                            <a:srgbClr val="3B6FB6"/>
                          </a:solidFill>
                          <a:latin typeface="Arial"/>
                        </a:rPr>
                        <a:t>Un village A sans camion</a:t>
                      </a:r>
                    </a:p>
                  </a:txBody>
                  <a:tcPr marL="95250" marR="95250" marT="76200" marB="76200">
                    <a:solidFill>
                      <a:srgbClr val="FFFFFF"/>
                    </a:solidFill>
                  </a:tcPr>
                </a:tc>
                <a:tc>
                  <a:txBody>
                    <a:bodyPr wrap="square"/>
                    <a:lstStyle/>
                    <a:p>
                      <a:r>
                        <a:rPr sz="1275" b="0">
                          <a:solidFill>
                            <a:srgbClr val="22252B"/>
                          </a:solidFill>
                          <a:latin typeface="Arial"/>
                        </a:rPr>
                        <a:t>une France isolée : ses pommes en trop ne valent presque rien</a:t>
                      </a:r>
                    </a:p>
                  </a:txBody>
                  <a:tcPr marL="95250" marR="95250" marT="76200" marB="76200">
                    <a:solidFill>
                      <a:srgbClr val="FFFFFF"/>
                    </a:solidFill>
                  </a:tcPr>
                </a:tc>
              </a:tr>
            </a:tbl>
          </a:graphicData>
        </a:graphic>
      </p:graphicFrame>
      <p:sp>
        <p:nvSpPr>
          <p:cNvPr id="10" name="TextBox 9"/>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COUPLÉE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Ligne pas pleine : un seul prix</a:t>
            </a:r>
          </a:p>
        </p:txBody>
      </p:sp>
      <p:pic>
        <p:nvPicPr>
          <p:cNvPr id="4" name="Picture 3" descr="image.png"/>
          <p:cNvPicPr>
            <a:picLocks noChangeAspect="1"/>
          </p:cNvPicPr>
          <p:nvPr/>
        </p:nvPicPr>
        <p:blipFill>
          <a:blip r:embed="rId2"/>
          <a:stretch>
            <a:fillRect/>
          </a:stretch>
        </p:blipFill>
        <p:spPr>
          <a:xfrm>
            <a:off x="571500" y="1101476"/>
            <a:ext cx="5512742" cy="3340744"/>
          </a:xfrm>
          <a:prstGeom prst="rect">
            <a:avLst/>
          </a:prstGeom>
        </p:spPr>
      </p:pic>
      <p:sp>
        <p:nvSpPr>
          <p:cNvPr id="5" name="TextBox 4"/>
          <p:cNvSpPr txBox="1"/>
          <p:nvPr/>
        </p:nvSpPr>
        <p:spPr>
          <a:xfrm>
            <a:off x="6369992" y="1101476"/>
            <a:ext cx="5250507" cy="2833389"/>
          </a:xfrm>
          <a:prstGeom prst="rect">
            <a:avLst/>
          </a:prstGeom>
          <a:noFill/>
        </p:spPr>
        <p:txBody>
          <a:bodyPr wrap="square" lIns="0" rIns="0" tIns="0" bIns="0" anchor="t">
            <a:spAutoFit/>
          </a:bodyPr>
          <a:lstStyle/>
          <a:p>
            <a:pPr marL="152400" indent="-133350">
              <a:spcAft>
                <a:spcPts val="500"/>
              </a:spcAft>
              <a:buChar char="•"/>
            </a:pPr>
            <a:r>
              <a:rPr sz="1350" b="0">
                <a:solidFill>
                  <a:srgbClr val="22252B"/>
                </a:solidFill>
                <a:latin typeface="Arial"/>
              </a:rPr>
              <a:t>La France a besoin de toutes ses centrales bon marché et d’un peu d’hydraulique.</a:t>
            </a:r>
          </a:p>
          <a:p>
            <a:pPr marL="152400" indent="-133350">
              <a:spcAft>
                <a:spcPts val="500"/>
              </a:spcAft>
              <a:buChar char="•"/>
            </a:pPr>
            <a:r>
              <a:rPr sz="1350" b="0">
                <a:solidFill>
                  <a:srgbClr val="22252B"/>
                </a:solidFill>
                <a:latin typeface="Arial"/>
              </a:rPr>
              <a:t>Les voisins achètent l’électricité française tant qu’elle est moins chère que chez eux.</a:t>
            </a:r>
          </a:p>
          <a:p>
            <a:pPr marL="152400" indent="-133350">
              <a:spcAft>
                <a:spcPts val="500"/>
              </a:spcAft>
              <a:buChar char="•"/>
            </a:pPr>
            <a:r>
              <a:rPr sz="1350" b="0">
                <a:solidFill>
                  <a:srgbClr val="22252B"/>
                </a:solidFill>
                <a:latin typeface="Arial"/>
              </a:rPr>
              <a:t>La France exporte 3 GW : la ligne (5 GW) suffit, les prix s’égalisent.</a:t>
            </a:r>
          </a:p>
          <a:p>
            <a:pPr marL="152400" indent="-133350">
              <a:spcAft>
                <a:spcPts val="500"/>
              </a:spcAft>
              <a:buChar char="•"/>
            </a:pPr>
            <a:r>
              <a:rPr sz="1350" b="1">
                <a:solidFill>
                  <a:srgbClr val="22252B"/>
                </a:solidFill>
                <a:latin typeface="Arial"/>
              </a:rPr>
              <a:t>Prix France = prix de la zone = 80 €</a:t>
            </a:r>
            <a:r>
              <a:rPr sz="1350" b="0">
                <a:solidFill>
                  <a:srgbClr val="22252B"/>
                </a:solidFill>
                <a:latin typeface="Arial"/>
              </a:rPr>
              <a:t>, souvent fixé par une centrale à gaz allemande.</a:t>
            </a:r>
          </a:p>
          <a:p>
            <a:pPr marL="152400" indent="-133350">
              <a:spcAft>
                <a:spcPts val="500"/>
              </a:spcAft>
              <a:buChar char="•"/>
            </a:pPr>
            <a:r>
              <a:rPr sz="1350" b="0">
                <a:solidFill>
                  <a:srgbClr val="22252B"/>
                </a:solidFill>
                <a:latin typeface="Arial"/>
              </a:rPr>
              <a:t>Un GW de vent français en plus part à l’export : </a:t>
            </a:r>
            <a:r>
              <a:rPr sz="1350" b="1">
                <a:solidFill>
                  <a:srgbClr val="22252B"/>
                </a:solidFill>
                <a:latin typeface="Arial"/>
              </a:rPr>
              <a:t>le prix bouge peu</a:t>
            </a:r>
            <a:r>
              <a:rPr sz="1350" b="0">
                <a:solidFill>
                  <a:srgbClr val="22252B"/>
                </a:solidFill>
                <a:latin typeface="Arial"/>
              </a:rPr>
              <a:t>.</a:t>
            </a:r>
          </a:p>
        </p:txBody>
      </p:sp>
      <p:sp>
        <p:nvSpPr>
          <p:cNvPr id="6" name="TextBox 5"/>
          <p:cNvSpPr txBox="1"/>
          <p:nvPr/>
        </p:nvSpPr>
        <p:spPr>
          <a:xfrm>
            <a:off x="6369992" y="3992016"/>
            <a:ext cx="5250507" cy="198834"/>
          </a:xfrm>
          <a:prstGeom prst="rect">
            <a:avLst/>
          </a:prstGeom>
          <a:noFill/>
        </p:spPr>
        <p:txBody>
          <a:bodyPr wrap="square" lIns="0" rIns="0" tIns="0" bIns="0" anchor="t">
            <a:spAutoFit/>
          </a:bodyPr>
          <a:lstStyle/>
          <a:p>
            <a:r>
              <a:rPr sz="937" b="0">
                <a:solidFill>
                  <a:srgbClr val="8A8F98"/>
                </a:solidFill>
                <a:latin typeface="Arial"/>
              </a:rPr>
              <a:t>Cas illustratif : parc et prix simplifiés.</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COUPÉE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Ligne pleine : deux prix</a:t>
            </a:r>
          </a:p>
        </p:txBody>
      </p:sp>
      <p:pic>
        <p:nvPicPr>
          <p:cNvPr id="4" name="Picture 3" descr="image.png"/>
          <p:cNvPicPr>
            <a:picLocks noChangeAspect="1"/>
          </p:cNvPicPr>
          <p:nvPr/>
        </p:nvPicPr>
        <p:blipFill>
          <a:blip r:embed="rId2"/>
          <a:stretch>
            <a:fillRect/>
          </a:stretch>
        </p:blipFill>
        <p:spPr>
          <a:xfrm>
            <a:off x="571500" y="1101476"/>
            <a:ext cx="5512742" cy="3340744"/>
          </a:xfrm>
          <a:prstGeom prst="rect">
            <a:avLst/>
          </a:prstGeom>
        </p:spPr>
      </p:pic>
      <p:sp>
        <p:nvSpPr>
          <p:cNvPr id="5" name="TextBox 4"/>
          <p:cNvSpPr txBox="1"/>
          <p:nvPr/>
        </p:nvSpPr>
        <p:spPr>
          <a:xfrm>
            <a:off x="6369992" y="1101476"/>
            <a:ext cx="5250507" cy="3320057"/>
          </a:xfrm>
          <a:prstGeom prst="rect">
            <a:avLst/>
          </a:prstGeom>
          <a:noFill/>
        </p:spPr>
        <p:txBody>
          <a:bodyPr wrap="square" lIns="0" rIns="0" tIns="0" bIns="0" anchor="t">
            <a:spAutoFit/>
          </a:bodyPr>
          <a:lstStyle/>
          <a:p>
            <a:pPr marL="152400" indent="-133350">
              <a:spcAft>
                <a:spcPts val="500"/>
              </a:spcAft>
              <a:buChar char="•"/>
            </a:pPr>
            <a:r>
              <a:rPr sz="1350" b="0">
                <a:solidFill>
                  <a:srgbClr val="22252B"/>
                </a:solidFill>
                <a:latin typeface="Arial"/>
              </a:rPr>
              <a:t>Avec 20 GW de vent et de solaire, la France voudrait exporter 18 GW. La ligne n’en passe que 5.</a:t>
            </a:r>
          </a:p>
          <a:p>
            <a:pPr marL="152400" indent="-133350">
              <a:spcAft>
                <a:spcPts val="500"/>
              </a:spcAft>
              <a:buChar char="•"/>
            </a:pPr>
            <a:r>
              <a:rPr sz="1350" b="0">
                <a:solidFill>
                  <a:srgbClr val="22252B"/>
                </a:solidFill>
                <a:latin typeface="Arial"/>
              </a:rPr>
              <a:t>Le prix français se lit sur le </a:t>
            </a:r>
            <a:r>
              <a:rPr sz="1350" b="1">
                <a:solidFill>
                  <a:srgbClr val="22252B"/>
                </a:solidFill>
                <a:latin typeface="Arial"/>
              </a:rPr>
              <a:t>merit order français seul</a:t>
            </a:r>
            <a:r>
              <a:rPr sz="1350" b="0">
                <a:solidFill>
                  <a:srgbClr val="22252B"/>
                </a:solidFill>
                <a:latin typeface="Arial"/>
              </a:rPr>
              <a:t>, avec une demande = consommation + 5 GW : </a:t>
            </a:r>
            <a:r>
              <a:rPr sz="1350" b="1">
                <a:solidFill>
                  <a:srgbClr val="22252B"/>
                </a:solidFill>
                <a:latin typeface="Arial"/>
              </a:rPr>
              <a:t>32 €</a:t>
            </a:r>
            <a:r>
              <a:rPr sz="1350" b="0">
                <a:solidFill>
                  <a:srgbClr val="22252B"/>
                </a:solidFill>
                <a:latin typeface="Arial"/>
              </a:rPr>
              <a:t>, au milieu du nucléaire qui module.</a:t>
            </a:r>
          </a:p>
          <a:p>
            <a:pPr marL="152400" indent="-133350">
              <a:spcAft>
                <a:spcPts val="500"/>
              </a:spcAft>
              <a:buChar char="•"/>
            </a:pPr>
            <a:r>
              <a:rPr sz="1350" b="0">
                <a:solidFill>
                  <a:srgbClr val="22252B"/>
                </a:solidFill>
                <a:latin typeface="Arial"/>
              </a:rPr>
              <a:t>L’Allemagne reste à 60 €.</a:t>
            </a:r>
          </a:p>
          <a:p>
            <a:pPr marL="152400" indent="-133350">
              <a:spcAft>
                <a:spcPts val="500"/>
              </a:spcAft>
              <a:buChar char="•"/>
            </a:pPr>
            <a:r>
              <a:rPr sz="1350" b="0">
                <a:solidFill>
                  <a:srgbClr val="22252B"/>
                </a:solidFill>
                <a:latin typeface="Arial"/>
              </a:rPr>
              <a:t>Sur les 5 GW qui passent : le producteur français touche 32 €, le consommateur allemand paie 60 €. </a:t>
            </a:r>
            <a:r>
              <a:rPr sz="1350" b="1">
                <a:solidFill>
                  <a:srgbClr val="22252B"/>
                </a:solidFill>
                <a:latin typeface="Arial"/>
              </a:rPr>
              <a:t>28 € × 5 000 MWh = 140 000 € par heure</a:t>
            </a:r>
            <a:r>
              <a:rPr sz="1350" b="0">
                <a:solidFill>
                  <a:srgbClr val="22252B"/>
                </a:solidFill>
                <a:latin typeface="Arial"/>
              </a:rPr>
              <a:t> vont aux gestionnaires de la ligne.</a:t>
            </a:r>
          </a:p>
          <a:p>
            <a:pPr marL="152400" indent="-133350">
              <a:spcAft>
                <a:spcPts val="500"/>
              </a:spcAft>
              <a:buChar char="•"/>
            </a:pPr>
            <a:r>
              <a:rPr sz="1350" b="0">
                <a:solidFill>
                  <a:srgbClr val="22252B"/>
                </a:solidFill>
                <a:latin typeface="Arial"/>
              </a:rPr>
              <a:t>Même coupée, la France exporte encore 5 GW : </a:t>
            </a:r>
            <a:r>
              <a:rPr sz="1350" b="1">
                <a:solidFill>
                  <a:srgbClr val="22252B"/>
                </a:solidFill>
                <a:latin typeface="Arial"/>
              </a:rPr>
              <a:t>son prix reste au-dessus de celui d’une France isolée</a:t>
            </a:r>
            <a:r>
              <a:rPr sz="1350" b="0">
                <a:solidFill>
                  <a:srgbClr val="22252B"/>
                </a:solidFill>
                <a:latin typeface="Arial"/>
              </a:rPr>
              <a:t>, qui garderait ces 5 GW pour elle.</a:t>
            </a:r>
          </a:p>
        </p:txBody>
      </p:sp>
      <p:sp>
        <p:nvSpPr>
          <p:cNvPr id="6" name="TextBox 5"/>
          <p:cNvSpPr txBox="1"/>
          <p:nvPr/>
        </p:nvSpPr>
        <p:spPr>
          <a:xfrm>
            <a:off x="6369992" y="4478684"/>
            <a:ext cx="5250507" cy="198834"/>
          </a:xfrm>
          <a:prstGeom prst="rect">
            <a:avLst/>
          </a:prstGeom>
          <a:noFill/>
        </p:spPr>
        <p:txBody>
          <a:bodyPr wrap="square" lIns="0" rIns="0" tIns="0" bIns="0" anchor="t">
            <a:spAutoFit/>
          </a:bodyPr>
          <a:lstStyle/>
          <a:p>
            <a:r>
              <a:rPr sz="937" b="0">
                <a:solidFill>
                  <a:srgbClr val="8A8F98"/>
                </a:solidFill>
                <a:latin typeface="Arial"/>
              </a:rPr>
              <a:t>Cas illustratif : parc et prix simplifiés.</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FAITS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France et Allemagne : des prix de plus en plus séparés</a:t>
            </a:r>
          </a:p>
        </p:txBody>
      </p:sp>
      <p:pic>
        <p:nvPicPr>
          <p:cNvPr id="4" name="Picture 3" descr="image.png"/>
          <p:cNvPicPr>
            <a:picLocks noChangeAspect="1"/>
          </p:cNvPicPr>
          <p:nvPr/>
        </p:nvPicPr>
        <p:blipFill>
          <a:blip r:embed="rId2"/>
          <a:stretch>
            <a:fillRect/>
          </a:stretch>
        </p:blipFill>
        <p:spPr>
          <a:xfrm>
            <a:off x="571500" y="1101476"/>
            <a:ext cx="5512742" cy="2957512"/>
          </a:xfrm>
          <a:prstGeom prst="rect">
            <a:avLst/>
          </a:prstGeom>
        </p:spPr>
      </p:pic>
      <p:sp>
        <p:nvSpPr>
          <p:cNvPr id="5" name="TextBox 4"/>
          <p:cNvSpPr txBox="1"/>
          <p:nvPr/>
        </p:nvSpPr>
        <p:spPr>
          <a:xfrm>
            <a:off x="6369992" y="1101476"/>
            <a:ext cx="5250507" cy="2504330"/>
          </a:xfrm>
          <a:prstGeom prst="rect">
            <a:avLst/>
          </a:prstGeom>
          <a:noFill/>
        </p:spPr>
        <p:txBody>
          <a:bodyPr wrap="square" lIns="0" rIns="0" tIns="0" bIns="0" anchor="t">
            <a:spAutoFit/>
          </a:bodyPr>
          <a:lstStyle/>
          <a:p>
            <a:pPr marL="152400" indent="-133350">
              <a:spcAft>
                <a:spcPts val="500"/>
              </a:spcAft>
              <a:buChar char="•"/>
            </a:pPr>
            <a:r>
              <a:rPr sz="1350" b="0">
                <a:solidFill>
                  <a:srgbClr val="22252B"/>
                </a:solidFill>
                <a:latin typeface="Arial"/>
              </a:rPr>
              <a:t>Heures où la France est moins chère que l’Allemagne d’au moins 5 € : </a:t>
            </a:r>
            <a:r>
              <a:rPr sz="1350" b="1">
                <a:solidFill>
                  <a:srgbClr val="22252B"/>
                </a:solidFill>
                <a:latin typeface="Arial"/>
              </a:rPr>
              <a:t>629 en 2021 → 5 460 en 2025</a:t>
            </a:r>
            <a:r>
              <a:rPr sz="1350" b="0">
                <a:solidFill>
                  <a:srgbClr val="22252B"/>
                </a:solidFill>
                <a:latin typeface="Arial"/>
              </a:rPr>
              <a:t> (63 % de l’année).</a:t>
            </a:r>
          </a:p>
          <a:p>
            <a:pPr marL="152400" indent="-133350">
              <a:spcAft>
                <a:spcPts val="500"/>
              </a:spcAft>
              <a:buChar char="•"/>
            </a:pPr>
            <a:r>
              <a:rPr sz="1350" b="0">
                <a:solidFill>
                  <a:srgbClr val="22252B"/>
                </a:solidFill>
                <a:latin typeface="Arial"/>
              </a:rPr>
              <a:t>En 2022, l’inverse : la moitié du nucléaire à l’arrêt, la France plus chère 4 453 heures, elle importe.</a:t>
            </a:r>
          </a:p>
          <a:p>
            <a:pPr marL="152400" indent="-133350">
              <a:spcAft>
                <a:spcPts val="500"/>
              </a:spcAft>
              <a:buChar char="•"/>
            </a:pPr>
            <a:r>
              <a:rPr sz="1350" b="1">
                <a:solidFill>
                  <a:srgbClr val="22252B"/>
                </a:solidFill>
                <a:latin typeface="Arial"/>
              </a:rPr>
              <a:t>Attention</a:t>
            </a:r>
            <a:r>
              <a:rPr sz="1350" b="0">
                <a:solidFill>
                  <a:srgbClr val="22252B"/>
                </a:solidFill>
                <a:latin typeface="Arial"/>
              </a:rPr>
              <a:t> : en 2024–2025, les heures où la France est plus chère que l’Allemagne ne sont </a:t>
            </a:r>
            <a:r>
              <a:rPr sz="1350" b="1">
                <a:solidFill>
                  <a:srgbClr val="22252B"/>
                </a:solidFill>
                <a:latin typeface="Arial"/>
              </a:rPr>
              <a:t>pas</a:t>
            </a:r>
            <a:r>
              <a:rPr sz="1350" b="0">
                <a:solidFill>
                  <a:srgbClr val="22252B"/>
                </a:solidFill>
                <a:latin typeface="Arial"/>
              </a:rPr>
              <a:t> des heures où elle manque (page 18).</a:t>
            </a:r>
          </a:p>
          <a:p>
            <a:pPr marL="152400" indent="-133350">
              <a:spcAft>
                <a:spcPts val="500"/>
              </a:spcAft>
              <a:buChar char="•"/>
            </a:pPr>
            <a:r>
              <a:rPr sz="1350" b="0">
                <a:solidFill>
                  <a:srgbClr val="22252B"/>
                </a:solidFill>
                <a:latin typeface="Arial"/>
              </a:rPr>
              <a:t>La limite d’export de la France dans Core (JAO) baisse : </a:t>
            </a:r>
            <a:r>
              <a:rPr sz="1350" b="1">
                <a:solidFill>
                  <a:srgbClr val="22252B"/>
                </a:solidFill>
                <a:latin typeface="Arial"/>
              </a:rPr>
              <a:t>9,2 GW en 2023 → 5,4 GW en 2025</a:t>
            </a:r>
            <a:r>
              <a:rPr sz="1350" b="0">
                <a:solidFill>
                  <a:srgbClr val="22252B"/>
                </a:solidFill>
                <a:latin typeface="Arial"/>
              </a:rPr>
              <a:t> en moyenne horaire.</a:t>
            </a:r>
          </a:p>
        </p:txBody>
      </p:sp>
      <p:sp>
        <p:nvSpPr>
          <p:cNvPr id="6" name="TextBox 5"/>
          <p:cNvSpPr txBox="1"/>
          <p:nvPr/>
        </p:nvSpPr>
        <p:spPr>
          <a:xfrm>
            <a:off x="6369992" y="3662957"/>
            <a:ext cx="5250507" cy="198834"/>
          </a:xfrm>
          <a:prstGeom prst="rect">
            <a:avLst/>
          </a:prstGeom>
          <a:noFill/>
        </p:spPr>
        <p:txBody>
          <a:bodyPr wrap="square" lIns="0" rIns="0" tIns="0" bIns="0" anchor="t">
            <a:spAutoFit/>
          </a:bodyPr>
          <a:lstStyle/>
          <a:p>
            <a:r>
              <a:rPr sz="937" b="0">
                <a:solidFill>
                  <a:srgbClr val="8A8F98"/>
                </a:solidFill>
                <a:latin typeface="Arial"/>
              </a:rPr>
              <a:t>Sources : ENTSO-E, JAO ;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FAITS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Prix moyens : la France est passée sous l’Allemagne</a:t>
            </a:r>
          </a:p>
        </p:txBody>
      </p:sp>
      <p:pic>
        <p:nvPicPr>
          <p:cNvPr id="4" name="Picture 3" descr="image.png"/>
          <p:cNvPicPr>
            <a:picLocks noChangeAspect="1"/>
          </p:cNvPicPr>
          <p:nvPr/>
        </p:nvPicPr>
        <p:blipFill>
          <a:blip r:embed="rId2"/>
          <a:stretch>
            <a:fillRect/>
          </a:stretch>
        </p:blipFill>
        <p:spPr>
          <a:xfrm>
            <a:off x="571500" y="1101476"/>
            <a:ext cx="5512742" cy="2957512"/>
          </a:xfrm>
          <a:prstGeom prst="rect">
            <a:avLst/>
          </a:prstGeom>
        </p:spPr>
      </p:pic>
      <p:sp>
        <p:nvSpPr>
          <p:cNvPr id="5" name="TextBox 4"/>
          <p:cNvSpPr txBox="1"/>
          <p:nvPr/>
        </p:nvSpPr>
        <p:spPr>
          <a:xfrm>
            <a:off x="6369992" y="1101476"/>
            <a:ext cx="5250507" cy="1774328"/>
          </a:xfrm>
          <a:prstGeom prst="rect">
            <a:avLst/>
          </a:prstGeom>
          <a:noFill/>
        </p:spPr>
        <p:txBody>
          <a:bodyPr wrap="square" lIns="0" rIns="0" tIns="0" bIns="0" anchor="t">
            <a:spAutoFit/>
          </a:bodyPr>
          <a:lstStyle/>
          <a:p>
            <a:pPr marL="152400" indent="-133350">
              <a:spcAft>
                <a:spcPts val="500"/>
              </a:spcAft>
              <a:buChar char="•"/>
            </a:pPr>
            <a:r>
              <a:rPr sz="1350" b="0">
                <a:solidFill>
                  <a:srgbClr val="22252B"/>
                </a:solidFill>
                <a:latin typeface="Arial"/>
              </a:rPr>
              <a:t>2020–2021 : prix proches, la France souvent un peu plus chère.</a:t>
            </a:r>
          </a:p>
          <a:p>
            <a:pPr marL="152400" indent="-133350">
              <a:spcAft>
                <a:spcPts val="500"/>
              </a:spcAft>
              <a:buChar char="•"/>
            </a:pPr>
            <a:r>
              <a:rPr sz="1350" b="0">
                <a:solidFill>
                  <a:srgbClr val="22252B"/>
                </a:solidFill>
                <a:latin typeface="Arial"/>
              </a:rPr>
              <a:t>2022 : crise, la France </a:t>
            </a:r>
            <a:r>
              <a:rPr sz="1350" b="1">
                <a:solidFill>
                  <a:srgbClr val="22252B"/>
                </a:solidFill>
                <a:latin typeface="Arial"/>
              </a:rPr>
              <a:t>plus chère</a:t>
            </a:r>
            <a:r>
              <a:rPr sz="1350" b="0">
                <a:solidFill>
                  <a:srgbClr val="22252B"/>
                </a:solidFill>
                <a:latin typeface="Arial"/>
              </a:rPr>
              <a:t> (277 contre 236 €) : elle importe.</a:t>
            </a:r>
          </a:p>
          <a:p>
            <a:pPr marL="152400" indent="-133350">
              <a:spcAft>
                <a:spcPts val="500"/>
              </a:spcAft>
              <a:buChar char="•"/>
            </a:pPr>
            <a:r>
              <a:rPr sz="1350" b="0">
                <a:solidFill>
                  <a:srgbClr val="22252B"/>
                </a:solidFill>
                <a:latin typeface="Arial"/>
              </a:rPr>
              <a:t>2024 : </a:t>
            </a:r>
            <a:r>
              <a:rPr sz="1350" b="1">
                <a:solidFill>
                  <a:srgbClr val="22252B"/>
                </a:solidFill>
                <a:latin typeface="Arial"/>
              </a:rPr>
              <a:t>58 € contre 79 €</a:t>
            </a:r>
            <a:r>
              <a:rPr sz="1350" b="0">
                <a:solidFill>
                  <a:srgbClr val="22252B"/>
                </a:solidFill>
                <a:latin typeface="Arial"/>
              </a:rPr>
              <a:t> ; 2025 : </a:t>
            </a:r>
            <a:r>
              <a:rPr sz="1350" b="1">
                <a:solidFill>
                  <a:srgbClr val="22252B"/>
                </a:solidFill>
                <a:latin typeface="Arial"/>
              </a:rPr>
              <a:t>61 contre 90 €</a:t>
            </a:r>
            <a:r>
              <a:rPr sz="1350" b="0">
                <a:solidFill>
                  <a:srgbClr val="22252B"/>
                </a:solidFill>
                <a:latin typeface="Arial"/>
              </a:rPr>
              <a:t>.</a:t>
            </a:r>
          </a:p>
          <a:p>
            <a:pPr marL="152400" indent="-133350">
              <a:spcAft>
                <a:spcPts val="500"/>
              </a:spcAft>
              <a:buChar char="•"/>
            </a:pPr>
            <a:r>
              <a:rPr sz="1350" b="0">
                <a:solidFill>
                  <a:srgbClr val="22252B"/>
                </a:solidFill>
                <a:latin typeface="Arial"/>
              </a:rPr>
              <a:t>RTE (bilan 2025) : prix français « largement découplés de ceux de l’ensemble des pays voisins », spot moyen 61 €/MWh.</a:t>
            </a:r>
          </a:p>
        </p:txBody>
      </p:sp>
      <p:sp>
        <p:nvSpPr>
          <p:cNvPr id="6" name="TextBox 5"/>
          <p:cNvSpPr txBox="1"/>
          <p:nvPr/>
        </p:nvSpPr>
        <p:spPr>
          <a:xfrm>
            <a:off x="6369992" y="2932955"/>
            <a:ext cx="5250507" cy="198834"/>
          </a:xfrm>
          <a:prstGeom prst="rect">
            <a:avLst/>
          </a:prstGeom>
          <a:noFill/>
        </p:spPr>
        <p:txBody>
          <a:bodyPr wrap="square" lIns="0" rIns="0" tIns="0" bIns="0" anchor="t">
            <a:spAutoFit/>
          </a:bodyPr>
          <a:lstStyle/>
          <a:p>
            <a:r>
              <a:rPr sz="937" b="0">
                <a:solidFill>
                  <a:srgbClr val="8A8F98"/>
                </a:solidFill>
                <a:latin typeface="Arial"/>
              </a:rPr>
              <a:t>Prix spot moyens de la veille. Sources : ENTSO-E, RTE ;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ÉTATS DE COUPLAGE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Toutes les frontières : dans quel état est la France ?</a:t>
            </a:r>
          </a:p>
        </p:txBody>
      </p:sp>
      <p:pic>
        <p:nvPicPr>
          <p:cNvPr id="4" name="Picture 3" descr="image.png"/>
          <p:cNvPicPr>
            <a:picLocks noChangeAspect="1"/>
          </p:cNvPicPr>
          <p:nvPr/>
        </p:nvPicPr>
        <p:blipFill>
          <a:blip r:embed="rId2"/>
          <a:stretch>
            <a:fillRect/>
          </a:stretch>
        </p:blipFill>
        <p:spPr>
          <a:xfrm>
            <a:off x="571500" y="1101476"/>
            <a:ext cx="5979467" cy="4177456"/>
          </a:xfrm>
          <a:prstGeom prst="rect">
            <a:avLst/>
          </a:prstGeom>
        </p:spPr>
      </p:pic>
      <p:sp>
        <p:nvSpPr>
          <p:cNvPr id="5" name="TextBox 4"/>
          <p:cNvSpPr txBox="1"/>
          <p:nvPr/>
        </p:nvSpPr>
        <p:spPr>
          <a:xfrm>
            <a:off x="6836717" y="1101476"/>
            <a:ext cx="4783782" cy="3324225"/>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Une frontière est </a:t>
            </a:r>
            <a:r>
              <a:rPr sz="1162" b="1">
                <a:solidFill>
                  <a:srgbClr val="22252B"/>
                </a:solidFill>
                <a:latin typeface="Arial"/>
              </a:rPr>
              <a:t>couplée</a:t>
            </a:r>
            <a:r>
              <a:rPr sz="1162" b="0">
                <a:solidFill>
                  <a:srgbClr val="22252B"/>
                </a:solidFill>
                <a:latin typeface="Arial"/>
              </a:rPr>
              <a:t> quand les deux prix sont égaux au centime près (la règle de la CRE ; nos taux France–Allemagne retombent sur les siens : 29 % en 2023, 14 % en 2024, 10–11 % en 2025).</a:t>
            </a:r>
          </a:p>
          <a:p>
            <a:pPr marL="152400" indent="-133350">
              <a:spcAft>
                <a:spcPts val="500"/>
              </a:spcAft>
              <a:buChar char="•"/>
            </a:pPr>
            <a:r>
              <a:rPr sz="1162" b="0">
                <a:solidFill>
                  <a:srgbClr val="22252B"/>
                </a:solidFill>
                <a:latin typeface="Arial"/>
              </a:rPr>
              <a:t>Couplée avec Core (Belgique et Allemagne) : </a:t>
            </a:r>
            <a:r>
              <a:rPr sz="1162" b="1">
                <a:solidFill>
                  <a:srgbClr val="22252B"/>
                </a:solidFill>
                <a:latin typeface="Arial"/>
              </a:rPr>
              <a:t>49 % en 2021 → 10 % en 2025</a:t>
            </a:r>
            <a:r>
              <a:rPr sz="1162" b="0">
                <a:solidFill>
                  <a:srgbClr val="22252B"/>
                </a:solidFill>
                <a:latin typeface="Arial"/>
              </a:rPr>
              <a:t>.</a:t>
            </a:r>
          </a:p>
          <a:p>
            <a:pPr marL="152400" indent="-133350">
              <a:spcAft>
                <a:spcPts val="500"/>
              </a:spcAft>
              <a:buChar char="•"/>
            </a:pPr>
            <a:r>
              <a:rPr sz="1162" b="0">
                <a:solidFill>
                  <a:srgbClr val="22252B"/>
                </a:solidFill>
                <a:latin typeface="Arial"/>
              </a:rPr>
              <a:t>Couplée avec une partie des voisins : depuis 2024, c’est presque toujours </a:t>
            </a:r>
            <a:r>
              <a:rPr sz="1162" b="1">
                <a:solidFill>
                  <a:srgbClr val="22252B"/>
                </a:solidFill>
                <a:latin typeface="Arial"/>
              </a:rPr>
              <a:t>l’Espagne seule</a:t>
            </a:r>
            <a:r>
              <a:rPr sz="1162" b="0">
                <a:solidFill>
                  <a:srgbClr val="22252B"/>
                </a:solidFill>
                <a:latin typeface="Arial"/>
              </a:rPr>
              <a:t> (2 909 h en 2025).</a:t>
            </a:r>
          </a:p>
          <a:p>
            <a:pPr marL="152400" indent="-133350">
              <a:spcAft>
                <a:spcPts val="500"/>
              </a:spcAft>
              <a:buChar char="•"/>
            </a:pPr>
            <a:r>
              <a:rPr sz="1162" b="0">
                <a:solidFill>
                  <a:srgbClr val="22252B"/>
                </a:solidFill>
                <a:latin typeface="Arial"/>
              </a:rPr>
              <a:t>Coupée de tous : </a:t>
            </a:r>
            <a:r>
              <a:rPr sz="1162" b="1">
                <a:solidFill>
                  <a:srgbClr val="22252B"/>
                </a:solidFill>
                <a:latin typeface="Arial"/>
              </a:rPr>
              <a:t>53 % des heures en 2025</a:t>
            </a:r>
            <a:r>
              <a:rPr sz="1162" b="0">
                <a:solidFill>
                  <a:srgbClr val="22252B"/>
                </a:solidFill>
                <a:latin typeface="Arial"/>
              </a:rPr>
              <a:t>, dont 21 % la moins chère de tous ses voisins. Coupée en importatrice : 0 h depuis 2024.</a:t>
            </a:r>
          </a:p>
          <a:p>
            <a:pPr marL="152400" indent="-133350">
              <a:spcAft>
                <a:spcPts val="500"/>
              </a:spcAft>
              <a:buChar char="•"/>
            </a:pPr>
            <a:r>
              <a:rPr sz="1162" b="0">
                <a:solidFill>
                  <a:srgbClr val="22252B"/>
                </a:solidFill>
                <a:latin typeface="Arial"/>
              </a:rPr>
              <a:t>La France exporte dans </a:t>
            </a:r>
            <a:r>
              <a:rPr sz="1162" b="1">
                <a:solidFill>
                  <a:srgbClr val="22252B"/>
                </a:solidFill>
                <a:latin typeface="Arial"/>
              </a:rPr>
              <a:t>99 %</a:t>
            </a:r>
            <a:r>
              <a:rPr sz="1162" b="0">
                <a:solidFill>
                  <a:srgbClr val="22252B"/>
                </a:solidFill>
                <a:latin typeface="Arial"/>
              </a:rPr>
              <a:t> des quarts d’heure de 2025 (échanges commerciaux), quel que soit l’état.</a:t>
            </a:r>
          </a:p>
          <a:p>
            <a:pPr marL="152400" indent="-133350">
              <a:spcAft>
                <a:spcPts val="500"/>
              </a:spcAft>
              <a:buChar char="•"/>
            </a:pPr>
            <a:r>
              <a:rPr sz="1162" b="1">
                <a:solidFill>
                  <a:srgbClr val="22252B"/>
                </a:solidFill>
                <a:latin typeface="Arial"/>
              </a:rPr>
              <a:t>Quarts d’heure</a:t>
            </a:r>
            <a:r>
              <a:rPr sz="1162" b="0">
                <a:solidFill>
                  <a:srgbClr val="22252B"/>
                </a:solidFill>
                <a:latin typeface="Arial"/>
              </a:rPr>
              <a:t> : depuis le 1er octobre 2025, l’enchère fixe un prix par quart d’heure. Tout est compté au quart d’heure (0,25 h chacun) ; avant, une heure = 4 quarts d’heure identiques.</a:t>
            </a:r>
          </a:p>
        </p:txBody>
      </p:sp>
      <p:sp>
        <p:nvSpPr>
          <p:cNvPr id="6" name="TextBox 5"/>
          <p:cNvSpPr txBox="1"/>
          <p:nvPr/>
        </p:nvSpPr>
        <p:spPr>
          <a:xfrm>
            <a:off x="6836717" y="4482851"/>
            <a:ext cx="4783782" cy="681037"/>
          </a:xfrm>
          <a:prstGeom prst="rect">
            <a:avLst/>
          </a:prstGeom>
          <a:noFill/>
        </p:spPr>
        <p:txBody>
          <a:bodyPr wrap="square" lIns="0" rIns="0" tIns="0" bIns="0" anchor="t">
            <a:spAutoFit/>
          </a:bodyPr>
          <a:lstStyle/>
          <a:p>
            <a:r>
              <a:rPr sz="937" b="0">
                <a:solidFill>
                  <a:srgbClr val="8A8F98"/>
                </a:solidFill>
                <a:latin typeface="Arial"/>
              </a:rPr>
              <a:t>Voisins du couplage : Belgique, Allemagne, Espagne, Italie Nord (Grande-Bretagne en 2020). La Suisse et la Grande-Bretagne n’ont presque jamais le prix français : elles sont hors du couplage. Avec une tolérance de 1 € au lieu d’1 centime, « couplée avec Core » passe à 17 % en 2025. Sources : ENTSO-E, Elexon, Energy-Charts ;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ÉTATS DE COUPLAGE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Frontière par frontière</a:t>
            </a:r>
          </a:p>
        </p:txBody>
      </p:sp>
      <p:pic>
        <p:nvPicPr>
          <p:cNvPr id="4" name="Picture 3" descr="image.png"/>
          <p:cNvPicPr>
            <a:picLocks noChangeAspect="1"/>
          </p:cNvPicPr>
          <p:nvPr/>
        </p:nvPicPr>
        <p:blipFill>
          <a:blip r:embed="rId2"/>
          <a:stretch>
            <a:fillRect/>
          </a:stretch>
        </p:blipFill>
        <p:spPr>
          <a:xfrm>
            <a:off x="571500" y="1101476"/>
            <a:ext cx="5512742" cy="2957512"/>
          </a:xfrm>
          <a:prstGeom prst="rect">
            <a:avLst/>
          </a:prstGeom>
        </p:spPr>
      </p:pic>
      <p:graphicFrame>
        <p:nvGraphicFramePr>
          <p:cNvPr id="5" name="Table 4"/>
          <p:cNvGraphicFramePr>
            <a:graphicFrameLocks noGrp="1"/>
          </p:cNvGraphicFramePr>
          <p:nvPr/>
        </p:nvGraphicFramePr>
        <p:xfrm>
          <a:off x="6369992" y="1101476"/>
          <a:ext cx="5250505" cy="2626068"/>
        </p:xfrm>
        <a:graphic>
          <a:graphicData uri="http://schemas.openxmlformats.org/drawingml/2006/table">
            <a:tbl>
              <a:tblPr firstRow="0" bandRow="0">
                <a:tableStyleId>{5C22544A-7EE6-4342-B048-85BDC9FD1C3A}</a:tableStyleId>
              </a:tblPr>
              <a:tblGrid>
                <a:gridCol w="1091951"/>
                <a:gridCol w="745777"/>
                <a:gridCol w="1194941"/>
                <a:gridCol w="1109960"/>
                <a:gridCol w="1107876"/>
              </a:tblGrid>
              <a:tr h="511075">
                <a:tc>
                  <a:txBody>
                    <a:bodyPr wrap="square"/>
                    <a:lstStyle/>
                    <a:p>
                      <a:r>
                        <a:rPr sz="1087" b="1">
                          <a:solidFill>
                            <a:srgbClr val="22252B"/>
                          </a:solidFill>
                          <a:latin typeface="Arial"/>
                        </a:rPr>
                        <a:t>2025</a:t>
                      </a:r>
                    </a:p>
                  </a:txBody>
                  <a:tcPr marL="76200" marR="76200" marT="57150" marB="57150">
                    <a:solidFill>
                      <a:srgbClr val="F5F3FB"/>
                    </a:solidFill>
                  </a:tcPr>
                </a:tc>
                <a:tc>
                  <a:txBody>
                    <a:bodyPr wrap="square"/>
                    <a:lstStyle/>
                    <a:p>
                      <a:pPr algn="r"/>
                      <a:r>
                        <a:rPr sz="1087" b="1">
                          <a:solidFill>
                            <a:srgbClr val="22252B"/>
                          </a:solidFill>
                          <a:latin typeface="Arial"/>
                        </a:rPr>
                        <a:t>Même prix</a:t>
                      </a:r>
                    </a:p>
                  </a:txBody>
                  <a:tcPr marL="76200" marR="76200" marT="57150" marB="57150">
                    <a:solidFill>
                      <a:srgbClr val="F5F3FB"/>
                    </a:solidFill>
                  </a:tcPr>
                </a:tc>
                <a:tc>
                  <a:txBody>
                    <a:bodyPr wrap="square"/>
                    <a:lstStyle/>
                    <a:p>
                      <a:pPr algn="r"/>
                      <a:r>
                        <a:rPr sz="1087" b="1">
                          <a:solidFill>
                            <a:srgbClr val="22252B"/>
                          </a:solidFill>
                          <a:latin typeface="Arial"/>
                        </a:rPr>
                        <a:t>France moins chère</a:t>
                      </a:r>
                    </a:p>
                  </a:txBody>
                  <a:tcPr marL="76200" marR="76200" marT="57150" marB="57150">
                    <a:solidFill>
                      <a:srgbClr val="F5F3FB"/>
                    </a:solidFill>
                  </a:tcPr>
                </a:tc>
                <a:tc>
                  <a:txBody>
                    <a:bodyPr wrap="square"/>
                    <a:lstStyle/>
                    <a:p>
                      <a:pPr algn="r"/>
                      <a:r>
                        <a:rPr sz="1087" b="1">
                          <a:solidFill>
                            <a:srgbClr val="22252B"/>
                          </a:solidFill>
                          <a:latin typeface="Arial"/>
                        </a:rPr>
                        <a:t>France plus chère</a:t>
                      </a:r>
                    </a:p>
                  </a:txBody>
                  <a:tcPr marL="76200" marR="76200" marT="57150" marB="57150">
                    <a:solidFill>
                      <a:srgbClr val="F5F3FB"/>
                    </a:solidFill>
                  </a:tcPr>
                </a:tc>
                <a:tc>
                  <a:txBody>
                    <a:bodyPr wrap="square"/>
                    <a:lstStyle/>
                    <a:p>
                      <a:pPr algn="r"/>
                      <a:r>
                        <a:rPr sz="1087" b="1">
                          <a:solidFill>
                            <a:srgbClr val="22252B"/>
                          </a:solidFill>
                          <a:latin typeface="Arial"/>
                        </a:rPr>
                        <a:t>Prix voisin moyen</a:t>
                      </a:r>
                    </a:p>
                  </a:txBody>
                  <a:tcPr marL="76200" marR="76200" marT="57150" marB="57150">
                    <a:solidFill>
                      <a:srgbClr val="F5F3FB"/>
                    </a:solidFill>
                  </a:tcPr>
                </a:tc>
              </a:tr>
              <a:tr h="319831">
                <a:tc>
                  <a:txBody>
                    <a:bodyPr wrap="square"/>
                    <a:lstStyle/>
                    <a:p>
                      <a:r>
                        <a:rPr sz="1087" b="0">
                          <a:solidFill>
                            <a:srgbClr val="22252B"/>
                          </a:solidFill>
                          <a:latin typeface="Arial"/>
                        </a:rPr>
                        <a:t>Allemagne</a:t>
                      </a:r>
                    </a:p>
                  </a:txBody>
                  <a:tcPr marL="76200" marR="76200" marT="57150" marB="57150">
                    <a:solidFill>
                      <a:srgbClr val="FFFFFF"/>
                    </a:solidFill>
                  </a:tcPr>
                </a:tc>
                <a:tc>
                  <a:txBody>
                    <a:bodyPr wrap="square"/>
                    <a:lstStyle/>
                    <a:p>
                      <a:pPr algn="r"/>
                      <a:r>
                        <a:rPr sz="1087" b="0">
                          <a:solidFill>
                            <a:srgbClr val="22252B"/>
                          </a:solidFill>
                          <a:latin typeface="Arial"/>
                        </a:rPr>
                        <a:t>11 %</a:t>
                      </a:r>
                    </a:p>
                  </a:txBody>
                  <a:tcPr marL="76200" marR="76200" marT="57150" marB="57150">
                    <a:solidFill>
                      <a:srgbClr val="FFFFFF"/>
                    </a:solidFill>
                  </a:tcPr>
                </a:tc>
                <a:tc>
                  <a:txBody>
                    <a:bodyPr wrap="square"/>
                    <a:lstStyle/>
                    <a:p>
                      <a:pPr algn="r"/>
                      <a:r>
                        <a:rPr sz="1087" b="0">
                          <a:solidFill>
                            <a:srgbClr val="22252B"/>
                          </a:solidFill>
                          <a:latin typeface="Arial"/>
                        </a:rPr>
                        <a:t>68 %</a:t>
                      </a:r>
                    </a:p>
                  </a:txBody>
                  <a:tcPr marL="76200" marR="76200" marT="57150" marB="57150">
                    <a:solidFill>
                      <a:srgbClr val="FFFFFF"/>
                    </a:solidFill>
                  </a:tcPr>
                </a:tc>
                <a:tc>
                  <a:txBody>
                    <a:bodyPr wrap="square"/>
                    <a:lstStyle/>
                    <a:p>
                      <a:pPr algn="r"/>
                      <a:r>
                        <a:rPr sz="1087" b="0">
                          <a:solidFill>
                            <a:srgbClr val="22252B"/>
                          </a:solidFill>
                          <a:latin typeface="Arial"/>
                        </a:rPr>
                        <a:t>21 %</a:t>
                      </a:r>
                    </a:p>
                  </a:txBody>
                  <a:tcPr marL="76200" marR="76200" marT="57150" marB="57150">
                    <a:solidFill>
                      <a:srgbClr val="FFFFFF"/>
                    </a:solidFill>
                  </a:tcPr>
                </a:tc>
                <a:tc>
                  <a:txBody>
                    <a:bodyPr wrap="square"/>
                    <a:lstStyle/>
                    <a:p>
                      <a:pPr algn="r"/>
                      <a:r>
                        <a:rPr sz="1087" b="0">
                          <a:solidFill>
                            <a:srgbClr val="22252B"/>
                          </a:solidFill>
                          <a:latin typeface="Arial"/>
                        </a:rPr>
                        <a:t>89 €</a:t>
                      </a:r>
                    </a:p>
                  </a:txBody>
                  <a:tcPr marL="76200" marR="76200" marT="57150" marB="57150">
                    <a:solidFill>
                      <a:srgbClr val="FFFFFF"/>
                    </a:solidFill>
                  </a:tcPr>
                </a:tc>
              </a:tr>
              <a:tr h="319831">
                <a:tc>
                  <a:txBody>
                    <a:bodyPr wrap="square"/>
                    <a:lstStyle/>
                    <a:p>
                      <a:r>
                        <a:rPr sz="1087" b="0">
                          <a:solidFill>
                            <a:srgbClr val="22252B"/>
                          </a:solidFill>
                          <a:latin typeface="Arial"/>
                        </a:rPr>
                        <a:t>Belgique</a:t>
                      </a:r>
                    </a:p>
                  </a:txBody>
                  <a:tcPr marL="76200" marR="76200" marT="57150" marB="57150">
                    <a:solidFill>
                      <a:srgbClr val="FFFFFF"/>
                    </a:solidFill>
                  </a:tcPr>
                </a:tc>
                <a:tc>
                  <a:txBody>
                    <a:bodyPr wrap="square"/>
                    <a:lstStyle/>
                    <a:p>
                      <a:pPr algn="r"/>
                      <a:r>
                        <a:rPr sz="1087" b="0">
                          <a:solidFill>
                            <a:srgbClr val="22252B"/>
                          </a:solidFill>
                          <a:latin typeface="Arial"/>
                        </a:rPr>
                        <a:t>11 %</a:t>
                      </a:r>
                    </a:p>
                  </a:txBody>
                  <a:tcPr marL="76200" marR="76200" marT="57150" marB="57150">
                    <a:solidFill>
                      <a:srgbClr val="FFFFFF"/>
                    </a:solidFill>
                  </a:tcPr>
                </a:tc>
                <a:tc>
                  <a:txBody>
                    <a:bodyPr wrap="square"/>
                    <a:lstStyle/>
                    <a:p>
                      <a:pPr algn="r"/>
                      <a:r>
                        <a:rPr sz="1087" b="0">
                          <a:solidFill>
                            <a:srgbClr val="22252B"/>
                          </a:solidFill>
                          <a:latin typeface="Arial"/>
                        </a:rPr>
                        <a:t>72 %</a:t>
                      </a:r>
                    </a:p>
                  </a:txBody>
                  <a:tcPr marL="76200" marR="76200" marT="57150" marB="57150">
                    <a:solidFill>
                      <a:srgbClr val="FFFFFF"/>
                    </a:solidFill>
                  </a:tcPr>
                </a:tc>
                <a:tc>
                  <a:txBody>
                    <a:bodyPr wrap="square"/>
                    <a:lstStyle/>
                    <a:p>
                      <a:pPr algn="r"/>
                      <a:r>
                        <a:rPr sz="1087" b="0">
                          <a:solidFill>
                            <a:srgbClr val="22252B"/>
                          </a:solidFill>
                          <a:latin typeface="Arial"/>
                        </a:rPr>
                        <a:t>17 %</a:t>
                      </a:r>
                    </a:p>
                  </a:txBody>
                  <a:tcPr marL="76200" marR="76200" marT="57150" marB="57150">
                    <a:solidFill>
                      <a:srgbClr val="FFFFFF"/>
                    </a:solidFill>
                  </a:tcPr>
                </a:tc>
                <a:tc>
                  <a:txBody>
                    <a:bodyPr wrap="square"/>
                    <a:lstStyle/>
                    <a:p>
                      <a:pPr algn="r"/>
                      <a:r>
                        <a:rPr sz="1087" b="0">
                          <a:solidFill>
                            <a:srgbClr val="22252B"/>
                          </a:solidFill>
                          <a:latin typeface="Arial"/>
                        </a:rPr>
                        <a:t>83 €</a:t>
                      </a:r>
                    </a:p>
                  </a:txBody>
                  <a:tcPr marL="76200" marR="76200" marT="57150" marB="57150">
                    <a:solidFill>
                      <a:srgbClr val="FFFFFF"/>
                    </a:solidFill>
                  </a:tcPr>
                </a:tc>
              </a:tr>
              <a:tr h="319831">
                <a:tc>
                  <a:txBody>
                    <a:bodyPr wrap="square"/>
                    <a:lstStyle/>
                    <a:p>
                      <a:r>
                        <a:rPr sz="1087" b="0">
                          <a:solidFill>
                            <a:srgbClr val="22252B"/>
                          </a:solidFill>
                          <a:latin typeface="Arial"/>
                        </a:rPr>
                        <a:t>Espagne</a:t>
                      </a:r>
                    </a:p>
                  </a:txBody>
                  <a:tcPr marL="76200" marR="76200" marT="57150" marB="57150">
                    <a:solidFill>
                      <a:srgbClr val="FFFFFF"/>
                    </a:solidFill>
                  </a:tcPr>
                </a:tc>
                <a:tc>
                  <a:txBody>
                    <a:bodyPr wrap="square"/>
                    <a:lstStyle/>
                    <a:p>
                      <a:pPr algn="r"/>
                      <a:r>
                        <a:rPr sz="1087" b="0">
                          <a:solidFill>
                            <a:srgbClr val="22252B"/>
                          </a:solidFill>
                          <a:latin typeface="Arial"/>
                        </a:rPr>
                        <a:t>38 %</a:t>
                      </a:r>
                    </a:p>
                  </a:txBody>
                  <a:tcPr marL="76200" marR="76200" marT="57150" marB="57150">
                    <a:solidFill>
                      <a:srgbClr val="FFFFFF"/>
                    </a:solidFill>
                  </a:tcPr>
                </a:tc>
                <a:tc>
                  <a:txBody>
                    <a:bodyPr wrap="square"/>
                    <a:lstStyle/>
                    <a:p>
                      <a:pPr algn="r"/>
                      <a:r>
                        <a:rPr sz="1087" b="0">
                          <a:solidFill>
                            <a:srgbClr val="22252B"/>
                          </a:solidFill>
                          <a:latin typeface="Arial"/>
                        </a:rPr>
                        <a:t>34 %</a:t>
                      </a:r>
                    </a:p>
                  </a:txBody>
                  <a:tcPr marL="76200" marR="76200" marT="57150" marB="57150">
                    <a:solidFill>
                      <a:srgbClr val="FFFFFF"/>
                    </a:solidFill>
                  </a:tcPr>
                </a:tc>
                <a:tc>
                  <a:txBody>
                    <a:bodyPr wrap="square"/>
                    <a:lstStyle/>
                    <a:p>
                      <a:pPr algn="r"/>
                      <a:r>
                        <a:rPr sz="1087" b="0">
                          <a:solidFill>
                            <a:srgbClr val="22252B"/>
                          </a:solidFill>
                          <a:latin typeface="Arial"/>
                        </a:rPr>
                        <a:t>28 %</a:t>
                      </a:r>
                    </a:p>
                  </a:txBody>
                  <a:tcPr marL="76200" marR="76200" marT="57150" marB="57150">
                    <a:solidFill>
                      <a:srgbClr val="FFFFFF"/>
                    </a:solidFill>
                  </a:tcPr>
                </a:tc>
                <a:tc>
                  <a:txBody>
                    <a:bodyPr wrap="square"/>
                    <a:lstStyle/>
                    <a:p>
                      <a:pPr algn="r"/>
                      <a:r>
                        <a:rPr sz="1087" b="0">
                          <a:solidFill>
                            <a:srgbClr val="22252B"/>
                          </a:solidFill>
                          <a:latin typeface="Arial"/>
                        </a:rPr>
                        <a:t>65 €</a:t>
                      </a:r>
                    </a:p>
                  </a:txBody>
                  <a:tcPr marL="76200" marR="76200" marT="57150" marB="57150">
                    <a:solidFill>
                      <a:srgbClr val="FFFFFF"/>
                    </a:solidFill>
                  </a:tcPr>
                </a:tc>
              </a:tr>
              <a:tr h="319831">
                <a:tc>
                  <a:txBody>
                    <a:bodyPr wrap="square"/>
                    <a:lstStyle/>
                    <a:p>
                      <a:r>
                        <a:rPr sz="1087" b="0">
                          <a:solidFill>
                            <a:srgbClr val="22252B"/>
                          </a:solidFill>
                          <a:latin typeface="Arial"/>
                        </a:rPr>
                        <a:t>Italie Nord</a:t>
                      </a:r>
                    </a:p>
                  </a:txBody>
                  <a:tcPr marL="76200" marR="76200" marT="57150" marB="57150">
                    <a:solidFill>
                      <a:srgbClr val="FFFFFF"/>
                    </a:solidFill>
                  </a:tcPr>
                </a:tc>
                <a:tc>
                  <a:txBody>
                    <a:bodyPr wrap="square"/>
                    <a:lstStyle/>
                    <a:p>
                      <a:pPr algn="r"/>
                      <a:r>
                        <a:rPr sz="1087" b="0">
                          <a:solidFill>
                            <a:srgbClr val="22252B"/>
                          </a:solidFill>
                          <a:latin typeface="Arial"/>
                        </a:rPr>
                        <a:t>4 %</a:t>
                      </a:r>
                    </a:p>
                  </a:txBody>
                  <a:tcPr marL="76200" marR="76200" marT="57150" marB="57150">
                    <a:solidFill>
                      <a:srgbClr val="FFFFFF"/>
                    </a:solidFill>
                  </a:tcPr>
                </a:tc>
                <a:tc>
                  <a:txBody>
                    <a:bodyPr wrap="square"/>
                    <a:lstStyle/>
                    <a:p>
                      <a:pPr algn="r"/>
                      <a:r>
                        <a:rPr sz="1087" b="0">
                          <a:solidFill>
                            <a:srgbClr val="22252B"/>
                          </a:solidFill>
                          <a:latin typeface="Arial"/>
                        </a:rPr>
                        <a:t>96 %</a:t>
                      </a:r>
                    </a:p>
                  </a:txBody>
                  <a:tcPr marL="76200" marR="76200" marT="57150" marB="57150">
                    <a:solidFill>
                      <a:srgbClr val="FFFFFF"/>
                    </a:solidFill>
                  </a:tcPr>
                </a:tc>
                <a:tc>
                  <a:txBody>
                    <a:bodyPr wrap="square"/>
                    <a:lstStyle/>
                    <a:p>
                      <a:pPr algn="r"/>
                      <a:r>
                        <a:rPr sz="1087" b="0">
                          <a:solidFill>
                            <a:srgbClr val="22252B"/>
                          </a:solidFill>
                          <a:latin typeface="Arial"/>
                        </a:rPr>
                        <a:t>0 %</a:t>
                      </a:r>
                    </a:p>
                  </a:txBody>
                  <a:tcPr marL="76200" marR="76200" marT="57150" marB="57150">
                    <a:solidFill>
                      <a:srgbClr val="FFFFFF"/>
                    </a:solidFill>
                  </a:tcPr>
                </a:tc>
                <a:tc>
                  <a:txBody>
                    <a:bodyPr wrap="square"/>
                    <a:lstStyle/>
                    <a:p>
                      <a:pPr algn="r"/>
                      <a:r>
                        <a:rPr sz="1087" b="0">
                          <a:solidFill>
                            <a:srgbClr val="22252B"/>
                          </a:solidFill>
                          <a:latin typeface="Arial"/>
                        </a:rPr>
                        <a:t>116 €</a:t>
                      </a:r>
                    </a:p>
                  </a:txBody>
                  <a:tcPr marL="76200" marR="76200" marT="57150" marB="57150">
                    <a:solidFill>
                      <a:srgbClr val="FFFFFF"/>
                    </a:solidFill>
                  </a:tcPr>
                </a:tc>
              </a:tr>
              <a:tr h="319831">
                <a:tc>
                  <a:txBody>
                    <a:bodyPr wrap="square"/>
                    <a:lstStyle/>
                    <a:p>
                      <a:r>
                        <a:rPr sz="1087" b="0">
                          <a:solidFill>
                            <a:srgbClr val="22252B"/>
                          </a:solidFill>
                          <a:latin typeface="Arial"/>
                        </a:rPr>
                        <a:t>Suisse</a:t>
                      </a:r>
                    </a:p>
                  </a:txBody>
                  <a:tcPr marL="76200" marR="76200" marT="57150" marB="57150">
                    <a:solidFill>
                      <a:srgbClr val="FFFFFF"/>
                    </a:solidFill>
                  </a:tcPr>
                </a:tc>
                <a:tc>
                  <a:txBody>
                    <a:bodyPr wrap="square"/>
                    <a:lstStyle/>
                    <a:p>
                      <a:pPr algn="r"/>
                      <a:r>
                        <a:rPr sz="1087" b="0">
                          <a:solidFill>
                            <a:srgbClr val="22252B"/>
                          </a:solidFill>
                          <a:latin typeface="Arial"/>
                        </a:rPr>
                        <a:t>0 %</a:t>
                      </a:r>
                    </a:p>
                  </a:txBody>
                  <a:tcPr marL="76200" marR="76200" marT="57150" marB="57150">
                    <a:solidFill>
                      <a:srgbClr val="FFFFFF"/>
                    </a:solidFill>
                  </a:tcPr>
                </a:tc>
                <a:tc>
                  <a:txBody>
                    <a:bodyPr wrap="square"/>
                    <a:lstStyle/>
                    <a:p>
                      <a:pPr algn="r"/>
                      <a:r>
                        <a:rPr sz="1087" b="0">
                          <a:solidFill>
                            <a:srgbClr val="22252B"/>
                          </a:solidFill>
                          <a:latin typeface="Arial"/>
                        </a:rPr>
                        <a:t>91 %</a:t>
                      </a:r>
                    </a:p>
                  </a:txBody>
                  <a:tcPr marL="76200" marR="76200" marT="57150" marB="57150">
                    <a:solidFill>
                      <a:srgbClr val="FFFFFF"/>
                    </a:solidFill>
                  </a:tcPr>
                </a:tc>
                <a:tc>
                  <a:txBody>
                    <a:bodyPr wrap="square"/>
                    <a:lstStyle/>
                    <a:p>
                      <a:pPr algn="r"/>
                      <a:r>
                        <a:rPr sz="1087" b="0">
                          <a:solidFill>
                            <a:srgbClr val="22252B"/>
                          </a:solidFill>
                          <a:latin typeface="Arial"/>
                        </a:rPr>
                        <a:t>9 %</a:t>
                      </a:r>
                    </a:p>
                  </a:txBody>
                  <a:tcPr marL="76200" marR="76200" marT="57150" marB="57150">
                    <a:solidFill>
                      <a:srgbClr val="FFFFFF"/>
                    </a:solidFill>
                  </a:tcPr>
                </a:tc>
                <a:tc>
                  <a:txBody>
                    <a:bodyPr wrap="square"/>
                    <a:lstStyle/>
                    <a:p>
                      <a:pPr algn="r"/>
                      <a:r>
                        <a:rPr sz="1087" b="0">
                          <a:solidFill>
                            <a:srgbClr val="22252B"/>
                          </a:solidFill>
                          <a:latin typeface="Arial"/>
                        </a:rPr>
                        <a:t>102 €</a:t>
                      </a:r>
                    </a:p>
                  </a:txBody>
                  <a:tcPr marL="76200" marR="76200" marT="57150" marB="57150">
                    <a:solidFill>
                      <a:srgbClr val="FFFFFF"/>
                    </a:solidFill>
                  </a:tcPr>
                </a:tc>
              </a:tr>
              <a:tr h="515838">
                <a:tc>
                  <a:txBody>
                    <a:bodyPr wrap="square"/>
                    <a:lstStyle/>
                    <a:p>
                      <a:r>
                        <a:rPr sz="1087" b="0">
                          <a:solidFill>
                            <a:srgbClr val="22252B"/>
                          </a:solidFill>
                          <a:latin typeface="Arial"/>
                        </a:rPr>
                        <a:t>Grande-Bretagne</a:t>
                      </a:r>
                    </a:p>
                  </a:txBody>
                  <a:tcPr marL="76200" marR="76200" marT="57150" marB="57150">
                    <a:solidFill>
                      <a:srgbClr val="FFFFFF"/>
                    </a:solidFill>
                  </a:tcPr>
                </a:tc>
                <a:tc>
                  <a:txBody>
                    <a:bodyPr wrap="square"/>
                    <a:lstStyle/>
                    <a:p>
                      <a:pPr algn="r"/>
                      <a:r>
                        <a:rPr sz="1087" b="0">
                          <a:solidFill>
                            <a:srgbClr val="22252B"/>
                          </a:solidFill>
                          <a:latin typeface="Arial"/>
                        </a:rPr>
                        <a:t>0 %</a:t>
                      </a:r>
                    </a:p>
                  </a:txBody>
                  <a:tcPr marL="76200" marR="76200" marT="57150" marB="57150">
                    <a:solidFill>
                      <a:srgbClr val="FFFFFF"/>
                    </a:solidFill>
                  </a:tcPr>
                </a:tc>
                <a:tc>
                  <a:txBody>
                    <a:bodyPr wrap="square"/>
                    <a:lstStyle/>
                    <a:p>
                      <a:pPr algn="r"/>
                      <a:r>
                        <a:rPr sz="1087" b="0">
                          <a:solidFill>
                            <a:srgbClr val="22252B"/>
                          </a:solidFill>
                          <a:latin typeface="Arial"/>
                        </a:rPr>
                        <a:t>80 %</a:t>
                      </a:r>
                    </a:p>
                  </a:txBody>
                  <a:tcPr marL="76200" marR="76200" marT="57150" marB="57150">
                    <a:solidFill>
                      <a:srgbClr val="FFFFFF"/>
                    </a:solidFill>
                  </a:tcPr>
                </a:tc>
                <a:tc>
                  <a:txBody>
                    <a:bodyPr wrap="square"/>
                    <a:lstStyle/>
                    <a:p>
                      <a:pPr algn="r"/>
                      <a:r>
                        <a:rPr sz="1087" b="0">
                          <a:solidFill>
                            <a:srgbClr val="22252B"/>
                          </a:solidFill>
                          <a:latin typeface="Arial"/>
                        </a:rPr>
                        <a:t>20 %</a:t>
                      </a:r>
                    </a:p>
                  </a:txBody>
                  <a:tcPr marL="76200" marR="76200" marT="57150" marB="57150">
                    <a:solidFill>
                      <a:srgbClr val="FFFFFF"/>
                    </a:solidFill>
                  </a:tcPr>
                </a:tc>
                <a:tc>
                  <a:txBody>
                    <a:bodyPr wrap="square"/>
                    <a:lstStyle/>
                    <a:p>
                      <a:pPr algn="r"/>
                      <a:r>
                        <a:rPr sz="1087" b="0">
                          <a:solidFill>
                            <a:srgbClr val="22252B"/>
                          </a:solidFill>
                          <a:latin typeface="Arial"/>
                        </a:rPr>
                        <a:t>94 €</a:t>
                      </a:r>
                    </a:p>
                  </a:txBody>
                  <a:tcPr marL="76200" marR="76200" marT="57150" marB="57150">
                    <a:solidFill>
                      <a:srgbClr val="FFFFFF"/>
                    </a:solidFill>
                  </a:tcPr>
                </a:tc>
              </a:tr>
            </a:tbl>
          </a:graphicData>
        </a:graphic>
      </p:graphicFrame>
      <p:sp>
        <p:nvSpPr>
          <p:cNvPr id="6" name="TextBox 5"/>
          <p:cNvSpPr txBox="1"/>
          <p:nvPr/>
        </p:nvSpPr>
        <p:spPr>
          <a:xfrm>
            <a:off x="6369992" y="3732311"/>
            <a:ext cx="5250507" cy="1238250"/>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Prix français moyen 2025 : 61 €/MWh.</a:t>
            </a:r>
          </a:p>
          <a:p>
            <a:pPr marL="152400" indent="-133350">
              <a:spcAft>
                <a:spcPts val="500"/>
              </a:spcAft>
              <a:buChar char="•"/>
            </a:pPr>
            <a:r>
              <a:rPr sz="1162" b="0">
                <a:solidFill>
                  <a:srgbClr val="22252B"/>
                </a:solidFill>
                <a:latin typeface="Arial"/>
              </a:rPr>
              <a:t>L’Espagne est la seule voisine encore souvent au même prix : France et péninsule Ibérique forment un même bloc exportateur, coupé du reste.</a:t>
            </a:r>
          </a:p>
          <a:p>
            <a:pPr marL="152400" indent="-133350">
              <a:spcAft>
                <a:spcPts val="500"/>
              </a:spcAft>
              <a:buChar char="•"/>
            </a:pPr>
            <a:r>
              <a:rPr sz="1162" b="0">
                <a:solidFill>
                  <a:srgbClr val="22252B"/>
                </a:solidFill>
                <a:latin typeface="Arial"/>
              </a:rPr>
              <a:t>CRE (surveillance 2025) : France égale à l’Espagne « environ 33 % du temps, 10 % pour la Belgique et l’Allemagne et 4 % pour l’Italie ».</a:t>
            </a:r>
          </a:p>
        </p:txBody>
      </p:sp>
      <p:sp>
        <p:nvSpPr>
          <p:cNvPr id="7" name="TextBox 6"/>
          <p:cNvSpPr txBox="1"/>
          <p:nvPr/>
        </p:nvSpPr>
        <p:spPr>
          <a:xfrm>
            <a:off x="6369992" y="5027711"/>
            <a:ext cx="5250507" cy="198834"/>
          </a:xfrm>
          <a:prstGeom prst="rect">
            <a:avLst/>
          </a:prstGeom>
          <a:noFill/>
        </p:spPr>
        <p:txBody>
          <a:bodyPr wrap="square" lIns="0" rIns="0" tIns="0" bIns="0" anchor="t">
            <a:spAutoFit/>
          </a:bodyPr>
          <a:lstStyle/>
          <a:p>
            <a:r>
              <a:rPr sz="937" b="0">
                <a:solidFill>
                  <a:srgbClr val="8A8F98"/>
                </a:solidFill>
                <a:latin typeface="Arial"/>
              </a:rPr>
              <a:t>Sources : ENTSO-E, Elexon ; CRE, rapport de surveillance 2025 ; calcul PowerKlock.</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ÉTATS DE COUPLAGE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2025 : combien d’heures, à quel prix, dans chaque état</a:t>
            </a:r>
          </a:p>
        </p:txBody>
      </p:sp>
      <p:graphicFrame>
        <p:nvGraphicFramePr>
          <p:cNvPr id="4" name="Table 3"/>
          <p:cNvGraphicFramePr>
            <a:graphicFrameLocks noGrp="1"/>
          </p:cNvGraphicFramePr>
          <p:nvPr/>
        </p:nvGraphicFramePr>
        <p:xfrm>
          <a:off x="571500" y="1101476"/>
          <a:ext cx="11048996" cy="1926875"/>
        </p:xfrm>
        <a:graphic>
          <a:graphicData uri="http://schemas.openxmlformats.org/drawingml/2006/table">
            <a:tbl>
              <a:tblPr firstRow="0" bandRow="0">
                <a:tableStyleId>{5C22544A-7EE6-4342-B048-85BDC9FD1C3A}</a:tableStyleId>
              </a:tblPr>
              <a:tblGrid>
                <a:gridCol w="3055590"/>
                <a:gridCol w="753219"/>
                <a:gridCol w="1001166"/>
                <a:gridCol w="1409253"/>
                <a:gridCol w="1018877"/>
                <a:gridCol w="992385"/>
                <a:gridCol w="877192"/>
                <a:gridCol w="1941314"/>
              </a:tblGrid>
              <a:tr h="360015">
                <a:tc>
                  <a:txBody>
                    <a:bodyPr wrap="square"/>
                    <a:lstStyle/>
                    <a:p>
                      <a:r>
                        <a:rPr sz="1125" b="1">
                          <a:solidFill>
                            <a:srgbClr val="22252B"/>
                          </a:solidFill>
                          <a:latin typeface="Arial"/>
                        </a:rPr>
                        <a:t>État (2025)</a:t>
                      </a:r>
                    </a:p>
                  </a:txBody>
                  <a:tcPr marL="95250" marR="95250" marT="76200" marB="76200">
                    <a:solidFill>
                      <a:srgbClr val="F5F3FB"/>
                    </a:solidFill>
                  </a:tcPr>
                </a:tc>
                <a:tc>
                  <a:txBody>
                    <a:bodyPr wrap="square"/>
                    <a:lstStyle/>
                    <a:p>
                      <a:pPr algn="r"/>
                      <a:r>
                        <a:rPr sz="1125" b="1">
                          <a:solidFill>
                            <a:srgbClr val="22252B"/>
                          </a:solidFill>
                          <a:latin typeface="Arial"/>
                        </a:rPr>
                        <a:t>Heures</a:t>
                      </a:r>
                    </a:p>
                  </a:txBody>
                  <a:tcPr marL="95250" marR="95250" marT="76200" marB="76200">
                    <a:solidFill>
                      <a:srgbClr val="F5F3FB"/>
                    </a:solidFill>
                  </a:tcPr>
                </a:tc>
                <a:tc>
                  <a:txBody>
                    <a:bodyPr wrap="square"/>
                    <a:lstStyle/>
                    <a:p>
                      <a:pPr algn="r"/>
                      <a:r>
                        <a:rPr sz="1125" b="1">
                          <a:solidFill>
                            <a:srgbClr val="22252B"/>
                          </a:solidFill>
                          <a:latin typeface="Arial"/>
                        </a:rPr>
                        <a:t>Export net</a:t>
                      </a:r>
                    </a:p>
                  </a:txBody>
                  <a:tcPr marL="95250" marR="95250" marT="76200" marB="76200">
                    <a:solidFill>
                      <a:srgbClr val="F5F3FB"/>
                    </a:solidFill>
                  </a:tcPr>
                </a:tc>
                <a:tc>
                  <a:txBody>
                    <a:bodyPr wrap="square"/>
                    <a:lstStyle/>
                    <a:p>
                      <a:pPr algn="r"/>
                      <a:r>
                        <a:rPr sz="1125" b="1">
                          <a:solidFill>
                            <a:srgbClr val="22252B"/>
                          </a:solidFill>
                          <a:latin typeface="Arial"/>
                        </a:rPr>
                        <a:t>Prix France réel</a:t>
                      </a:r>
                    </a:p>
                  </a:txBody>
                  <a:tcPr marL="95250" marR="95250" marT="76200" marB="76200">
                    <a:solidFill>
                      <a:srgbClr val="F5F3FB"/>
                    </a:solidFill>
                  </a:tcPr>
                </a:tc>
                <a:tc>
                  <a:txBody>
                    <a:bodyPr wrap="square"/>
                    <a:lstStyle/>
                    <a:p>
                      <a:pPr algn="r"/>
                      <a:r>
                        <a:rPr sz="1125" b="1">
                          <a:solidFill>
                            <a:srgbClr val="22252B"/>
                          </a:solidFill>
                          <a:latin typeface="Arial"/>
                        </a:rPr>
                        <a:t>Allemagne</a:t>
                      </a:r>
                    </a:p>
                  </a:txBody>
                  <a:tcPr marL="95250" marR="95250" marT="76200" marB="76200">
                    <a:solidFill>
                      <a:srgbClr val="F5F3FB"/>
                    </a:solidFill>
                  </a:tcPr>
                </a:tc>
                <a:tc>
                  <a:txBody>
                    <a:bodyPr wrap="square"/>
                    <a:lstStyle/>
                    <a:p>
                      <a:pPr algn="r"/>
                      <a:r>
                        <a:rPr sz="1125" b="1">
                          <a:solidFill>
                            <a:srgbClr val="22252B"/>
                          </a:solidFill>
                          <a:latin typeface="Arial"/>
                        </a:rPr>
                        <a:t>Italie Nord</a:t>
                      </a:r>
                    </a:p>
                  </a:txBody>
                  <a:tcPr marL="95250" marR="95250" marT="76200" marB="76200">
                    <a:solidFill>
                      <a:srgbClr val="F5F3FB"/>
                    </a:solidFill>
                  </a:tcPr>
                </a:tc>
                <a:tc>
                  <a:txBody>
                    <a:bodyPr wrap="square"/>
                    <a:lstStyle/>
                    <a:p>
                      <a:pPr algn="r"/>
                      <a:r>
                        <a:rPr sz="1125" b="1">
                          <a:solidFill>
                            <a:srgbClr val="22252B"/>
                          </a:solidFill>
                          <a:latin typeface="Arial"/>
                        </a:rPr>
                        <a:t>Espagne</a:t>
                      </a:r>
                    </a:p>
                  </a:txBody>
                  <a:tcPr marL="95250" marR="95250" marT="76200" marB="76200">
                    <a:solidFill>
                      <a:srgbClr val="F5F3FB"/>
                    </a:solidFill>
                  </a:tcPr>
                </a:tc>
                <a:tc>
                  <a:txBody>
                    <a:bodyPr wrap="square"/>
                    <a:lstStyle/>
                    <a:p>
                      <a:pPr algn="r"/>
                      <a:r>
                        <a:rPr sz="1125" b="1">
                          <a:solidFill>
                            <a:srgbClr val="22252B"/>
                          </a:solidFill>
                          <a:latin typeface="Arial"/>
                        </a:rPr>
                        <a:t>France isolée (modèle)</a:t>
                      </a:r>
                    </a:p>
                  </a:txBody>
                  <a:tcPr marL="95250" marR="95250" marT="76200" marB="76200">
                    <a:solidFill>
                      <a:srgbClr val="F5F3FB"/>
                    </a:solidFill>
                  </a:tcPr>
                </a:tc>
              </a:tr>
              <a:tr h="391715">
                <a:tc>
                  <a:txBody>
                    <a:bodyPr wrap="square"/>
                    <a:lstStyle/>
                    <a:p>
                      <a:r>
                        <a:rPr sz="1275" b="0">
                          <a:solidFill>
                            <a:srgbClr val="22252B"/>
                          </a:solidFill>
                          <a:latin typeface="Arial"/>
                        </a:rPr>
                        <a:t>Couplée avec Core</a:t>
                      </a:r>
                    </a:p>
                  </a:txBody>
                  <a:tcPr marL="95250" marR="95250" marT="76200" marB="76200">
                    <a:solidFill>
                      <a:srgbClr val="FFFFFF"/>
                    </a:solidFill>
                  </a:tcPr>
                </a:tc>
                <a:tc>
                  <a:txBody>
                    <a:bodyPr wrap="square"/>
                    <a:lstStyle/>
                    <a:p>
                      <a:pPr algn="r"/>
                      <a:r>
                        <a:rPr sz="1275" b="0">
                          <a:solidFill>
                            <a:srgbClr val="22252B"/>
                          </a:solidFill>
                          <a:latin typeface="Arial"/>
                        </a:rPr>
                        <a:t>864</a:t>
                      </a:r>
                    </a:p>
                  </a:txBody>
                  <a:tcPr marL="95250" marR="95250" marT="76200" marB="76200">
                    <a:solidFill>
                      <a:srgbClr val="FFFFFF"/>
                    </a:solidFill>
                  </a:tcPr>
                </a:tc>
                <a:tc>
                  <a:txBody>
                    <a:bodyPr wrap="square"/>
                    <a:lstStyle/>
                    <a:p>
                      <a:pPr algn="r"/>
                      <a:r>
                        <a:rPr sz="1275" b="0">
                          <a:solidFill>
                            <a:srgbClr val="22252B"/>
                          </a:solidFill>
                          <a:latin typeface="Arial"/>
                        </a:rPr>
                        <a:t>7,6 GW</a:t>
                      </a:r>
                    </a:p>
                  </a:txBody>
                  <a:tcPr marL="95250" marR="95250" marT="76200" marB="76200">
                    <a:solidFill>
                      <a:srgbClr val="FFFFFF"/>
                    </a:solidFill>
                  </a:tcPr>
                </a:tc>
                <a:tc>
                  <a:txBody>
                    <a:bodyPr wrap="square"/>
                    <a:lstStyle/>
                    <a:p>
                      <a:pPr algn="r"/>
                      <a:r>
                        <a:rPr sz="1275" b="1">
                          <a:solidFill>
                            <a:srgbClr val="22252B"/>
                          </a:solidFill>
                          <a:latin typeface="Arial"/>
                        </a:rPr>
                        <a:t>75 €</a:t>
                      </a:r>
                    </a:p>
                  </a:txBody>
                  <a:tcPr marL="95250" marR="95250" marT="76200" marB="76200">
                    <a:solidFill>
                      <a:srgbClr val="FFFFFF"/>
                    </a:solidFill>
                  </a:tcPr>
                </a:tc>
                <a:tc>
                  <a:txBody>
                    <a:bodyPr wrap="square"/>
                    <a:lstStyle/>
                    <a:p>
                      <a:pPr algn="r"/>
                      <a:r>
                        <a:rPr sz="1275" b="0">
                          <a:solidFill>
                            <a:srgbClr val="22252B"/>
                          </a:solidFill>
                          <a:latin typeface="Arial"/>
                        </a:rPr>
                        <a:t>75 €</a:t>
                      </a:r>
                    </a:p>
                  </a:txBody>
                  <a:tcPr marL="95250" marR="95250" marT="76200" marB="76200">
                    <a:solidFill>
                      <a:srgbClr val="FFFFFF"/>
                    </a:solidFill>
                  </a:tcPr>
                </a:tc>
                <a:tc>
                  <a:txBody>
                    <a:bodyPr wrap="square"/>
                    <a:lstStyle/>
                    <a:p>
                      <a:pPr algn="r"/>
                      <a:r>
                        <a:rPr sz="1275" b="0">
                          <a:solidFill>
                            <a:srgbClr val="22252B"/>
                          </a:solidFill>
                          <a:latin typeface="Arial"/>
                        </a:rPr>
                        <a:t>106 €</a:t>
                      </a:r>
                    </a:p>
                  </a:txBody>
                  <a:tcPr marL="95250" marR="95250" marT="76200" marB="76200">
                    <a:solidFill>
                      <a:srgbClr val="FFFFFF"/>
                    </a:solidFill>
                  </a:tcPr>
                </a:tc>
                <a:tc>
                  <a:txBody>
                    <a:bodyPr wrap="square"/>
                    <a:lstStyle/>
                    <a:p>
                      <a:pPr algn="r"/>
                      <a:r>
                        <a:rPr sz="1275" b="0">
                          <a:solidFill>
                            <a:srgbClr val="22252B"/>
                          </a:solidFill>
                          <a:latin typeface="Arial"/>
                        </a:rPr>
                        <a:t>70 €</a:t>
                      </a:r>
                    </a:p>
                  </a:txBody>
                  <a:tcPr marL="95250" marR="95250" marT="76200" marB="76200">
                    <a:solidFill>
                      <a:srgbClr val="FFFFFF"/>
                    </a:solidFill>
                  </a:tcPr>
                </a:tc>
                <a:tc>
                  <a:txBody>
                    <a:bodyPr wrap="square"/>
                    <a:lstStyle/>
                    <a:p>
                      <a:pPr algn="r"/>
                      <a:r>
                        <a:rPr sz="1275" b="0">
                          <a:solidFill>
                            <a:srgbClr val="22252B"/>
                          </a:solidFill>
                          <a:latin typeface="Arial"/>
                        </a:rPr>
                        <a:t>43 €</a:t>
                      </a:r>
                    </a:p>
                  </a:txBody>
                  <a:tcPr marL="95250" marR="95250" marT="76200" marB="76200">
                    <a:solidFill>
                      <a:srgbClr val="FFFFFF"/>
                    </a:solidFill>
                  </a:tcPr>
                </a:tc>
              </a:tr>
              <a:tr h="391715">
                <a:tc>
                  <a:txBody>
                    <a:bodyPr wrap="square"/>
                    <a:lstStyle/>
                    <a:p>
                      <a:r>
                        <a:rPr sz="1275" b="0">
                          <a:solidFill>
                            <a:srgbClr val="22252B"/>
                          </a:solidFill>
                          <a:latin typeface="Arial"/>
                        </a:rPr>
                        <a:t>Couplée avec une partie (Espagne)</a:t>
                      </a:r>
                    </a:p>
                  </a:txBody>
                  <a:tcPr marL="95250" marR="95250" marT="76200" marB="76200">
                    <a:solidFill>
                      <a:srgbClr val="FFFFFF"/>
                    </a:solidFill>
                  </a:tcPr>
                </a:tc>
                <a:tc>
                  <a:txBody>
                    <a:bodyPr wrap="square"/>
                    <a:lstStyle/>
                    <a:p>
                      <a:pPr algn="r"/>
                      <a:r>
                        <a:rPr sz="1275" b="0">
                          <a:solidFill>
                            <a:srgbClr val="22252B"/>
                          </a:solidFill>
                          <a:latin typeface="Arial"/>
                        </a:rPr>
                        <a:t>3 257</a:t>
                      </a:r>
                    </a:p>
                  </a:txBody>
                  <a:tcPr marL="95250" marR="95250" marT="76200" marB="76200">
                    <a:solidFill>
                      <a:srgbClr val="FFFFFF"/>
                    </a:solidFill>
                  </a:tcPr>
                </a:tc>
                <a:tc>
                  <a:txBody>
                    <a:bodyPr wrap="square"/>
                    <a:lstStyle/>
                    <a:p>
                      <a:pPr algn="r"/>
                      <a:r>
                        <a:rPr sz="1275" b="0">
                          <a:solidFill>
                            <a:srgbClr val="22252B"/>
                          </a:solidFill>
                          <a:latin typeface="Arial"/>
                        </a:rPr>
                        <a:t>10,8 GW</a:t>
                      </a:r>
                    </a:p>
                  </a:txBody>
                  <a:tcPr marL="95250" marR="95250" marT="76200" marB="76200">
                    <a:solidFill>
                      <a:srgbClr val="FFFFFF"/>
                    </a:solidFill>
                  </a:tcPr>
                </a:tc>
                <a:tc>
                  <a:txBody>
                    <a:bodyPr wrap="square"/>
                    <a:lstStyle/>
                    <a:p>
                      <a:pPr algn="r"/>
                      <a:r>
                        <a:rPr sz="1275" b="1">
                          <a:solidFill>
                            <a:srgbClr val="22252B"/>
                          </a:solidFill>
                          <a:latin typeface="Arial"/>
                        </a:rPr>
                        <a:t>65 €</a:t>
                      </a:r>
                    </a:p>
                  </a:txBody>
                  <a:tcPr marL="95250" marR="95250" marT="76200" marB="76200">
                    <a:solidFill>
                      <a:srgbClr val="FFFFFF"/>
                    </a:solidFill>
                  </a:tcPr>
                </a:tc>
                <a:tc>
                  <a:txBody>
                    <a:bodyPr wrap="square"/>
                    <a:lstStyle/>
                    <a:p>
                      <a:pPr algn="r"/>
                      <a:r>
                        <a:rPr sz="1275" b="0">
                          <a:solidFill>
                            <a:srgbClr val="22252B"/>
                          </a:solidFill>
                          <a:latin typeface="Arial"/>
                        </a:rPr>
                        <a:t>97 €</a:t>
                      </a:r>
                    </a:p>
                  </a:txBody>
                  <a:tcPr marL="95250" marR="95250" marT="76200" marB="76200">
                    <a:solidFill>
                      <a:srgbClr val="FFFFFF"/>
                    </a:solidFill>
                  </a:tcPr>
                </a:tc>
                <a:tc>
                  <a:txBody>
                    <a:bodyPr wrap="square"/>
                    <a:lstStyle/>
                    <a:p>
                      <a:pPr algn="r"/>
                      <a:r>
                        <a:rPr sz="1275" b="0">
                          <a:solidFill>
                            <a:srgbClr val="22252B"/>
                          </a:solidFill>
                          <a:latin typeface="Arial"/>
                        </a:rPr>
                        <a:t>118 €</a:t>
                      </a:r>
                    </a:p>
                  </a:txBody>
                  <a:tcPr marL="95250" marR="95250" marT="76200" marB="76200">
                    <a:solidFill>
                      <a:srgbClr val="FFFFFF"/>
                    </a:solidFill>
                  </a:tcPr>
                </a:tc>
                <a:tc>
                  <a:txBody>
                    <a:bodyPr wrap="square"/>
                    <a:lstStyle/>
                    <a:p>
                      <a:pPr algn="r"/>
                      <a:r>
                        <a:rPr sz="1275" b="0">
                          <a:solidFill>
                            <a:srgbClr val="22252B"/>
                          </a:solidFill>
                          <a:latin typeface="Arial"/>
                        </a:rPr>
                        <a:t>64 €</a:t>
                      </a:r>
                    </a:p>
                  </a:txBody>
                  <a:tcPr marL="95250" marR="95250" marT="76200" marB="76200">
                    <a:solidFill>
                      <a:srgbClr val="FFFFFF"/>
                    </a:solidFill>
                  </a:tcPr>
                </a:tc>
                <a:tc>
                  <a:txBody>
                    <a:bodyPr wrap="square"/>
                    <a:lstStyle/>
                    <a:p>
                      <a:pPr algn="r"/>
                      <a:r>
                        <a:rPr sz="1275" b="0">
                          <a:solidFill>
                            <a:srgbClr val="22252B"/>
                          </a:solidFill>
                          <a:latin typeface="Arial"/>
                        </a:rPr>
                        <a:t>24 €</a:t>
                      </a:r>
                    </a:p>
                  </a:txBody>
                  <a:tcPr marL="95250" marR="95250" marT="76200" marB="76200">
                    <a:solidFill>
                      <a:srgbClr val="FFFFFF"/>
                    </a:solidFill>
                  </a:tcPr>
                </a:tc>
              </a:tr>
              <a:tr h="391715">
                <a:tc>
                  <a:txBody>
                    <a:bodyPr wrap="square"/>
                    <a:lstStyle/>
                    <a:p>
                      <a:r>
                        <a:rPr sz="1275" b="0">
                          <a:solidFill>
                            <a:srgbClr val="22252B"/>
                          </a:solidFill>
                          <a:latin typeface="Arial"/>
                        </a:rPr>
                        <a:t>Coupée, entre ses voisins</a:t>
                      </a:r>
                    </a:p>
                  </a:txBody>
                  <a:tcPr marL="95250" marR="95250" marT="76200" marB="76200">
                    <a:solidFill>
                      <a:srgbClr val="FFFFFF"/>
                    </a:solidFill>
                  </a:tcPr>
                </a:tc>
                <a:tc>
                  <a:txBody>
                    <a:bodyPr wrap="square"/>
                    <a:lstStyle/>
                    <a:p>
                      <a:pPr algn="r"/>
                      <a:r>
                        <a:rPr sz="1275" b="0">
                          <a:solidFill>
                            <a:srgbClr val="22252B"/>
                          </a:solidFill>
                          <a:latin typeface="Arial"/>
                        </a:rPr>
                        <a:t>2 822</a:t>
                      </a:r>
                    </a:p>
                  </a:txBody>
                  <a:tcPr marL="95250" marR="95250" marT="76200" marB="76200">
                    <a:solidFill>
                      <a:srgbClr val="FFFFFF"/>
                    </a:solidFill>
                  </a:tcPr>
                </a:tc>
                <a:tc>
                  <a:txBody>
                    <a:bodyPr wrap="square"/>
                    <a:lstStyle/>
                    <a:p>
                      <a:pPr algn="r"/>
                      <a:r>
                        <a:rPr sz="1275" b="0">
                          <a:solidFill>
                            <a:srgbClr val="22252B"/>
                          </a:solidFill>
                          <a:latin typeface="Arial"/>
                        </a:rPr>
                        <a:t>8,9 GW</a:t>
                      </a:r>
                    </a:p>
                  </a:txBody>
                  <a:tcPr marL="95250" marR="95250" marT="76200" marB="76200">
                    <a:solidFill>
                      <a:srgbClr val="FFFFFF"/>
                    </a:solidFill>
                  </a:tcPr>
                </a:tc>
                <a:tc>
                  <a:txBody>
                    <a:bodyPr wrap="square"/>
                    <a:lstStyle/>
                    <a:p>
                      <a:pPr algn="r"/>
                      <a:r>
                        <a:rPr sz="1275" b="1">
                          <a:solidFill>
                            <a:srgbClr val="22252B"/>
                          </a:solidFill>
                          <a:latin typeface="Arial"/>
                        </a:rPr>
                        <a:t>59 €</a:t>
                      </a:r>
                    </a:p>
                  </a:txBody>
                  <a:tcPr marL="95250" marR="95250" marT="76200" marB="76200">
                    <a:solidFill>
                      <a:srgbClr val="FFFFFF"/>
                    </a:solidFill>
                  </a:tcPr>
                </a:tc>
                <a:tc>
                  <a:txBody>
                    <a:bodyPr wrap="square"/>
                    <a:lstStyle/>
                    <a:p>
                      <a:pPr algn="r"/>
                      <a:r>
                        <a:rPr sz="1275" b="0">
                          <a:solidFill>
                            <a:srgbClr val="22252B"/>
                          </a:solidFill>
                          <a:latin typeface="Arial"/>
                        </a:rPr>
                        <a:t>82 €</a:t>
                      </a:r>
                    </a:p>
                  </a:txBody>
                  <a:tcPr marL="95250" marR="95250" marT="76200" marB="76200">
                    <a:solidFill>
                      <a:srgbClr val="FFFFFF"/>
                    </a:solidFill>
                  </a:tcPr>
                </a:tc>
                <a:tc>
                  <a:txBody>
                    <a:bodyPr wrap="square"/>
                    <a:lstStyle/>
                    <a:p>
                      <a:pPr algn="r"/>
                      <a:r>
                        <a:rPr sz="1275" b="0">
                          <a:solidFill>
                            <a:srgbClr val="22252B"/>
                          </a:solidFill>
                          <a:latin typeface="Arial"/>
                        </a:rPr>
                        <a:t>117 €</a:t>
                      </a:r>
                    </a:p>
                  </a:txBody>
                  <a:tcPr marL="95250" marR="95250" marT="76200" marB="76200">
                    <a:solidFill>
                      <a:srgbClr val="FFFFFF"/>
                    </a:solidFill>
                  </a:tcPr>
                </a:tc>
                <a:tc>
                  <a:txBody>
                    <a:bodyPr wrap="square"/>
                    <a:lstStyle/>
                    <a:p>
                      <a:pPr algn="r"/>
                      <a:r>
                        <a:rPr sz="1275" b="0">
                          <a:solidFill>
                            <a:srgbClr val="22252B"/>
                          </a:solidFill>
                          <a:latin typeface="Arial"/>
                        </a:rPr>
                        <a:t>49 €</a:t>
                      </a:r>
                    </a:p>
                  </a:txBody>
                  <a:tcPr marL="95250" marR="95250" marT="76200" marB="76200">
                    <a:solidFill>
                      <a:srgbClr val="FFFFFF"/>
                    </a:solidFill>
                  </a:tcPr>
                </a:tc>
                <a:tc>
                  <a:txBody>
                    <a:bodyPr wrap="square"/>
                    <a:lstStyle/>
                    <a:p>
                      <a:pPr algn="r"/>
                      <a:r>
                        <a:rPr sz="1275" b="0">
                          <a:solidFill>
                            <a:srgbClr val="22252B"/>
                          </a:solidFill>
                          <a:latin typeface="Arial"/>
                        </a:rPr>
                        <a:t>26 €</a:t>
                      </a:r>
                    </a:p>
                  </a:txBody>
                  <a:tcPr marL="95250" marR="95250" marT="76200" marB="76200">
                    <a:solidFill>
                      <a:srgbClr val="FFFFFF"/>
                    </a:solidFill>
                  </a:tcPr>
                </a:tc>
              </a:tr>
              <a:tr h="391715">
                <a:tc>
                  <a:txBody>
                    <a:bodyPr wrap="square"/>
                    <a:lstStyle/>
                    <a:p>
                      <a:r>
                        <a:rPr sz="1275" b="0">
                          <a:solidFill>
                            <a:srgbClr val="22252B"/>
                          </a:solidFill>
                          <a:latin typeface="Arial"/>
                        </a:rPr>
                        <a:t>Coupée, la moins chère</a:t>
                      </a:r>
                    </a:p>
                  </a:txBody>
                  <a:tcPr marL="95250" marR="95250" marT="76200" marB="76200">
                    <a:solidFill>
                      <a:srgbClr val="FFFFFF"/>
                    </a:solidFill>
                  </a:tcPr>
                </a:tc>
                <a:tc>
                  <a:txBody>
                    <a:bodyPr wrap="square"/>
                    <a:lstStyle/>
                    <a:p>
                      <a:pPr algn="r"/>
                      <a:r>
                        <a:rPr sz="1275" b="0">
                          <a:solidFill>
                            <a:srgbClr val="22252B"/>
                          </a:solidFill>
                          <a:latin typeface="Arial"/>
                        </a:rPr>
                        <a:t>1 816</a:t>
                      </a:r>
                    </a:p>
                  </a:txBody>
                  <a:tcPr marL="95250" marR="95250" marT="76200" marB="76200">
                    <a:solidFill>
                      <a:srgbClr val="FFFFFF"/>
                    </a:solidFill>
                  </a:tcPr>
                </a:tc>
                <a:tc>
                  <a:txBody>
                    <a:bodyPr wrap="square"/>
                    <a:lstStyle/>
                    <a:p>
                      <a:pPr algn="r"/>
                      <a:r>
                        <a:rPr sz="1275" b="0">
                          <a:solidFill>
                            <a:srgbClr val="22252B"/>
                          </a:solidFill>
                          <a:latin typeface="Arial"/>
                        </a:rPr>
                        <a:t>14,1 GW</a:t>
                      </a:r>
                    </a:p>
                  </a:txBody>
                  <a:tcPr marL="95250" marR="95250" marT="76200" marB="76200">
                    <a:solidFill>
                      <a:srgbClr val="FFFFFF"/>
                    </a:solidFill>
                  </a:tcPr>
                </a:tc>
                <a:tc>
                  <a:txBody>
                    <a:bodyPr wrap="square"/>
                    <a:lstStyle/>
                    <a:p>
                      <a:pPr algn="r"/>
                      <a:r>
                        <a:rPr sz="1275" b="1">
                          <a:solidFill>
                            <a:srgbClr val="22252B"/>
                          </a:solidFill>
                          <a:latin typeface="Arial"/>
                        </a:rPr>
                        <a:t>51 €</a:t>
                      </a:r>
                    </a:p>
                  </a:txBody>
                  <a:tcPr marL="95250" marR="95250" marT="76200" marB="76200">
                    <a:solidFill>
                      <a:srgbClr val="FFFFFF"/>
                    </a:solidFill>
                  </a:tcPr>
                </a:tc>
                <a:tc>
                  <a:txBody>
                    <a:bodyPr wrap="square"/>
                    <a:lstStyle/>
                    <a:p>
                      <a:pPr algn="r"/>
                      <a:r>
                        <a:rPr sz="1275" b="0">
                          <a:solidFill>
                            <a:srgbClr val="22252B"/>
                          </a:solidFill>
                          <a:latin typeface="Arial"/>
                        </a:rPr>
                        <a:t>94 €</a:t>
                      </a:r>
                    </a:p>
                  </a:txBody>
                  <a:tcPr marL="95250" marR="95250" marT="76200" marB="76200">
                    <a:solidFill>
                      <a:srgbClr val="FFFFFF"/>
                    </a:solidFill>
                  </a:tcPr>
                </a:tc>
                <a:tc>
                  <a:txBody>
                    <a:bodyPr wrap="square"/>
                    <a:lstStyle/>
                    <a:p>
                      <a:pPr algn="r"/>
                      <a:r>
                        <a:rPr sz="1275" b="0">
                          <a:solidFill>
                            <a:srgbClr val="22252B"/>
                          </a:solidFill>
                          <a:latin typeface="Arial"/>
                        </a:rPr>
                        <a:t>114 €</a:t>
                      </a:r>
                    </a:p>
                  </a:txBody>
                  <a:tcPr marL="95250" marR="95250" marT="76200" marB="76200">
                    <a:solidFill>
                      <a:srgbClr val="FFFFFF"/>
                    </a:solidFill>
                  </a:tcPr>
                </a:tc>
                <a:tc>
                  <a:txBody>
                    <a:bodyPr wrap="square"/>
                    <a:lstStyle/>
                    <a:p>
                      <a:pPr algn="r"/>
                      <a:r>
                        <a:rPr sz="1275" b="0">
                          <a:solidFill>
                            <a:srgbClr val="22252B"/>
                          </a:solidFill>
                          <a:latin typeface="Arial"/>
                        </a:rPr>
                        <a:t>91 €</a:t>
                      </a:r>
                    </a:p>
                  </a:txBody>
                  <a:tcPr marL="95250" marR="95250" marT="76200" marB="76200">
                    <a:solidFill>
                      <a:srgbClr val="FFFFFF"/>
                    </a:solidFill>
                  </a:tcPr>
                </a:tc>
                <a:tc>
                  <a:txBody>
                    <a:bodyPr wrap="square"/>
                    <a:lstStyle/>
                    <a:p>
                      <a:pPr algn="r"/>
                      <a:r>
                        <a:rPr sz="1275" b="0">
                          <a:solidFill>
                            <a:srgbClr val="22252B"/>
                          </a:solidFill>
                          <a:latin typeface="Arial"/>
                        </a:rPr>
                        <a:t>4 €</a:t>
                      </a:r>
                    </a:p>
                  </a:txBody>
                  <a:tcPr marL="95250" marR="95250" marT="76200" marB="76200">
                    <a:solidFill>
                      <a:srgbClr val="FFFFFF"/>
                    </a:solidFill>
                  </a:tcPr>
                </a:tc>
              </a:tr>
            </a:tbl>
          </a:graphicData>
        </a:graphic>
      </p:graphicFrame>
      <p:sp>
        <p:nvSpPr>
          <p:cNvPr id="5" name="TextBox 4"/>
          <p:cNvSpPr txBox="1"/>
          <p:nvPr/>
        </p:nvSpPr>
        <p:spPr>
          <a:xfrm>
            <a:off x="571500" y="3242667"/>
            <a:ext cx="11049000" cy="819150"/>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Plus la France est coupée, plus son prix est bas : 75 € couplée, </a:t>
            </a:r>
            <a:r>
              <a:rPr sz="1162" b="1">
                <a:solidFill>
                  <a:srgbClr val="22252B"/>
                </a:solidFill>
                <a:latin typeface="Arial"/>
              </a:rPr>
              <a:t>51 €</a:t>
            </a:r>
            <a:r>
              <a:rPr sz="1162" b="0">
                <a:solidFill>
                  <a:srgbClr val="22252B"/>
                </a:solidFill>
                <a:latin typeface="Arial"/>
              </a:rPr>
              <a:t> quand elle est la moins chère de tous (l’Allemagne est alors à 94 €).</a:t>
            </a:r>
          </a:p>
          <a:p>
            <a:pPr marL="152400" indent="-133350">
              <a:spcAft>
                <a:spcPts val="500"/>
              </a:spcAft>
              <a:buChar char="•"/>
            </a:pPr>
            <a:r>
              <a:rPr sz="1162" b="0">
                <a:solidFill>
                  <a:srgbClr val="22252B"/>
                </a:solidFill>
                <a:latin typeface="Arial"/>
              </a:rPr>
              <a:t>Mais même là, elle exporte </a:t>
            </a:r>
            <a:r>
              <a:rPr sz="1162" b="1">
                <a:solidFill>
                  <a:srgbClr val="22252B"/>
                </a:solidFill>
                <a:latin typeface="Arial"/>
              </a:rPr>
              <a:t>14,1 GW</a:t>
            </a:r>
            <a:r>
              <a:rPr sz="1162" b="0">
                <a:solidFill>
                  <a:srgbClr val="22252B"/>
                </a:solidFill>
                <a:latin typeface="Arial"/>
              </a:rPr>
              <a:t> en moyenne : sans ces exports, son prix serait de l’ordre de 4 € (modèle).</a:t>
            </a:r>
          </a:p>
          <a:p>
            <a:pPr marL="152400" indent="-133350">
              <a:spcAft>
                <a:spcPts val="500"/>
              </a:spcAft>
              <a:buChar char="•"/>
            </a:pPr>
            <a:r>
              <a:rPr sz="1162" b="0">
                <a:solidFill>
                  <a:srgbClr val="22252B"/>
                </a:solidFill>
                <a:latin typeface="Arial"/>
              </a:rPr>
              <a:t>Les états sont comptés au quart d’heure ; le prix « France isolée » est horaire (page 13).</a:t>
            </a:r>
          </a:p>
        </p:txBody>
      </p:sp>
      <p:sp>
        <p:nvSpPr>
          <p:cNvPr id="6" name="TextBox 5"/>
          <p:cNvSpPr txBox="1"/>
          <p:nvPr/>
        </p:nvSpPr>
        <p:spPr>
          <a:xfrm>
            <a:off x="571500" y="4118967"/>
            <a:ext cx="11049000" cy="198834"/>
          </a:xfrm>
          <a:prstGeom prst="rect">
            <a:avLst/>
          </a:prstGeom>
          <a:noFill/>
        </p:spPr>
        <p:txBody>
          <a:bodyPr wrap="square" lIns="0" rIns="0" tIns="0" bIns="0" anchor="t">
            <a:spAutoFit/>
          </a:bodyPr>
          <a:lstStyle/>
          <a:p>
            <a:r>
              <a:rPr sz="937" b="0">
                <a:solidFill>
                  <a:srgbClr val="8A8F98"/>
                </a:solidFill>
                <a:latin typeface="Arial"/>
              </a:rPr>
              <a:t>Export net : échanges commerciaux programmés (ENTSO-E via Energy-Charts). Sources : ENTSO-E, Elexon ;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ÉTATS DE COUPLAGE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Sans modèle : couplée ou coupée, à situation française égale</a:t>
            </a:r>
          </a:p>
        </p:txBody>
      </p:sp>
      <p:graphicFrame>
        <p:nvGraphicFramePr>
          <p:cNvPr id="4" name="Table 3"/>
          <p:cNvGraphicFramePr>
            <a:graphicFrameLocks noGrp="1"/>
          </p:cNvGraphicFramePr>
          <p:nvPr/>
        </p:nvGraphicFramePr>
        <p:xfrm>
          <a:off x="571500" y="1101476"/>
          <a:ext cx="11048998" cy="3309188"/>
        </p:xfrm>
        <a:graphic>
          <a:graphicData uri="http://schemas.openxmlformats.org/drawingml/2006/table">
            <a:tbl>
              <a:tblPr firstRow="0" bandRow="0">
                <a:tableStyleId>{5C22544A-7EE6-4342-B048-85BDC9FD1C3A}</a:tableStyleId>
              </a:tblPr>
              <a:tblGrid>
                <a:gridCol w="1578322"/>
                <a:gridCol w="1816596"/>
                <a:gridCol w="1366688"/>
                <a:gridCol w="1960215"/>
                <a:gridCol w="1946076"/>
                <a:gridCol w="2381101"/>
              </a:tblGrid>
              <a:tr h="567183">
                <a:tc>
                  <a:txBody>
                    <a:bodyPr wrap="square"/>
                    <a:lstStyle/>
                    <a:p>
                      <a:r>
                        <a:rPr sz="1125" b="1">
                          <a:solidFill>
                            <a:srgbClr val="22252B"/>
                          </a:solidFill>
                          <a:latin typeface="Arial"/>
                        </a:rPr>
                        <a:t>Année</a:t>
                      </a:r>
                    </a:p>
                  </a:txBody>
                  <a:tcPr marL="95250" marR="95250" marT="76200" marB="76200">
                    <a:solidFill>
                      <a:srgbClr val="F5F3FB"/>
                    </a:solidFill>
                  </a:tcPr>
                </a:tc>
                <a:tc>
                  <a:txBody>
                    <a:bodyPr wrap="square"/>
                    <a:lstStyle/>
                    <a:p>
                      <a:pPr algn="r"/>
                      <a:r>
                        <a:rPr sz="1125" b="1">
                          <a:solidFill>
                            <a:srgbClr val="22252B"/>
                          </a:solidFill>
                          <a:latin typeface="Arial"/>
                        </a:rPr>
                        <a:t>France couplée</a:t>
                      </a:r>
                    </a:p>
                    <a:p>
                      <a:pPr algn="r"/>
                      <a:r>
                        <a:rPr sz="937" b="0">
                          <a:solidFill>
                            <a:srgbClr val="777777"/>
                          </a:solidFill>
                          <a:latin typeface="Arial"/>
                        </a:rPr>
                        <a:t>avec Core, moyenne brute</a:t>
                      </a:r>
                    </a:p>
                  </a:txBody>
                  <a:tcPr marL="95250" marR="95250" marT="76200" marB="76200">
                    <a:solidFill>
                      <a:srgbClr val="F5F3FB"/>
                    </a:solidFill>
                  </a:tcPr>
                </a:tc>
                <a:tc>
                  <a:txBody>
                    <a:bodyPr wrap="square"/>
                    <a:lstStyle/>
                    <a:p>
                      <a:pPr algn="r"/>
                      <a:r>
                        <a:rPr sz="1125" b="1">
                          <a:solidFill>
                            <a:srgbClr val="22252B"/>
                          </a:solidFill>
                          <a:latin typeface="Arial"/>
                        </a:rPr>
                        <a:t>France coupée</a:t>
                      </a:r>
                    </a:p>
                    <a:p>
                      <a:pPr algn="r"/>
                      <a:r>
                        <a:rPr sz="937" b="0">
                          <a:solidFill>
                            <a:srgbClr val="777777"/>
                          </a:solidFill>
                          <a:latin typeface="Arial"/>
                        </a:rPr>
                        <a:t>moyenne brute</a:t>
                      </a:r>
                    </a:p>
                  </a:txBody>
                  <a:tcPr marL="95250" marR="95250" marT="76200" marB="76200">
                    <a:solidFill>
                      <a:srgbClr val="F5F3FB"/>
                    </a:solidFill>
                  </a:tcPr>
                </a:tc>
                <a:tc>
                  <a:txBody>
                    <a:bodyPr wrap="square"/>
                    <a:lstStyle/>
                    <a:p>
                      <a:pPr algn="r"/>
                      <a:r>
                        <a:rPr sz="1125" b="1">
                          <a:solidFill>
                            <a:srgbClr val="22252B"/>
                          </a:solidFill>
                          <a:latin typeface="Arial"/>
                        </a:rPr>
                        <a:t>Allemagne</a:t>
                      </a:r>
                    </a:p>
                    <a:p>
                      <a:pPr algn="r"/>
                      <a:r>
                        <a:rPr sz="937" b="0">
                          <a:solidFill>
                            <a:srgbClr val="777777"/>
                          </a:solidFill>
                          <a:latin typeface="Arial"/>
                        </a:rPr>
                        <a:t>pendant ces heures coupées</a:t>
                      </a:r>
                    </a:p>
                  </a:txBody>
                  <a:tcPr marL="95250" marR="95250" marT="76200" marB="76200">
                    <a:solidFill>
                      <a:srgbClr val="F5F3FB"/>
                    </a:solidFill>
                  </a:tcPr>
                </a:tc>
                <a:tc>
                  <a:txBody>
                    <a:bodyPr wrap="square"/>
                    <a:lstStyle/>
                    <a:p>
                      <a:pPr algn="r"/>
                      <a:r>
                        <a:rPr sz="1125" b="1">
                          <a:solidFill>
                            <a:srgbClr val="22252B"/>
                          </a:solidFill>
                          <a:latin typeface="Arial"/>
                        </a:rPr>
                        <a:t>Écart à situation égale</a:t>
                      </a:r>
                    </a:p>
                    <a:p>
                      <a:pPr algn="r"/>
                      <a:r>
                        <a:rPr sz="937" b="0">
                          <a:solidFill>
                            <a:srgbClr val="777777"/>
                          </a:solidFill>
                          <a:latin typeface="Arial"/>
                        </a:rPr>
                        <a:t>couplée − coupée</a:t>
                      </a:r>
                    </a:p>
                  </a:txBody>
                  <a:tcPr marL="95250" marR="95250" marT="76200" marB="76200">
                    <a:solidFill>
                      <a:srgbClr val="F5F3FB"/>
                    </a:solidFill>
                  </a:tcPr>
                </a:tc>
                <a:tc>
                  <a:txBody>
                    <a:bodyPr wrap="square"/>
                    <a:lstStyle/>
                    <a:p>
                      <a:pPr algn="r"/>
                      <a:r>
                        <a:rPr sz="1125" b="1">
                          <a:solidFill>
                            <a:srgbClr val="22252B"/>
                          </a:solidFill>
                          <a:latin typeface="Arial"/>
                        </a:rPr>
                        <a:t>Heures coupées comparées</a:t>
                      </a:r>
                    </a:p>
                  </a:txBody>
                  <a:tcPr marL="95250" marR="95250" marT="76200" marB="76200">
                    <a:solidFill>
                      <a:srgbClr val="F5F3FB"/>
                    </a:solidFill>
                  </a:tcPr>
                </a:tc>
              </a:tr>
              <a:tr h="391715">
                <a:tc>
                  <a:txBody>
                    <a:bodyPr wrap="square"/>
                    <a:lstStyle/>
                    <a:p>
                      <a:r>
                        <a:rPr sz="1275" b="0">
                          <a:solidFill>
                            <a:srgbClr val="22252B"/>
                          </a:solidFill>
                          <a:latin typeface="Arial"/>
                        </a:rPr>
                        <a:t>2020</a:t>
                      </a:r>
                    </a:p>
                  </a:txBody>
                  <a:tcPr marL="95250" marR="95250" marT="76200" marB="76200">
                    <a:solidFill>
                      <a:srgbClr val="FFFFFF"/>
                    </a:solidFill>
                  </a:tcPr>
                </a:tc>
                <a:tc>
                  <a:txBody>
                    <a:bodyPr wrap="square"/>
                    <a:lstStyle/>
                    <a:p>
                      <a:pPr algn="r"/>
                      <a:r>
                        <a:rPr sz="1275" b="0">
                          <a:solidFill>
                            <a:srgbClr val="22252B"/>
                          </a:solidFill>
                          <a:latin typeface="Arial"/>
                        </a:rPr>
                        <a:t>34 €</a:t>
                      </a:r>
                    </a:p>
                  </a:txBody>
                  <a:tcPr marL="95250" marR="95250" marT="76200" marB="76200">
                    <a:solidFill>
                      <a:srgbClr val="FFFFFF"/>
                    </a:solidFill>
                  </a:tcPr>
                </a:tc>
                <a:tc>
                  <a:txBody>
                    <a:bodyPr wrap="square"/>
                    <a:lstStyle/>
                    <a:p>
                      <a:pPr algn="r"/>
                      <a:r>
                        <a:rPr sz="1275" b="0">
                          <a:solidFill>
                            <a:srgbClr val="22252B"/>
                          </a:solidFill>
                          <a:latin typeface="Arial"/>
                        </a:rPr>
                        <a:t>26 €</a:t>
                      </a:r>
                    </a:p>
                  </a:txBody>
                  <a:tcPr marL="95250" marR="95250" marT="76200" marB="76200">
                    <a:solidFill>
                      <a:srgbClr val="FFFFFF"/>
                    </a:solidFill>
                  </a:tcPr>
                </a:tc>
                <a:tc>
                  <a:txBody>
                    <a:bodyPr wrap="square"/>
                    <a:lstStyle/>
                    <a:p>
                      <a:pPr algn="r"/>
                      <a:r>
                        <a:rPr sz="1275" b="0">
                          <a:solidFill>
                            <a:srgbClr val="22252B"/>
                          </a:solidFill>
                          <a:latin typeface="Arial"/>
                        </a:rPr>
                        <a:t>23 €</a:t>
                      </a:r>
                    </a:p>
                  </a:txBody>
                  <a:tcPr marL="95250" marR="95250" marT="76200" marB="76200">
                    <a:solidFill>
                      <a:srgbClr val="FFFFFF"/>
                    </a:solidFill>
                  </a:tcPr>
                </a:tc>
                <a:tc>
                  <a:txBody>
                    <a:bodyPr wrap="square"/>
                    <a:lstStyle/>
                    <a:p>
                      <a:pPr algn="r"/>
                      <a:r>
                        <a:rPr sz="1275" b="1">
                          <a:solidFill>
                            <a:srgbClr val="22252B"/>
                          </a:solidFill>
                          <a:latin typeface="Arial"/>
                        </a:rPr>
                        <a:t>+2 €</a:t>
                      </a:r>
                    </a:p>
                  </a:txBody>
                  <a:tcPr marL="95250" marR="95250" marT="76200" marB="76200">
                    <a:solidFill>
                      <a:srgbClr val="FFFFFF"/>
                    </a:solidFill>
                  </a:tcPr>
                </a:tc>
                <a:tc>
                  <a:txBody>
                    <a:bodyPr wrap="square"/>
                    <a:lstStyle/>
                    <a:p>
                      <a:pPr algn="r"/>
                      <a:r>
                        <a:rPr sz="1275" b="0">
                          <a:solidFill>
                            <a:srgbClr val="22252B"/>
                          </a:solidFill>
                          <a:latin typeface="Arial"/>
                        </a:rPr>
                        <a:t>72 %</a:t>
                      </a:r>
                    </a:p>
                  </a:txBody>
                  <a:tcPr marL="95250" marR="95250" marT="76200" marB="76200">
                    <a:solidFill>
                      <a:srgbClr val="FFFFFF"/>
                    </a:solidFill>
                  </a:tcPr>
                </a:tc>
              </a:tr>
              <a:tr h="391715">
                <a:tc>
                  <a:txBody>
                    <a:bodyPr wrap="square"/>
                    <a:lstStyle/>
                    <a:p>
                      <a:r>
                        <a:rPr sz="1275" b="0">
                          <a:solidFill>
                            <a:srgbClr val="22252B"/>
                          </a:solidFill>
                          <a:latin typeface="Arial"/>
                        </a:rPr>
                        <a:t>2021</a:t>
                      </a:r>
                    </a:p>
                  </a:txBody>
                  <a:tcPr marL="95250" marR="95250" marT="76200" marB="76200">
                    <a:solidFill>
                      <a:srgbClr val="FFFFFF"/>
                    </a:solidFill>
                  </a:tcPr>
                </a:tc>
                <a:tc>
                  <a:txBody>
                    <a:bodyPr wrap="square"/>
                    <a:lstStyle/>
                    <a:p>
                      <a:pPr algn="r"/>
                      <a:r>
                        <a:rPr sz="1275" b="0">
                          <a:solidFill>
                            <a:srgbClr val="22252B"/>
                          </a:solidFill>
                          <a:latin typeface="Arial"/>
                        </a:rPr>
                        <a:t>98 €</a:t>
                      </a:r>
                    </a:p>
                  </a:txBody>
                  <a:tcPr marL="95250" marR="95250" marT="76200" marB="76200">
                    <a:solidFill>
                      <a:srgbClr val="FFFFFF"/>
                    </a:solidFill>
                  </a:tcPr>
                </a:tc>
                <a:tc>
                  <a:txBody>
                    <a:bodyPr wrap="square"/>
                    <a:lstStyle/>
                    <a:p>
                      <a:pPr algn="r"/>
                      <a:r>
                        <a:rPr sz="1275" b="0">
                          <a:solidFill>
                            <a:srgbClr val="22252B"/>
                          </a:solidFill>
                          <a:latin typeface="Arial"/>
                        </a:rPr>
                        <a:t>90 €</a:t>
                      </a:r>
                    </a:p>
                  </a:txBody>
                  <a:tcPr marL="95250" marR="95250" marT="76200" marB="76200">
                    <a:solidFill>
                      <a:srgbClr val="FFFFFF"/>
                    </a:solidFill>
                  </a:tcPr>
                </a:tc>
                <a:tc>
                  <a:txBody>
                    <a:bodyPr wrap="square"/>
                    <a:lstStyle/>
                    <a:p>
                      <a:pPr algn="r"/>
                      <a:r>
                        <a:rPr sz="1275" b="0">
                          <a:solidFill>
                            <a:srgbClr val="22252B"/>
                          </a:solidFill>
                          <a:latin typeface="Arial"/>
                        </a:rPr>
                        <a:t>79 €</a:t>
                      </a:r>
                    </a:p>
                  </a:txBody>
                  <a:tcPr marL="95250" marR="95250" marT="76200" marB="76200">
                    <a:solidFill>
                      <a:srgbClr val="FFFFFF"/>
                    </a:solidFill>
                  </a:tcPr>
                </a:tc>
                <a:tc>
                  <a:txBody>
                    <a:bodyPr wrap="square"/>
                    <a:lstStyle/>
                    <a:p>
                      <a:pPr algn="r"/>
                      <a:r>
                        <a:rPr sz="1275" b="1">
                          <a:solidFill>
                            <a:srgbClr val="22252B"/>
                          </a:solidFill>
                          <a:latin typeface="Arial"/>
                        </a:rPr>
                        <a:t>+11 €</a:t>
                      </a:r>
                    </a:p>
                  </a:txBody>
                  <a:tcPr marL="95250" marR="95250" marT="76200" marB="76200">
                    <a:solidFill>
                      <a:srgbClr val="FFFFFF"/>
                    </a:solidFill>
                  </a:tcPr>
                </a:tc>
                <a:tc>
                  <a:txBody>
                    <a:bodyPr wrap="square"/>
                    <a:lstStyle/>
                    <a:p>
                      <a:pPr algn="r"/>
                      <a:r>
                        <a:rPr sz="1275" b="0">
                          <a:solidFill>
                            <a:srgbClr val="22252B"/>
                          </a:solidFill>
                          <a:latin typeface="Arial"/>
                        </a:rPr>
                        <a:t>64 %</a:t>
                      </a:r>
                    </a:p>
                  </a:txBody>
                  <a:tcPr marL="95250" marR="95250" marT="76200" marB="76200">
                    <a:solidFill>
                      <a:srgbClr val="FFFFFF"/>
                    </a:solidFill>
                  </a:tcPr>
                </a:tc>
              </a:tr>
              <a:tr h="391715">
                <a:tc>
                  <a:txBody>
                    <a:bodyPr wrap="square"/>
                    <a:lstStyle/>
                    <a:p>
                      <a:r>
                        <a:rPr sz="1275" b="0">
                          <a:solidFill>
                            <a:srgbClr val="22252B"/>
                          </a:solidFill>
                          <a:latin typeface="Arial"/>
                        </a:rPr>
                        <a:t>2022</a:t>
                      </a:r>
                    </a:p>
                  </a:txBody>
                  <a:tcPr marL="95250" marR="95250" marT="76200" marB="76200">
                    <a:solidFill>
                      <a:srgbClr val="FFFFFF"/>
                    </a:solidFill>
                  </a:tcPr>
                </a:tc>
                <a:tc>
                  <a:txBody>
                    <a:bodyPr wrap="square"/>
                    <a:lstStyle/>
                    <a:p>
                      <a:pPr algn="r"/>
                      <a:r>
                        <a:rPr sz="1275" b="0">
                          <a:solidFill>
                            <a:srgbClr val="22252B"/>
                          </a:solidFill>
                          <a:latin typeface="Arial"/>
                        </a:rPr>
                        <a:t>281 €</a:t>
                      </a:r>
                    </a:p>
                  </a:txBody>
                  <a:tcPr marL="95250" marR="95250" marT="76200" marB="76200">
                    <a:solidFill>
                      <a:srgbClr val="FFFFFF"/>
                    </a:solidFill>
                  </a:tcPr>
                </a:tc>
                <a:tc>
                  <a:txBody>
                    <a:bodyPr wrap="square"/>
                    <a:lstStyle/>
                    <a:p>
                      <a:pPr algn="r"/>
                      <a:r>
                        <a:rPr sz="1275" b="0">
                          <a:solidFill>
                            <a:srgbClr val="22252B"/>
                          </a:solidFill>
                          <a:latin typeface="Arial"/>
                        </a:rPr>
                        <a:t>260 €</a:t>
                      </a:r>
                    </a:p>
                  </a:txBody>
                  <a:tcPr marL="95250" marR="95250" marT="76200" marB="76200">
                    <a:solidFill>
                      <a:srgbClr val="FFFFFF"/>
                    </a:solidFill>
                  </a:tcPr>
                </a:tc>
                <a:tc>
                  <a:txBody>
                    <a:bodyPr wrap="square"/>
                    <a:lstStyle/>
                    <a:p>
                      <a:pPr algn="r"/>
                      <a:r>
                        <a:rPr sz="1275" b="0">
                          <a:solidFill>
                            <a:srgbClr val="22252B"/>
                          </a:solidFill>
                          <a:latin typeface="Arial"/>
                        </a:rPr>
                        <a:t>217 €</a:t>
                      </a:r>
                    </a:p>
                  </a:txBody>
                  <a:tcPr marL="95250" marR="95250" marT="76200" marB="76200">
                    <a:solidFill>
                      <a:srgbClr val="FFFFFF"/>
                    </a:solidFill>
                  </a:tcPr>
                </a:tc>
                <a:tc>
                  <a:txBody>
                    <a:bodyPr wrap="square"/>
                    <a:lstStyle/>
                    <a:p>
                      <a:pPr algn="r"/>
                      <a:r>
                        <a:rPr sz="1275" b="1">
                          <a:solidFill>
                            <a:srgbClr val="22252B"/>
                          </a:solidFill>
                          <a:latin typeface="Arial"/>
                        </a:rPr>
                        <a:t>+23 €</a:t>
                      </a:r>
                    </a:p>
                  </a:txBody>
                  <a:tcPr marL="95250" marR="95250" marT="76200" marB="76200">
                    <a:solidFill>
                      <a:srgbClr val="FFFFFF"/>
                    </a:solidFill>
                  </a:tcPr>
                </a:tc>
                <a:tc>
                  <a:txBody>
                    <a:bodyPr wrap="square"/>
                    <a:lstStyle/>
                    <a:p>
                      <a:pPr algn="r"/>
                      <a:r>
                        <a:rPr sz="1275" b="0">
                          <a:solidFill>
                            <a:srgbClr val="22252B"/>
                          </a:solidFill>
                          <a:latin typeface="Arial"/>
                        </a:rPr>
                        <a:t>66 %</a:t>
                      </a:r>
                    </a:p>
                  </a:txBody>
                  <a:tcPr marL="95250" marR="95250" marT="76200" marB="76200">
                    <a:solidFill>
                      <a:srgbClr val="FFFFFF"/>
                    </a:solidFill>
                  </a:tcPr>
                </a:tc>
              </a:tr>
              <a:tr h="391715">
                <a:tc>
                  <a:txBody>
                    <a:bodyPr wrap="square"/>
                    <a:lstStyle/>
                    <a:p>
                      <a:r>
                        <a:rPr sz="1275" b="0">
                          <a:solidFill>
                            <a:srgbClr val="22252B"/>
                          </a:solidFill>
                          <a:latin typeface="Arial"/>
                        </a:rPr>
                        <a:t>2023</a:t>
                      </a:r>
                    </a:p>
                  </a:txBody>
                  <a:tcPr marL="95250" marR="95250" marT="76200" marB="76200">
                    <a:solidFill>
                      <a:srgbClr val="FFFFFF"/>
                    </a:solidFill>
                  </a:tcPr>
                </a:tc>
                <a:tc>
                  <a:txBody>
                    <a:bodyPr wrap="square"/>
                    <a:lstStyle/>
                    <a:p>
                      <a:pPr algn="r"/>
                      <a:r>
                        <a:rPr sz="1275" b="0">
                          <a:solidFill>
                            <a:srgbClr val="22252B"/>
                          </a:solidFill>
                          <a:latin typeface="Arial"/>
                        </a:rPr>
                        <a:t>99 €</a:t>
                      </a:r>
                    </a:p>
                  </a:txBody>
                  <a:tcPr marL="95250" marR="95250" marT="76200" marB="76200">
                    <a:solidFill>
                      <a:srgbClr val="FFFFFF"/>
                    </a:solidFill>
                  </a:tcPr>
                </a:tc>
                <a:tc>
                  <a:txBody>
                    <a:bodyPr wrap="square"/>
                    <a:lstStyle/>
                    <a:p>
                      <a:pPr algn="r"/>
                      <a:r>
                        <a:rPr sz="1275" b="0">
                          <a:solidFill>
                            <a:srgbClr val="22252B"/>
                          </a:solidFill>
                          <a:latin typeface="Arial"/>
                        </a:rPr>
                        <a:t>86 €</a:t>
                      </a:r>
                    </a:p>
                  </a:txBody>
                  <a:tcPr marL="95250" marR="95250" marT="76200" marB="76200">
                    <a:solidFill>
                      <a:srgbClr val="FFFFFF"/>
                    </a:solidFill>
                  </a:tcPr>
                </a:tc>
                <a:tc>
                  <a:txBody>
                    <a:bodyPr wrap="square"/>
                    <a:lstStyle/>
                    <a:p>
                      <a:pPr algn="r"/>
                      <a:r>
                        <a:rPr sz="1275" b="0">
                          <a:solidFill>
                            <a:srgbClr val="22252B"/>
                          </a:solidFill>
                          <a:latin typeface="Arial"/>
                        </a:rPr>
                        <a:t>86 €</a:t>
                      </a:r>
                    </a:p>
                  </a:txBody>
                  <a:tcPr marL="95250" marR="95250" marT="76200" marB="76200">
                    <a:solidFill>
                      <a:srgbClr val="FFFFFF"/>
                    </a:solidFill>
                  </a:tcPr>
                </a:tc>
                <a:tc>
                  <a:txBody>
                    <a:bodyPr wrap="square"/>
                    <a:lstStyle/>
                    <a:p>
                      <a:pPr algn="r"/>
                      <a:r>
                        <a:rPr sz="1275" b="1">
                          <a:solidFill>
                            <a:srgbClr val="22252B"/>
                          </a:solidFill>
                          <a:latin typeface="Arial"/>
                        </a:rPr>
                        <a:t>+9 €</a:t>
                      </a:r>
                    </a:p>
                  </a:txBody>
                  <a:tcPr marL="95250" marR="95250" marT="76200" marB="76200">
                    <a:solidFill>
                      <a:srgbClr val="FFFFFF"/>
                    </a:solidFill>
                  </a:tcPr>
                </a:tc>
                <a:tc>
                  <a:txBody>
                    <a:bodyPr wrap="square"/>
                    <a:lstStyle/>
                    <a:p>
                      <a:pPr algn="r"/>
                      <a:r>
                        <a:rPr sz="1275" b="0">
                          <a:solidFill>
                            <a:srgbClr val="22252B"/>
                          </a:solidFill>
                          <a:latin typeface="Arial"/>
                        </a:rPr>
                        <a:t>66 %</a:t>
                      </a:r>
                    </a:p>
                  </a:txBody>
                  <a:tcPr marL="95250" marR="95250" marT="76200" marB="76200">
                    <a:solidFill>
                      <a:srgbClr val="FFFFFF"/>
                    </a:solidFill>
                  </a:tcPr>
                </a:tc>
              </a:tr>
              <a:tr h="391715">
                <a:tc>
                  <a:txBody>
                    <a:bodyPr wrap="square"/>
                    <a:lstStyle/>
                    <a:p>
                      <a:r>
                        <a:rPr sz="1275" b="0">
                          <a:solidFill>
                            <a:srgbClr val="22252B"/>
                          </a:solidFill>
                          <a:latin typeface="Arial"/>
                        </a:rPr>
                        <a:t>2024</a:t>
                      </a:r>
                    </a:p>
                  </a:txBody>
                  <a:tcPr marL="95250" marR="95250" marT="76200" marB="76200">
                    <a:solidFill>
                      <a:srgbClr val="FFFFFF"/>
                    </a:solidFill>
                  </a:tcPr>
                </a:tc>
                <a:tc>
                  <a:txBody>
                    <a:bodyPr wrap="square"/>
                    <a:lstStyle/>
                    <a:p>
                      <a:pPr algn="r"/>
                      <a:r>
                        <a:rPr sz="1275" b="0">
                          <a:solidFill>
                            <a:srgbClr val="22252B"/>
                          </a:solidFill>
                          <a:latin typeface="Arial"/>
                        </a:rPr>
                        <a:t>68 €</a:t>
                      </a:r>
                    </a:p>
                  </a:txBody>
                  <a:tcPr marL="95250" marR="95250" marT="76200" marB="76200">
                    <a:solidFill>
                      <a:srgbClr val="FFFFFF"/>
                    </a:solidFill>
                  </a:tcPr>
                </a:tc>
                <a:tc>
                  <a:txBody>
                    <a:bodyPr wrap="square"/>
                    <a:lstStyle/>
                    <a:p>
                      <a:pPr algn="r"/>
                      <a:r>
                        <a:rPr sz="1275" b="0">
                          <a:solidFill>
                            <a:srgbClr val="22252B"/>
                          </a:solidFill>
                          <a:latin typeface="Arial"/>
                        </a:rPr>
                        <a:t>54 €</a:t>
                      </a:r>
                    </a:p>
                  </a:txBody>
                  <a:tcPr marL="95250" marR="95250" marT="76200" marB="76200">
                    <a:solidFill>
                      <a:srgbClr val="FFFFFF"/>
                    </a:solidFill>
                  </a:tcPr>
                </a:tc>
                <a:tc>
                  <a:txBody>
                    <a:bodyPr wrap="square"/>
                    <a:lstStyle/>
                    <a:p>
                      <a:pPr algn="r"/>
                      <a:r>
                        <a:rPr sz="1275" b="0">
                          <a:solidFill>
                            <a:srgbClr val="22252B"/>
                          </a:solidFill>
                          <a:latin typeface="Arial"/>
                        </a:rPr>
                        <a:t>76 €</a:t>
                      </a:r>
                    </a:p>
                  </a:txBody>
                  <a:tcPr marL="95250" marR="95250" marT="76200" marB="76200">
                    <a:solidFill>
                      <a:srgbClr val="FFFFFF"/>
                    </a:solidFill>
                  </a:tcPr>
                </a:tc>
                <a:tc>
                  <a:txBody>
                    <a:bodyPr wrap="square"/>
                    <a:lstStyle/>
                    <a:p>
                      <a:pPr algn="r"/>
                      <a:r>
                        <a:rPr sz="1275" b="1">
                          <a:solidFill>
                            <a:srgbClr val="22252B"/>
                          </a:solidFill>
                          <a:latin typeface="Arial"/>
                        </a:rPr>
                        <a:t>+2 €</a:t>
                      </a:r>
                    </a:p>
                  </a:txBody>
                  <a:tcPr marL="95250" marR="95250" marT="76200" marB="76200">
                    <a:solidFill>
                      <a:srgbClr val="FFFFFF"/>
                    </a:solidFill>
                  </a:tcPr>
                </a:tc>
                <a:tc>
                  <a:txBody>
                    <a:bodyPr wrap="square"/>
                    <a:lstStyle/>
                    <a:p>
                      <a:pPr algn="r"/>
                      <a:r>
                        <a:rPr sz="1275" b="0">
                          <a:solidFill>
                            <a:srgbClr val="22252B"/>
                          </a:solidFill>
                          <a:latin typeface="Arial"/>
                        </a:rPr>
                        <a:t>39 %</a:t>
                      </a:r>
                    </a:p>
                  </a:txBody>
                  <a:tcPr marL="95250" marR="95250" marT="76200" marB="76200">
                    <a:solidFill>
                      <a:srgbClr val="FFFFFF"/>
                    </a:solidFill>
                  </a:tcPr>
                </a:tc>
              </a:tr>
              <a:tr h="391715">
                <a:tc>
                  <a:txBody>
                    <a:bodyPr wrap="square"/>
                    <a:lstStyle/>
                    <a:p>
                      <a:r>
                        <a:rPr sz="1275" b="0">
                          <a:solidFill>
                            <a:srgbClr val="22252B"/>
                          </a:solidFill>
                          <a:latin typeface="Arial"/>
                        </a:rPr>
                        <a:t>2025</a:t>
                      </a:r>
                    </a:p>
                  </a:txBody>
                  <a:tcPr marL="95250" marR="95250" marT="76200" marB="76200">
                    <a:solidFill>
                      <a:srgbClr val="FFFFFF"/>
                    </a:solidFill>
                  </a:tcPr>
                </a:tc>
                <a:tc>
                  <a:txBody>
                    <a:bodyPr wrap="square"/>
                    <a:lstStyle/>
                    <a:p>
                      <a:pPr algn="r"/>
                      <a:r>
                        <a:rPr sz="1275" b="0">
                          <a:solidFill>
                            <a:srgbClr val="22252B"/>
                          </a:solidFill>
                          <a:latin typeface="Arial"/>
                        </a:rPr>
                        <a:t>74 €</a:t>
                      </a:r>
                    </a:p>
                  </a:txBody>
                  <a:tcPr marL="95250" marR="95250" marT="76200" marB="76200">
                    <a:solidFill>
                      <a:srgbClr val="FFFFFF"/>
                    </a:solidFill>
                  </a:tcPr>
                </a:tc>
                <a:tc>
                  <a:txBody>
                    <a:bodyPr wrap="square"/>
                    <a:lstStyle/>
                    <a:p>
                      <a:pPr algn="r"/>
                      <a:r>
                        <a:rPr sz="1275" b="0">
                          <a:solidFill>
                            <a:srgbClr val="22252B"/>
                          </a:solidFill>
                          <a:latin typeface="Arial"/>
                        </a:rPr>
                        <a:t>56 €</a:t>
                      </a:r>
                    </a:p>
                  </a:txBody>
                  <a:tcPr marL="95250" marR="95250" marT="76200" marB="76200">
                    <a:solidFill>
                      <a:srgbClr val="FFFFFF"/>
                    </a:solidFill>
                  </a:tcPr>
                </a:tc>
                <a:tc>
                  <a:txBody>
                    <a:bodyPr wrap="square"/>
                    <a:lstStyle/>
                    <a:p>
                      <a:pPr algn="r"/>
                      <a:r>
                        <a:rPr sz="1275" b="0">
                          <a:solidFill>
                            <a:srgbClr val="22252B"/>
                          </a:solidFill>
                          <a:latin typeface="Arial"/>
                        </a:rPr>
                        <a:t>87 €</a:t>
                      </a:r>
                    </a:p>
                  </a:txBody>
                  <a:tcPr marL="95250" marR="95250" marT="76200" marB="76200">
                    <a:solidFill>
                      <a:srgbClr val="FFFFFF"/>
                    </a:solidFill>
                  </a:tcPr>
                </a:tc>
                <a:tc>
                  <a:txBody>
                    <a:bodyPr wrap="square"/>
                    <a:lstStyle/>
                    <a:p>
                      <a:pPr algn="r"/>
                      <a:r>
                        <a:rPr sz="1275" b="1">
                          <a:solidFill>
                            <a:srgbClr val="22252B"/>
                          </a:solidFill>
                          <a:latin typeface="Arial"/>
                        </a:rPr>
                        <a:t>-2 €</a:t>
                      </a:r>
                    </a:p>
                  </a:txBody>
                  <a:tcPr marL="95250" marR="95250" marT="76200" marB="76200">
                    <a:solidFill>
                      <a:srgbClr val="FFFFFF"/>
                    </a:solidFill>
                  </a:tcPr>
                </a:tc>
                <a:tc>
                  <a:txBody>
                    <a:bodyPr wrap="square"/>
                    <a:lstStyle/>
                    <a:p>
                      <a:pPr algn="r"/>
                      <a:r>
                        <a:rPr sz="1275" b="0">
                          <a:solidFill>
                            <a:srgbClr val="22252B"/>
                          </a:solidFill>
                          <a:latin typeface="Arial"/>
                        </a:rPr>
                        <a:t>23 %</a:t>
                      </a:r>
                    </a:p>
                  </a:txBody>
                  <a:tcPr marL="95250" marR="95250" marT="76200" marB="76200">
                    <a:solidFill>
                      <a:srgbClr val="FFFFFF"/>
                    </a:solidFill>
                  </a:tcPr>
                </a:tc>
              </a:tr>
              <a:tr h="391715">
                <a:tc>
                  <a:txBody>
                    <a:bodyPr wrap="square"/>
                    <a:lstStyle/>
                    <a:p>
                      <a:r>
                        <a:rPr sz="1275" b="0">
                          <a:solidFill>
                            <a:srgbClr val="22252B"/>
                          </a:solidFill>
                          <a:latin typeface="Arial"/>
                        </a:rPr>
                        <a:t>2026 (janv.–oct.)</a:t>
                      </a:r>
                    </a:p>
                  </a:txBody>
                  <a:tcPr marL="95250" marR="95250" marT="76200" marB="76200">
                    <a:solidFill>
                      <a:srgbClr val="FFFFFF"/>
                    </a:solidFill>
                  </a:tcPr>
                </a:tc>
                <a:tc>
                  <a:txBody>
                    <a:bodyPr wrap="square"/>
                    <a:lstStyle/>
                    <a:p>
                      <a:pPr algn="r"/>
                      <a:r>
                        <a:rPr sz="1275" b="0">
                          <a:solidFill>
                            <a:srgbClr val="22252B"/>
                          </a:solidFill>
                          <a:latin typeface="Arial"/>
                        </a:rPr>
                        <a:t>122 €</a:t>
                      </a:r>
                    </a:p>
                  </a:txBody>
                  <a:tcPr marL="95250" marR="95250" marT="76200" marB="76200">
                    <a:solidFill>
                      <a:srgbClr val="FFFFFF"/>
                    </a:solidFill>
                  </a:tcPr>
                </a:tc>
                <a:tc>
                  <a:txBody>
                    <a:bodyPr wrap="square"/>
                    <a:lstStyle/>
                    <a:p>
                      <a:pPr algn="r"/>
                      <a:r>
                        <a:rPr sz="1275" b="0">
                          <a:solidFill>
                            <a:srgbClr val="22252B"/>
                          </a:solidFill>
                          <a:latin typeface="Arial"/>
                        </a:rPr>
                        <a:t>82 €</a:t>
                      </a:r>
                    </a:p>
                  </a:txBody>
                  <a:tcPr marL="95250" marR="95250" marT="76200" marB="76200">
                    <a:solidFill>
                      <a:srgbClr val="FFFFFF"/>
                    </a:solidFill>
                  </a:tcPr>
                </a:tc>
                <a:tc>
                  <a:txBody>
                    <a:bodyPr wrap="square"/>
                    <a:lstStyle/>
                    <a:p>
                      <a:pPr algn="r"/>
                      <a:r>
                        <a:rPr sz="1275" b="0">
                          <a:solidFill>
                            <a:srgbClr val="22252B"/>
                          </a:solidFill>
                          <a:latin typeface="Arial"/>
                        </a:rPr>
                        <a:t>108 €</a:t>
                      </a:r>
                    </a:p>
                  </a:txBody>
                  <a:tcPr marL="95250" marR="95250" marT="76200" marB="76200">
                    <a:solidFill>
                      <a:srgbClr val="FFFFFF"/>
                    </a:solidFill>
                  </a:tcPr>
                </a:tc>
                <a:tc>
                  <a:txBody>
                    <a:bodyPr wrap="square"/>
                    <a:lstStyle/>
                    <a:p>
                      <a:pPr algn="r"/>
                      <a:r>
                        <a:rPr sz="1275" b="1">
                          <a:solidFill>
                            <a:srgbClr val="22252B"/>
                          </a:solidFill>
                          <a:latin typeface="Arial"/>
                        </a:rPr>
                        <a:t>+13 €</a:t>
                      </a:r>
                    </a:p>
                  </a:txBody>
                  <a:tcPr marL="95250" marR="95250" marT="76200" marB="76200">
                    <a:solidFill>
                      <a:srgbClr val="FFFFFF"/>
                    </a:solidFill>
                  </a:tcPr>
                </a:tc>
                <a:tc>
                  <a:txBody>
                    <a:bodyPr wrap="square"/>
                    <a:lstStyle/>
                    <a:p>
                      <a:pPr algn="r"/>
                      <a:r>
                        <a:rPr sz="1275" b="0">
                          <a:solidFill>
                            <a:srgbClr val="22252B"/>
                          </a:solidFill>
                          <a:latin typeface="Arial"/>
                        </a:rPr>
                        <a:t>24 %</a:t>
                      </a:r>
                    </a:p>
                  </a:txBody>
                  <a:tcPr marL="95250" marR="95250" marT="76200" marB="76200">
                    <a:solidFill>
                      <a:srgbClr val="FFFFFF"/>
                    </a:solidFill>
                  </a:tcPr>
                </a:tc>
              </a:tr>
            </a:tbl>
          </a:graphicData>
        </a:graphic>
      </p:graphicFrame>
      <p:sp>
        <p:nvSpPr>
          <p:cNvPr id="5" name="TextBox 4"/>
          <p:cNvSpPr txBox="1"/>
          <p:nvPr/>
        </p:nvSpPr>
        <p:spPr>
          <a:xfrm>
            <a:off x="571500" y="4548782"/>
            <a:ext cx="11049000" cy="1028700"/>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Moyennes brutes : la France couplée paie plus cher que coupée (74 contre 56 € en 2025), mais ce ne sont pas les mêmes heures (vent, saison, consommation).</a:t>
            </a:r>
          </a:p>
          <a:p>
            <a:pPr marL="152400" indent="-133350">
              <a:spcAft>
                <a:spcPts val="500"/>
              </a:spcAft>
              <a:buChar char="•"/>
            </a:pPr>
            <a:r>
              <a:rPr sz="1162" b="0">
                <a:solidFill>
                  <a:srgbClr val="22252B"/>
                </a:solidFill>
                <a:latin typeface="Arial"/>
              </a:rPr>
              <a:t>À situation française égale (même année, trimestre, moment de la journée, surplus français par tranches de 2 GW), l’écart tombe à </a:t>
            </a:r>
            <a:r>
              <a:rPr sz="1162" b="1">
                <a:solidFill>
                  <a:srgbClr val="22252B"/>
                </a:solidFill>
                <a:latin typeface="Arial"/>
              </a:rPr>
              <a:t>−2 à +9 €/MWh en 2023–2025</a:t>
            </a:r>
            <a:r>
              <a:rPr sz="1162" b="0">
                <a:solidFill>
                  <a:srgbClr val="22252B"/>
                </a:solidFill>
                <a:latin typeface="Arial"/>
              </a:rPr>
              <a:t>. Le prix français dépend d’abord de son surplus ; le couplage décide surtout s’il rejoint ses voisins ou non.</a:t>
            </a:r>
          </a:p>
          <a:p>
            <a:pPr marL="152400" indent="-133350">
              <a:spcAft>
                <a:spcPts val="500"/>
              </a:spcAft>
              <a:buChar char="•"/>
            </a:pPr>
            <a:r>
              <a:rPr sz="1162" b="0">
                <a:solidFill>
                  <a:srgbClr val="22252B"/>
                </a:solidFill>
                <a:latin typeface="Arial"/>
              </a:rPr>
              <a:t>Ce chiffre est observé, sans modèle ; il ne dit pas ce que serait une France sans aucun échange (pages 13–16, borne théorique).</a:t>
            </a:r>
          </a:p>
        </p:txBody>
      </p:sp>
      <p:sp>
        <p:nvSpPr>
          <p:cNvPr id="6" name="TextBox 5"/>
          <p:cNvSpPr txBox="1"/>
          <p:nvPr/>
        </p:nvSpPr>
        <p:spPr>
          <a:xfrm>
            <a:off x="571500" y="5634632"/>
            <a:ext cx="11049000" cy="198834"/>
          </a:xfrm>
          <a:prstGeom prst="rect">
            <a:avLst/>
          </a:prstGeom>
          <a:noFill/>
        </p:spPr>
        <p:txBody>
          <a:bodyPr wrap="square" lIns="0" rIns="0" tIns="0" bIns="0" anchor="t">
            <a:spAutoFit/>
          </a:bodyPr>
          <a:lstStyle/>
          <a:p>
            <a:r>
              <a:rPr sz="937" b="0">
                <a:solidFill>
                  <a:srgbClr val="8A8F98"/>
                </a:solidFill>
                <a:latin typeface="Arial"/>
              </a:rPr>
              <a:t>Sources : ENTSO-E, RTE éCO2mix, ENTSO-E (nucléaire disponible) ; calcul PowerKlock (observed.py).</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CONTREFACTUEL</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Comment estimer le prix d’une France isolée</a:t>
            </a:r>
          </a:p>
        </p:txBody>
      </p:sp>
      <p:sp>
        <p:nvSpPr>
          <p:cNvPr id="4" name="TextBox 3"/>
          <p:cNvSpPr txBox="1"/>
          <p:nvPr/>
        </p:nvSpPr>
        <p:spPr>
          <a:xfrm>
            <a:off x="571500" y="1101476"/>
            <a:ext cx="5512742" cy="2562225"/>
          </a:xfrm>
          <a:prstGeom prst="rect">
            <a:avLst/>
          </a:prstGeom>
          <a:noFill/>
        </p:spPr>
        <p:txBody>
          <a:bodyPr wrap="square" lIns="0" rIns="0" tIns="0" bIns="0" anchor="t">
            <a:spAutoFit/>
          </a:bodyPr>
          <a:lstStyle/>
          <a:p>
            <a:pPr marL="152400" indent="-133350">
              <a:spcAft>
                <a:spcPts val="500"/>
              </a:spcAft>
              <a:buAutoNum type="arabicPeriod"/>
            </a:pPr>
            <a:r>
              <a:rPr sz="1162" b="1">
                <a:solidFill>
                  <a:srgbClr val="22252B"/>
                </a:solidFill>
                <a:latin typeface="Arial"/>
              </a:rPr>
              <a:t>À chaque heure, le prix français est sur la courbe d’offre française</a:t>
            </a:r>
            <a:r>
              <a:rPr sz="1162" b="0">
                <a:solidFill>
                  <a:srgbClr val="22252B"/>
                </a:solidFill>
                <a:latin typeface="Arial"/>
              </a:rPr>
              <a:t>, au volume que la France produit. C’est la règle de l’enchère, couplée ou non.</a:t>
            </a:r>
          </a:p>
          <a:p>
            <a:pPr marL="152400" indent="-133350">
              <a:spcAft>
                <a:spcPts val="500"/>
              </a:spcAft>
              <a:buAutoNum type="arabicPeriod"/>
            </a:pPr>
            <a:r>
              <a:rPr sz="1162" b="0">
                <a:solidFill>
                  <a:srgbClr val="22252B"/>
                </a:solidFill>
                <a:latin typeface="Arial"/>
              </a:rPr>
              <a:t>Volume demandé aux centrales pilotables (nucléaire, lacs, STEP, gaz, charbon, fioul) :</a:t>
            </a:r>
            <a:r>
              <a:rPr sz="1162" b="1">
                <a:solidFill>
                  <a:srgbClr val="22252B"/>
                </a:solidFill>
                <a:latin typeface="Arial"/>
              </a:rPr>
              <a:t>consommation + exports nets − éolien − solaire − fil de l’eau − bioénergies</a:t>
            </a:r>
            <a:r>
              <a:rPr sz="1162" b="0">
                <a:solidFill>
                  <a:srgbClr val="22252B"/>
                </a:solidFill>
                <a:latin typeface="Arial"/>
              </a:rPr>
              <a:t> (RTE éCO2mix).</a:t>
            </a:r>
          </a:p>
          <a:p>
            <a:pPr marL="152400" indent="-133350">
              <a:spcAft>
                <a:spcPts val="500"/>
              </a:spcAft>
              <a:buAutoNum type="arabicPeriod"/>
            </a:pPr>
            <a:r>
              <a:rPr sz="1162" b="0">
                <a:solidFill>
                  <a:srgbClr val="22252B"/>
                </a:solidFill>
                <a:latin typeface="Arial"/>
              </a:rPr>
              <a:t>On apprend cette courbe sur 60 000 heures (2020–2026) : le prix monte avec ce volume et avec le prix du gaz et du CO2, il baisse quand plus de nucléaire est disponible. Le mois, l’heure, le week-end et l’année servent de contexte.</a:t>
            </a:r>
          </a:p>
          <a:p>
            <a:pPr marL="152400" indent="-133350">
              <a:spcAft>
                <a:spcPts val="500"/>
              </a:spcAft>
              <a:buAutoNum type="arabicPeriod"/>
            </a:pPr>
            <a:r>
              <a:rPr sz="1162" b="1">
                <a:solidFill>
                  <a:srgbClr val="22252B"/>
                </a:solidFill>
                <a:latin typeface="Arial"/>
              </a:rPr>
              <a:t>France isolée</a:t>
            </a:r>
            <a:r>
              <a:rPr sz="1162" b="0">
                <a:solidFill>
                  <a:srgbClr val="22252B"/>
                </a:solidFill>
                <a:latin typeface="Arial"/>
              </a:rPr>
              <a:t> : même heure, mêmes centrales disponibles, mêmes vent et soleil, mais </a:t>
            </a:r>
            <a:r>
              <a:rPr sz="1162" b="1">
                <a:solidFill>
                  <a:srgbClr val="22252B"/>
                </a:solidFill>
                <a:latin typeface="Arial"/>
              </a:rPr>
              <a:t>exports nets = 0</a:t>
            </a:r>
            <a:r>
              <a:rPr sz="1162" b="0">
                <a:solidFill>
                  <a:srgbClr val="22252B"/>
                </a:solidFill>
                <a:latin typeface="Arial"/>
              </a:rPr>
              <a:t>. On relit la courbe à ce volume.</a:t>
            </a:r>
          </a:p>
        </p:txBody>
      </p:sp>
      <p:sp>
        <p:nvSpPr>
          <p:cNvPr id="5" name="TextBox 4"/>
          <p:cNvSpPr txBox="1"/>
          <p:nvPr/>
        </p:nvSpPr>
        <p:spPr>
          <a:xfrm>
            <a:off x="6369992" y="1101476"/>
            <a:ext cx="5250507" cy="2352675"/>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Minimum nucléaire</a:t>
            </a:r>
            <a:r>
              <a:rPr sz="1162" b="0">
                <a:solidFill>
                  <a:srgbClr val="22252B"/>
                </a:solidFill>
                <a:latin typeface="Arial"/>
              </a:rPr>
              <a:t> : sous le plus bas niveau vu dans l’année (63 % du nucléaire disponible en 2024–2025), le surplus est écrêté (éolien, solaire, tranches arrêtées) ; prix = prix négatif médian de l’année (≈ 0 €).</a:t>
            </a:r>
          </a:p>
          <a:p>
            <a:pPr marL="152400" indent="-133350">
              <a:spcAft>
                <a:spcPts val="500"/>
              </a:spcAft>
              <a:buChar char="•"/>
            </a:pPr>
            <a:r>
              <a:rPr sz="1162" b="1">
                <a:solidFill>
                  <a:srgbClr val="22252B"/>
                </a:solidFill>
                <a:latin typeface="Arial"/>
              </a:rPr>
              <a:t>Pénurie</a:t>
            </a:r>
            <a:r>
              <a:rPr sz="1162" b="0">
                <a:solidFill>
                  <a:srgbClr val="22252B"/>
                </a:solidFill>
                <a:latin typeface="Arial"/>
              </a:rPr>
              <a:t> : au-delà du nucléaire disponible + le record de l’année en hydraulique, gaz, charbon et fioul, il manque de l’énergie ; prix = plafond du marché (3 000 puis 4 000 €/MWh). Ces heures sont comptées à part.</a:t>
            </a:r>
          </a:p>
          <a:p>
            <a:pPr marL="152400" indent="-133350">
              <a:spcAft>
                <a:spcPts val="500"/>
              </a:spcAft>
              <a:buChar char="•"/>
            </a:pPr>
            <a:r>
              <a:rPr sz="1162" b="1">
                <a:solidFill>
                  <a:srgbClr val="22252B"/>
                </a:solidFill>
                <a:latin typeface="Arial"/>
              </a:rPr>
              <a:t>Exports fixés à la limite JAO</a:t>
            </a:r>
            <a:r>
              <a:rPr sz="1162" b="0">
                <a:solidFill>
                  <a:srgbClr val="22252B"/>
                </a:solidFill>
                <a:latin typeface="Arial"/>
              </a:rPr>
              <a:t> : calculé puis écarté. Là où la ligne avait de la place, forcer plus d’exports pousserait le prix français au-dessus de celui des voisins, et personne n’achèterait. Le prix des heures coupées, lui, est réel.</a:t>
            </a:r>
          </a:p>
          <a:p>
            <a:pPr marL="152400" indent="-133350">
              <a:spcAft>
                <a:spcPts val="500"/>
              </a:spcAft>
              <a:buChar char="•"/>
            </a:pPr>
            <a:r>
              <a:rPr sz="1162" b="1">
                <a:solidFill>
                  <a:srgbClr val="22252B"/>
                </a:solidFill>
                <a:latin typeface="Arial"/>
              </a:rPr>
              <a:t>Ce prix n’est jamais observé : c’est une estimation de modèle.</a:t>
            </a:r>
          </a:p>
        </p:txBody>
      </p:sp>
      <p:sp>
        <p:nvSpPr>
          <p:cNvPr id="6" name="TextBox 5"/>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CONTREFACTUEL</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Validation : le modèle retrouve-t-il le prix des heures coupées ?</a:t>
            </a:r>
          </a:p>
        </p:txBody>
      </p:sp>
      <p:pic>
        <p:nvPicPr>
          <p:cNvPr id="4" name="Picture 3" descr="image.png"/>
          <p:cNvPicPr>
            <a:picLocks noChangeAspect="1"/>
          </p:cNvPicPr>
          <p:nvPr/>
        </p:nvPicPr>
        <p:blipFill>
          <a:blip r:embed="rId2"/>
          <a:stretch>
            <a:fillRect/>
          </a:stretch>
        </p:blipFill>
        <p:spPr>
          <a:xfrm>
            <a:off x="571500" y="1101476"/>
            <a:ext cx="5512742" cy="4482554"/>
          </a:xfrm>
          <a:prstGeom prst="rect">
            <a:avLst/>
          </a:prstGeom>
        </p:spPr>
      </p:pic>
      <p:sp>
        <p:nvSpPr>
          <p:cNvPr id="5" name="TextBox 4"/>
          <p:cNvSpPr txBox="1"/>
          <p:nvPr/>
        </p:nvSpPr>
        <p:spPr>
          <a:xfrm>
            <a:off x="6369992" y="1249114"/>
            <a:ext cx="5250507" cy="876300"/>
          </a:xfrm>
          <a:prstGeom prst="rect">
            <a:avLst/>
          </a:prstGeom>
          <a:noFill/>
        </p:spPr>
        <p:txBody>
          <a:bodyPr wrap="square" lIns="0" rIns="0" tIns="0" bIns="0" anchor="t">
            <a:spAutoFit/>
          </a:bodyPr>
          <a:lstStyle/>
          <a:p>
            <a:r>
              <a:rPr sz="1162" b="0">
                <a:solidFill>
                  <a:srgbClr val="22252B"/>
                </a:solidFill>
                <a:latin typeface="Arial"/>
              </a:rPr>
              <a:t>Heures coupées : le prix réel </a:t>
            </a:r>
            <a:r>
              <a:rPr sz="1162" b="1">
                <a:solidFill>
                  <a:srgbClr val="22252B"/>
                </a:solidFill>
                <a:latin typeface="Arial"/>
              </a:rPr>
              <a:t>est</a:t>
            </a:r>
            <a:r>
              <a:rPr sz="1162" b="0">
                <a:solidFill>
                  <a:srgbClr val="22252B"/>
                </a:solidFill>
                <a:latin typeface="Arial"/>
              </a:rPr>
              <a:t> le merit order français seul, avec un export fixé par la limite du réseau (la France exporte en médiane 92 % de sa limite en 2025). Chaque heure est prédite par un modèle qui ne l’a jamais vue (12 blocs de mois entiers).</a:t>
            </a:r>
          </a:p>
        </p:txBody>
      </p:sp>
      <p:graphicFrame>
        <p:nvGraphicFramePr>
          <p:cNvPr id="6" name="Table 5"/>
          <p:cNvGraphicFramePr>
            <a:graphicFrameLocks noGrp="1"/>
          </p:cNvGraphicFramePr>
          <p:nvPr/>
        </p:nvGraphicFramePr>
        <p:xfrm>
          <a:off x="6369992" y="2234951"/>
          <a:ext cx="5250506" cy="2553886"/>
        </p:xfrm>
        <a:graphic>
          <a:graphicData uri="http://schemas.openxmlformats.org/drawingml/2006/table">
            <a:tbl>
              <a:tblPr firstRow="0" bandRow="0">
                <a:tableStyleId>{5C22544A-7EE6-4342-B048-85BDC9FD1C3A}</a:tableStyleId>
              </a:tblPr>
              <a:tblGrid>
                <a:gridCol w="1206996"/>
                <a:gridCol w="1257002"/>
                <a:gridCol w="719137"/>
                <a:gridCol w="1510010"/>
                <a:gridCol w="557361"/>
              </a:tblGrid>
              <a:tr h="315069">
                <a:tc>
                  <a:txBody>
                    <a:bodyPr wrap="square"/>
                    <a:lstStyle/>
                    <a:p>
                      <a:r>
                        <a:rPr sz="1087" b="1">
                          <a:solidFill>
                            <a:srgbClr val="22252B"/>
                          </a:solidFill>
                          <a:latin typeface="Arial"/>
                        </a:rPr>
                        <a:t>Année</a:t>
                      </a:r>
                    </a:p>
                  </a:txBody>
                  <a:tcPr marL="76200" marR="76200" marT="57150" marB="57150">
                    <a:solidFill>
                      <a:srgbClr val="F5F3FB"/>
                    </a:solidFill>
                  </a:tcPr>
                </a:tc>
                <a:tc>
                  <a:txBody>
                    <a:bodyPr wrap="square"/>
                    <a:lstStyle/>
                    <a:p>
                      <a:pPr algn="r"/>
                      <a:r>
                        <a:rPr sz="1087" b="1">
                          <a:solidFill>
                            <a:srgbClr val="22252B"/>
                          </a:solidFill>
                          <a:latin typeface="Arial"/>
                        </a:rPr>
                        <a:t>Heures coupées</a:t>
                      </a:r>
                    </a:p>
                  </a:txBody>
                  <a:tcPr marL="76200" marR="76200" marT="57150" marB="57150">
                    <a:solidFill>
                      <a:srgbClr val="F5F3FB"/>
                    </a:solidFill>
                  </a:tcPr>
                </a:tc>
                <a:tc>
                  <a:txBody>
                    <a:bodyPr wrap="square"/>
                    <a:lstStyle/>
                    <a:p>
                      <a:pPr algn="r"/>
                      <a:r>
                        <a:rPr sz="1087" b="1">
                          <a:solidFill>
                            <a:srgbClr val="22252B"/>
                          </a:solidFill>
                          <a:latin typeface="Arial"/>
                        </a:rPr>
                        <a:t>Prix réel</a:t>
                      </a:r>
                    </a:p>
                  </a:txBody>
                  <a:tcPr marL="76200" marR="76200" marT="57150" marB="57150">
                    <a:solidFill>
                      <a:srgbClr val="F5F3FB"/>
                    </a:solidFill>
                  </a:tcPr>
                </a:tc>
                <a:tc>
                  <a:txBody>
                    <a:bodyPr wrap="square"/>
                    <a:lstStyle/>
                    <a:p>
                      <a:pPr algn="r"/>
                      <a:r>
                        <a:rPr sz="1087" b="1">
                          <a:solidFill>
                            <a:srgbClr val="22252B"/>
                          </a:solidFill>
                          <a:latin typeface="Arial"/>
                        </a:rPr>
                        <a:t>Écart moyen absolu</a:t>
                      </a:r>
                    </a:p>
                  </a:txBody>
                  <a:tcPr marL="76200" marR="76200" marT="57150" marB="57150">
                    <a:solidFill>
                      <a:srgbClr val="F5F3FB"/>
                    </a:solidFill>
                  </a:tcPr>
                </a:tc>
                <a:tc>
                  <a:txBody>
                    <a:bodyPr wrap="square"/>
                    <a:lstStyle/>
                    <a:p>
                      <a:pPr algn="r"/>
                      <a:r>
                        <a:rPr sz="1087" b="1">
                          <a:solidFill>
                            <a:srgbClr val="22252B"/>
                          </a:solidFill>
                          <a:latin typeface="Arial"/>
                        </a:rPr>
                        <a:t>Biais</a:t>
                      </a:r>
                    </a:p>
                  </a:txBody>
                  <a:tcPr marL="76200" marR="76200" marT="57150" marB="57150">
                    <a:solidFill>
                      <a:srgbClr val="F5F3FB"/>
                    </a:solidFill>
                  </a:tcPr>
                </a:tc>
              </a:tr>
              <a:tr h="319831">
                <a:tc>
                  <a:txBody>
                    <a:bodyPr wrap="square"/>
                    <a:lstStyle/>
                    <a:p>
                      <a:r>
                        <a:rPr sz="1087" b="0">
                          <a:solidFill>
                            <a:srgbClr val="22252B"/>
                          </a:solidFill>
                          <a:latin typeface="Arial"/>
                        </a:rPr>
                        <a:t>2020</a:t>
                      </a:r>
                    </a:p>
                  </a:txBody>
                  <a:tcPr marL="76200" marR="76200" marT="57150" marB="57150">
                    <a:solidFill>
                      <a:srgbClr val="FFFFFF"/>
                    </a:solidFill>
                  </a:tcPr>
                </a:tc>
                <a:tc>
                  <a:txBody>
                    <a:bodyPr wrap="square"/>
                    <a:lstStyle/>
                    <a:p>
                      <a:pPr algn="r"/>
                      <a:r>
                        <a:rPr sz="1087" b="0">
                          <a:solidFill>
                            <a:srgbClr val="22252B"/>
                          </a:solidFill>
                          <a:latin typeface="Arial"/>
                        </a:rPr>
                        <a:t>2 003</a:t>
                      </a:r>
                    </a:p>
                  </a:txBody>
                  <a:tcPr marL="76200" marR="76200" marT="57150" marB="57150">
                    <a:solidFill>
                      <a:srgbClr val="FFFFFF"/>
                    </a:solidFill>
                  </a:tcPr>
                </a:tc>
                <a:tc>
                  <a:txBody>
                    <a:bodyPr wrap="square"/>
                    <a:lstStyle/>
                    <a:p>
                      <a:pPr algn="r"/>
                      <a:r>
                        <a:rPr sz="1087" b="0">
                          <a:solidFill>
                            <a:srgbClr val="22252B"/>
                          </a:solidFill>
                          <a:latin typeface="Arial"/>
                        </a:rPr>
                        <a:t>26 €</a:t>
                      </a:r>
                    </a:p>
                  </a:txBody>
                  <a:tcPr marL="76200" marR="76200" marT="57150" marB="57150">
                    <a:solidFill>
                      <a:srgbClr val="FFFFFF"/>
                    </a:solidFill>
                  </a:tcPr>
                </a:tc>
                <a:tc>
                  <a:txBody>
                    <a:bodyPr wrap="square"/>
                    <a:lstStyle/>
                    <a:p>
                      <a:pPr algn="r"/>
                      <a:r>
                        <a:rPr sz="1087" b="0">
                          <a:solidFill>
                            <a:srgbClr val="22252B"/>
                          </a:solidFill>
                          <a:latin typeface="Arial"/>
                        </a:rPr>
                        <a:t>9,6 €</a:t>
                      </a:r>
                    </a:p>
                  </a:txBody>
                  <a:tcPr marL="76200" marR="76200" marT="57150" marB="57150">
                    <a:solidFill>
                      <a:srgbClr val="FFFFFF"/>
                    </a:solidFill>
                  </a:tcPr>
                </a:tc>
                <a:tc>
                  <a:txBody>
                    <a:bodyPr wrap="square"/>
                    <a:lstStyle/>
                    <a:p>
                      <a:pPr algn="r"/>
                      <a:r>
                        <a:rPr sz="1087" b="0">
                          <a:solidFill>
                            <a:srgbClr val="22252B"/>
                          </a:solidFill>
                          <a:latin typeface="Arial"/>
                        </a:rPr>
                        <a:t>+2,5 €</a:t>
                      </a:r>
                    </a:p>
                  </a:txBody>
                  <a:tcPr marL="76200" marR="76200" marT="57150" marB="57150">
                    <a:solidFill>
                      <a:srgbClr val="FFFFFF"/>
                    </a:solidFill>
                  </a:tcPr>
                </a:tc>
              </a:tr>
              <a:tr h="319831">
                <a:tc>
                  <a:txBody>
                    <a:bodyPr wrap="square"/>
                    <a:lstStyle/>
                    <a:p>
                      <a:r>
                        <a:rPr sz="1087" b="0">
                          <a:solidFill>
                            <a:srgbClr val="22252B"/>
                          </a:solidFill>
                          <a:latin typeface="Arial"/>
                        </a:rPr>
                        <a:t>2021</a:t>
                      </a:r>
                    </a:p>
                  </a:txBody>
                  <a:tcPr marL="76200" marR="76200" marT="57150" marB="57150">
                    <a:solidFill>
                      <a:srgbClr val="FFFFFF"/>
                    </a:solidFill>
                  </a:tcPr>
                </a:tc>
                <a:tc>
                  <a:txBody>
                    <a:bodyPr wrap="square"/>
                    <a:lstStyle/>
                    <a:p>
                      <a:pPr algn="r"/>
                      <a:r>
                        <a:rPr sz="1087" b="0">
                          <a:solidFill>
                            <a:srgbClr val="22252B"/>
                          </a:solidFill>
                          <a:latin typeface="Arial"/>
                        </a:rPr>
                        <a:t>1 797</a:t>
                      </a:r>
                    </a:p>
                  </a:txBody>
                  <a:tcPr marL="76200" marR="76200" marT="57150" marB="57150">
                    <a:solidFill>
                      <a:srgbClr val="FFFFFF"/>
                    </a:solidFill>
                  </a:tcPr>
                </a:tc>
                <a:tc>
                  <a:txBody>
                    <a:bodyPr wrap="square"/>
                    <a:lstStyle/>
                    <a:p>
                      <a:pPr algn="r"/>
                      <a:r>
                        <a:rPr sz="1087" b="0">
                          <a:solidFill>
                            <a:srgbClr val="22252B"/>
                          </a:solidFill>
                          <a:latin typeface="Arial"/>
                        </a:rPr>
                        <a:t>97 €</a:t>
                      </a:r>
                    </a:p>
                  </a:txBody>
                  <a:tcPr marL="76200" marR="76200" marT="57150" marB="57150">
                    <a:solidFill>
                      <a:srgbClr val="FFFFFF"/>
                    </a:solidFill>
                  </a:tcPr>
                </a:tc>
                <a:tc>
                  <a:txBody>
                    <a:bodyPr wrap="square"/>
                    <a:lstStyle/>
                    <a:p>
                      <a:pPr algn="r"/>
                      <a:r>
                        <a:rPr sz="1087" b="0">
                          <a:solidFill>
                            <a:srgbClr val="22252B"/>
                          </a:solidFill>
                          <a:latin typeface="Arial"/>
                        </a:rPr>
                        <a:t>19,5 €</a:t>
                      </a:r>
                    </a:p>
                  </a:txBody>
                  <a:tcPr marL="76200" marR="76200" marT="57150" marB="57150">
                    <a:solidFill>
                      <a:srgbClr val="FFFFFF"/>
                    </a:solidFill>
                  </a:tcPr>
                </a:tc>
                <a:tc>
                  <a:txBody>
                    <a:bodyPr wrap="square"/>
                    <a:lstStyle/>
                    <a:p>
                      <a:pPr algn="r"/>
                      <a:r>
                        <a:rPr sz="1087" b="0">
                          <a:solidFill>
                            <a:srgbClr val="22252B"/>
                          </a:solidFill>
                          <a:latin typeface="Arial"/>
                        </a:rPr>
                        <a:t>+2,6 €</a:t>
                      </a:r>
                    </a:p>
                  </a:txBody>
                  <a:tcPr marL="76200" marR="76200" marT="57150" marB="57150">
                    <a:solidFill>
                      <a:srgbClr val="FFFFFF"/>
                    </a:solidFill>
                  </a:tcPr>
                </a:tc>
              </a:tr>
              <a:tr h="319831">
                <a:tc>
                  <a:txBody>
                    <a:bodyPr wrap="square"/>
                    <a:lstStyle/>
                    <a:p>
                      <a:r>
                        <a:rPr sz="1087" b="0">
                          <a:solidFill>
                            <a:srgbClr val="22252B"/>
                          </a:solidFill>
                          <a:latin typeface="Arial"/>
                        </a:rPr>
                        <a:t>2022</a:t>
                      </a:r>
                    </a:p>
                  </a:txBody>
                  <a:tcPr marL="76200" marR="76200" marT="57150" marB="57150">
                    <a:solidFill>
                      <a:srgbClr val="FFFFFF"/>
                    </a:solidFill>
                  </a:tcPr>
                </a:tc>
                <a:tc>
                  <a:txBody>
                    <a:bodyPr wrap="square"/>
                    <a:lstStyle/>
                    <a:p>
                      <a:pPr algn="r"/>
                      <a:r>
                        <a:rPr sz="1087" b="0">
                          <a:solidFill>
                            <a:srgbClr val="22252B"/>
                          </a:solidFill>
                          <a:latin typeface="Arial"/>
                        </a:rPr>
                        <a:t>2 426</a:t>
                      </a:r>
                    </a:p>
                  </a:txBody>
                  <a:tcPr marL="76200" marR="76200" marT="57150" marB="57150">
                    <a:solidFill>
                      <a:srgbClr val="FFFFFF"/>
                    </a:solidFill>
                  </a:tcPr>
                </a:tc>
                <a:tc>
                  <a:txBody>
                    <a:bodyPr wrap="square"/>
                    <a:lstStyle/>
                    <a:p>
                      <a:pPr algn="r"/>
                      <a:r>
                        <a:rPr sz="1087" b="0">
                          <a:solidFill>
                            <a:srgbClr val="22252B"/>
                          </a:solidFill>
                          <a:latin typeface="Arial"/>
                        </a:rPr>
                        <a:t>272 €</a:t>
                      </a:r>
                    </a:p>
                  </a:txBody>
                  <a:tcPr marL="76200" marR="76200" marT="57150" marB="57150">
                    <a:solidFill>
                      <a:srgbClr val="FFFFFF"/>
                    </a:solidFill>
                  </a:tcPr>
                </a:tc>
                <a:tc>
                  <a:txBody>
                    <a:bodyPr wrap="square"/>
                    <a:lstStyle/>
                    <a:p>
                      <a:pPr algn="r"/>
                      <a:r>
                        <a:rPr sz="1087" b="0">
                          <a:solidFill>
                            <a:srgbClr val="22252B"/>
                          </a:solidFill>
                          <a:latin typeface="Arial"/>
                        </a:rPr>
                        <a:t>50,2 €</a:t>
                      </a:r>
                    </a:p>
                  </a:txBody>
                  <a:tcPr marL="76200" marR="76200" marT="57150" marB="57150">
                    <a:solidFill>
                      <a:srgbClr val="FFFFFF"/>
                    </a:solidFill>
                  </a:tcPr>
                </a:tc>
                <a:tc>
                  <a:txBody>
                    <a:bodyPr wrap="square"/>
                    <a:lstStyle/>
                    <a:p>
                      <a:pPr algn="r"/>
                      <a:r>
                        <a:rPr sz="1087" b="0">
                          <a:solidFill>
                            <a:srgbClr val="22252B"/>
                          </a:solidFill>
                          <a:latin typeface="Arial"/>
                        </a:rPr>
                        <a:t>+5,3 €</a:t>
                      </a:r>
                    </a:p>
                  </a:txBody>
                  <a:tcPr marL="76200" marR="76200" marT="57150" marB="57150">
                    <a:solidFill>
                      <a:srgbClr val="FFFFFF"/>
                    </a:solidFill>
                  </a:tcPr>
                </a:tc>
              </a:tr>
              <a:tr h="319831">
                <a:tc>
                  <a:txBody>
                    <a:bodyPr wrap="square"/>
                    <a:lstStyle/>
                    <a:p>
                      <a:r>
                        <a:rPr sz="1087" b="0">
                          <a:solidFill>
                            <a:srgbClr val="22252B"/>
                          </a:solidFill>
                          <a:latin typeface="Arial"/>
                        </a:rPr>
                        <a:t>2023</a:t>
                      </a:r>
                    </a:p>
                  </a:txBody>
                  <a:tcPr marL="76200" marR="76200" marT="57150" marB="57150">
                    <a:solidFill>
                      <a:srgbClr val="FFFFFF"/>
                    </a:solidFill>
                  </a:tcPr>
                </a:tc>
                <a:tc>
                  <a:txBody>
                    <a:bodyPr wrap="square"/>
                    <a:lstStyle/>
                    <a:p>
                      <a:pPr algn="r"/>
                      <a:r>
                        <a:rPr sz="1087" b="0">
                          <a:solidFill>
                            <a:srgbClr val="22252B"/>
                          </a:solidFill>
                          <a:latin typeface="Arial"/>
                        </a:rPr>
                        <a:t>3 425</a:t>
                      </a:r>
                    </a:p>
                  </a:txBody>
                  <a:tcPr marL="76200" marR="76200" marT="57150" marB="57150">
                    <a:solidFill>
                      <a:srgbClr val="FFFFFF"/>
                    </a:solidFill>
                  </a:tcPr>
                </a:tc>
                <a:tc>
                  <a:txBody>
                    <a:bodyPr wrap="square"/>
                    <a:lstStyle/>
                    <a:p>
                      <a:pPr algn="r"/>
                      <a:r>
                        <a:rPr sz="1087" b="0">
                          <a:solidFill>
                            <a:srgbClr val="22252B"/>
                          </a:solidFill>
                          <a:latin typeface="Arial"/>
                        </a:rPr>
                        <a:t>86 €</a:t>
                      </a:r>
                    </a:p>
                  </a:txBody>
                  <a:tcPr marL="76200" marR="76200" marT="57150" marB="57150">
                    <a:solidFill>
                      <a:srgbClr val="FFFFFF"/>
                    </a:solidFill>
                  </a:tcPr>
                </a:tc>
                <a:tc>
                  <a:txBody>
                    <a:bodyPr wrap="square"/>
                    <a:lstStyle/>
                    <a:p>
                      <a:pPr algn="r"/>
                      <a:r>
                        <a:rPr sz="1087" b="0">
                          <a:solidFill>
                            <a:srgbClr val="22252B"/>
                          </a:solidFill>
                          <a:latin typeface="Arial"/>
                        </a:rPr>
                        <a:t>17,1 €</a:t>
                      </a:r>
                    </a:p>
                  </a:txBody>
                  <a:tcPr marL="76200" marR="76200" marT="57150" marB="57150">
                    <a:solidFill>
                      <a:srgbClr val="FFFFFF"/>
                    </a:solidFill>
                  </a:tcPr>
                </a:tc>
                <a:tc>
                  <a:txBody>
                    <a:bodyPr wrap="square"/>
                    <a:lstStyle/>
                    <a:p>
                      <a:pPr algn="r"/>
                      <a:r>
                        <a:rPr sz="1087" b="0">
                          <a:solidFill>
                            <a:srgbClr val="22252B"/>
                          </a:solidFill>
                          <a:latin typeface="Arial"/>
                        </a:rPr>
                        <a:t>+2,6 €</a:t>
                      </a:r>
                    </a:p>
                  </a:txBody>
                  <a:tcPr marL="76200" marR="76200" marT="57150" marB="57150">
                    <a:solidFill>
                      <a:srgbClr val="FFFFFF"/>
                    </a:solidFill>
                  </a:tcPr>
                </a:tc>
              </a:tr>
              <a:tr h="319831">
                <a:tc>
                  <a:txBody>
                    <a:bodyPr wrap="square"/>
                    <a:lstStyle/>
                    <a:p>
                      <a:r>
                        <a:rPr sz="1087" b="0">
                          <a:solidFill>
                            <a:srgbClr val="22252B"/>
                          </a:solidFill>
                          <a:latin typeface="Arial"/>
                        </a:rPr>
                        <a:t>2024</a:t>
                      </a:r>
                    </a:p>
                  </a:txBody>
                  <a:tcPr marL="76200" marR="76200" marT="57150" marB="57150">
                    <a:solidFill>
                      <a:srgbClr val="FFFFFF"/>
                    </a:solidFill>
                  </a:tcPr>
                </a:tc>
                <a:tc>
                  <a:txBody>
                    <a:bodyPr wrap="square"/>
                    <a:lstStyle/>
                    <a:p>
                      <a:pPr algn="r"/>
                      <a:r>
                        <a:rPr sz="1087" b="0">
                          <a:solidFill>
                            <a:srgbClr val="22252B"/>
                          </a:solidFill>
                          <a:latin typeface="Arial"/>
                        </a:rPr>
                        <a:t>4 901</a:t>
                      </a:r>
                    </a:p>
                  </a:txBody>
                  <a:tcPr marL="76200" marR="76200" marT="57150" marB="57150">
                    <a:solidFill>
                      <a:srgbClr val="FFFFFF"/>
                    </a:solidFill>
                  </a:tcPr>
                </a:tc>
                <a:tc>
                  <a:txBody>
                    <a:bodyPr wrap="square"/>
                    <a:lstStyle/>
                    <a:p>
                      <a:pPr algn="r"/>
                      <a:r>
                        <a:rPr sz="1087" b="0">
                          <a:solidFill>
                            <a:srgbClr val="22252B"/>
                          </a:solidFill>
                          <a:latin typeface="Arial"/>
                        </a:rPr>
                        <a:t>54 €</a:t>
                      </a:r>
                    </a:p>
                  </a:txBody>
                  <a:tcPr marL="76200" marR="76200" marT="57150" marB="57150">
                    <a:solidFill>
                      <a:srgbClr val="FFFFFF"/>
                    </a:solidFill>
                  </a:tcPr>
                </a:tc>
                <a:tc>
                  <a:txBody>
                    <a:bodyPr wrap="square"/>
                    <a:lstStyle/>
                    <a:p>
                      <a:pPr algn="r"/>
                      <a:r>
                        <a:rPr sz="1087" b="0">
                          <a:solidFill>
                            <a:srgbClr val="22252B"/>
                          </a:solidFill>
                          <a:latin typeface="Arial"/>
                        </a:rPr>
                        <a:t>14,9 €</a:t>
                      </a:r>
                    </a:p>
                  </a:txBody>
                  <a:tcPr marL="76200" marR="76200" marT="57150" marB="57150">
                    <a:solidFill>
                      <a:srgbClr val="FFFFFF"/>
                    </a:solidFill>
                  </a:tcPr>
                </a:tc>
                <a:tc>
                  <a:txBody>
                    <a:bodyPr wrap="square"/>
                    <a:lstStyle/>
                    <a:p>
                      <a:pPr algn="r"/>
                      <a:r>
                        <a:rPr sz="1087" b="0">
                          <a:solidFill>
                            <a:srgbClr val="22252B"/>
                          </a:solidFill>
                          <a:latin typeface="Arial"/>
                        </a:rPr>
                        <a:t>+0,9 €</a:t>
                      </a:r>
                    </a:p>
                  </a:txBody>
                  <a:tcPr marL="76200" marR="76200" marT="57150" marB="57150">
                    <a:solidFill>
                      <a:srgbClr val="FFFFFF"/>
                    </a:solidFill>
                  </a:tcPr>
                </a:tc>
              </a:tr>
              <a:tr h="319831">
                <a:tc>
                  <a:txBody>
                    <a:bodyPr wrap="square"/>
                    <a:lstStyle/>
                    <a:p>
                      <a:r>
                        <a:rPr sz="1087" b="0">
                          <a:solidFill>
                            <a:srgbClr val="22252B"/>
                          </a:solidFill>
                          <a:latin typeface="Arial"/>
                        </a:rPr>
                        <a:t>2025</a:t>
                      </a:r>
                    </a:p>
                  </a:txBody>
                  <a:tcPr marL="76200" marR="76200" marT="57150" marB="57150">
                    <a:solidFill>
                      <a:srgbClr val="FFFFFF"/>
                    </a:solidFill>
                  </a:tcPr>
                </a:tc>
                <a:tc>
                  <a:txBody>
                    <a:bodyPr wrap="square"/>
                    <a:lstStyle/>
                    <a:p>
                      <a:pPr algn="r"/>
                      <a:r>
                        <a:rPr sz="1087" b="0">
                          <a:solidFill>
                            <a:srgbClr val="22252B"/>
                          </a:solidFill>
                          <a:latin typeface="Arial"/>
                        </a:rPr>
                        <a:t>4 603</a:t>
                      </a:r>
                    </a:p>
                  </a:txBody>
                  <a:tcPr marL="76200" marR="76200" marT="57150" marB="57150">
                    <a:solidFill>
                      <a:srgbClr val="FFFFFF"/>
                    </a:solidFill>
                  </a:tcPr>
                </a:tc>
                <a:tc>
                  <a:txBody>
                    <a:bodyPr wrap="square"/>
                    <a:lstStyle/>
                    <a:p>
                      <a:pPr algn="r"/>
                      <a:r>
                        <a:rPr sz="1087" b="0">
                          <a:solidFill>
                            <a:srgbClr val="22252B"/>
                          </a:solidFill>
                          <a:latin typeface="Arial"/>
                        </a:rPr>
                        <a:t>56 €</a:t>
                      </a:r>
                    </a:p>
                  </a:txBody>
                  <a:tcPr marL="76200" marR="76200" marT="57150" marB="57150">
                    <a:solidFill>
                      <a:srgbClr val="FFFFFF"/>
                    </a:solidFill>
                  </a:tcPr>
                </a:tc>
                <a:tc>
                  <a:txBody>
                    <a:bodyPr wrap="square"/>
                    <a:lstStyle/>
                    <a:p>
                      <a:pPr algn="r"/>
                      <a:r>
                        <a:rPr sz="1087" b="0">
                          <a:solidFill>
                            <a:srgbClr val="22252B"/>
                          </a:solidFill>
                          <a:latin typeface="Arial"/>
                        </a:rPr>
                        <a:t>17,2 €</a:t>
                      </a:r>
                    </a:p>
                  </a:txBody>
                  <a:tcPr marL="76200" marR="76200" marT="57150" marB="57150">
                    <a:solidFill>
                      <a:srgbClr val="FFFFFF"/>
                    </a:solidFill>
                  </a:tcPr>
                </a:tc>
                <a:tc>
                  <a:txBody>
                    <a:bodyPr wrap="square"/>
                    <a:lstStyle/>
                    <a:p>
                      <a:pPr algn="r"/>
                      <a:r>
                        <a:rPr sz="1087" b="0">
                          <a:solidFill>
                            <a:srgbClr val="22252B"/>
                          </a:solidFill>
                          <a:latin typeface="Arial"/>
                        </a:rPr>
                        <a:t>+0,6 €</a:t>
                      </a:r>
                    </a:p>
                  </a:txBody>
                  <a:tcPr marL="76200" marR="76200" marT="57150" marB="57150">
                    <a:solidFill>
                      <a:srgbClr val="FFFFFF"/>
                    </a:solidFill>
                  </a:tcPr>
                </a:tc>
              </a:tr>
              <a:tr h="319831">
                <a:tc>
                  <a:txBody>
                    <a:bodyPr wrap="square"/>
                    <a:lstStyle/>
                    <a:p>
                      <a:r>
                        <a:rPr sz="1087" b="0">
                          <a:solidFill>
                            <a:srgbClr val="22252B"/>
                          </a:solidFill>
                          <a:latin typeface="Arial"/>
                        </a:rPr>
                        <a:t>2026 (janv.–oct.)</a:t>
                      </a:r>
                    </a:p>
                  </a:txBody>
                  <a:tcPr marL="76200" marR="76200" marT="57150" marB="57150">
                    <a:solidFill>
                      <a:srgbClr val="FFFFFF"/>
                    </a:solidFill>
                  </a:tcPr>
                </a:tc>
                <a:tc>
                  <a:txBody>
                    <a:bodyPr wrap="square"/>
                    <a:lstStyle/>
                    <a:p>
                      <a:pPr algn="r"/>
                      <a:r>
                        <a:rPr sz="1087" b="0">
                          <a:solidFill>
                            <a:srgbClr val="22252B"/>
                          </a:solidFill>
                          <a:latin typeface="Arial"/>
                        </a:rPr>
                        <a:t>3 665</a:t>
                      </a:r>
                    </a:p>
                  </a:txBody>
                  <a:tcPr marL="76200" marR="76200" marT="57150" marB="57150">
                    <a:solidFill>
                      <a:srgbClr val="FFFFFF"/>
                    </a:solidFill>
                  </a:tcPr>
                </a:tc>
                <a:tc>
                  <a:txBody>
                    <a:bodyPr wrap="square"/>
                    <a:lstStyle/>
                    <a:p>
                      <a:pPr algn="r"/>
                      <a:r>
                        <a:rPr sz="1087" b="0">
                          <a:solidFill>
                            <a:srgbClr val="22252B"/>
                          </a:solidFill>
                          <a:latin typeface="Arial"/>
                        </a:rPr>
                        <a:t>82 €</a:t>
                      </a:r>
                    </a:p>
                  </a:txBody>
                  <a:tcPr marL="76200" marR="76200" marT="57150" marB="57150">
                    <a:solidFill>
                      <a:srgbClr val="FFFFFF"/>
                    </a:solidFill>
                  </a:tcPr>
                </a:tc>
                <a:tc>
                  <a:txBody>
                    <a:bodyPr wrap="square"/>
                    <a:lstStyle/>
                    <a:p>
                      <a:pPr algn="r"/>
                      <a:r>
                        <a:rPr sz="1087" b="0">
                          <a:solidFill>
                            <a:srgbClr val="22252B"/>
                          </a:solidFill>
                          <a:latin typeface="Arial"/>
                        </a:rPr>
                        <a:t>25,5 €</a:t>
                      </a:r>
                    </a:p>
                  </a:txBody>
                  <a:tcPr marL="76200" marR="76200" marT="57150" marB="57150">
                    <a:solidFill>
                      <a:srgbClr val="FFFFFF"/>
                    </a:solidFill>
                  </a:tcPr>
                </a:tc>
                <a:tc>
                  <a:txBody>
                    <a:bodyPr wrap="square"/>
                    <a:lstStyle/>
                    <a:p>
                      <a:pPr algn="r"/>
                      <a:r>
                        <a:rPr sz="1087" b="0">
                          <a:solidFill>
                            <a:srgbClr val="22252B"/>
                          </a:solidFill>
                          <a:latin typeface="Arial"/>
                        </a:rPr>
                        <a:t>+8,1 €</a:t>
                      </a:r>
                    </a:p>
                  </a:txBody>
                  <a:tcPr marL="76200" marR="76200" marT="57150" marB="57150">
                    <a:solidFill>
                      <a:srgbClr val="FFFFFF"/>
                    </a:solidFill>
                  </a:tcPr>
                </a:tc>
              </a:tr>
            </a:tbl>
          </a:graphicData>
        </a:graphic>
      </p:graphicFrame>
      <p:sp>
        <p:nvSpPr>
          <p:cNvPr id="7" name="TextBox 6"/>
          <p:cNvSpPr txBox="1"/>
          <p:nvPr/>
        </p:nvSpPr>
        <p:spPr>
          <a:xfrm>
            <a:off x="6369992" y="4793605"/>
            <a:ext cx="5250507" cy="962025"/>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Une heure seule : ± 15 à 20 €. La moyenne d’une année : biais de +1 € en 2024–2025.</a:t>
            </a:r>
          </a:p>
          <a:p>
            <a:pPr marL="152400" indent="-133350">
              <a:spcAft>
                <a:spcPts val="500"/>
              </a:spcAft>
              <a:buChar char="•"/>
            </a:pPr>
            <a:r>
              <a:rPr sz="1162" b="0">
                <a:solidFill>
                  <a:srgbClr val="22252B"/>
                </a:solidFill>
                <a:latin typeface="Arial"/>
              </a:rPr>
              <a:t>Le biais est positif chaque année : le prix isolé est plutôt </a:t>
            </a:r>
            <a:r>
              <a:rPr sz="1162" b="1">
                <a:solidFill>
                  <a:srgbClr val="22252B"/>
                </a:solidFill>
                <a:latin typeface="Arial"/>
              </a:rPr>
              <a:t>surestimé</a:t>
            </a:r>
            <a:r>
              <a:rPr sz="1162" b="0">
                <a:solidFill>
                  <a:srgbClr val="22252B"/>
                </a:solidFill>
                <a:latin typeface="Arial"/>
              </a:rPr>
              <a:t>, donc l’effet du couplage plutôt sous-estimé (surtout 2026 : +8 €).</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RÉSULTAT</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Borne théorique : le prix réel contre celui d’une France isolée (modèle)</a:t>
            </a:r>
          </a:p>
        </p:txBody>
      </p:sp>
      <p:pic>
        <p:nvPicPr>
          <p:cNvPr id="4" name="Picture 3" descr="image.png"/>
          <p:cNvPicPr>
            <a:picLocks noChangeAspect="1"/>
          </p:cNvPicPr>
          <p:nvPr/>
        </p:nvPicPr>
        <p:blipFill>
          <a:blip r:embed="rId2"/>
          <a:stretch>
            <a:fillRect/>
          </a:stretch>
        </p:blipFill>
        <p:spPr>
          <a:xfrm>
            <a:off x="571500" y="1101476"/>
            <a:ext cx="5512742" cy="3085207"/>
          </a:xfrm>
          <a:prstGeom prst="rect">
            <a:avLst/>
          </a:prstGeom>
        </p:spPr>
      </p:pic>
      <p:sp>
        <p:nvSpPr>
          <p:cNvPr id="5" name="TextBox 4"/>
          <p:cNvSpPr txBox="1"/>
          <p:nvPr/>
        </p:nvSpPr>
        <p:spPr>
          <a:xfrm>
            <a:off x="6369992" y="1101476"/>
            <a:ext cx="5250507" cy="3563391"/>
          </a:xfrm>
          <a:prstGeom prst="rect">
            <a:avLst/>
          </a:prstGeom>
          <a:noFill/>
        </p:spPr>
        <p:txBody>
          <a:bodyPr wrap="square" lIns="0" rIns="0" tIns="0" bIns="0" anchor="t">
            <a:spAutoFit/>
          </a:bodyPr>
          <a:lstStyle/>
          <a:p>
            <a:pPr marL="152400" indent="-133350">
              <a:spcAft>
                <a:spcPts val="500"/>
              </a:spcAft>
              <a:buChar char="•"/>
            </a:pPr>
            <a:r>
              <a:rPr sz="1350" b="0">
                <a:solidFill>
                  <a:srgbClr val="22252B"/>
                </a:solidFill>
                <a:latin typeface="Arial"/>
              </a:rPr>
              <a:t>2020–2021 : le couplage ajoute </a:t>
            </a:r>
            <a:r>
              <a:rPr sz="1350" b="1">
                <a:solidFill>
                  <a:srgbClr val="22252B"/>
                </a:solidFill>
                <a:latin typeface="Arial"/>
              </a:rPr>
              <a:t>14 puis 29 €/MWh</a:t>
            </a:r>
            <a:r>
              <a:rPr sz="1350" b="0">
                <a:solidFill>
                  <a:srgbClr val="22252B"/>
                </a:solidFill>
                <a:latin typeface="Arial"/>
              </a:rPr>
              <a:t> au prix français.</a:t>
            </a:r>
          </a:p>
          <a:p>
            <a:pPr marL="152400" indent="-133350">
              <a:spcAft>
                <a:spcPts val="500"/>
              </a:spcAft>
              <a:buChar char="•"/>
            </a:pPr>
            <a:r>
              <a:rPr sz="1350" b="0">
                <a:solidFill>
                  <a:srgbClr val="22252B"/>
                </a:solidFill>
                <a:latin typeface="Arial"/>
              </a:rPr>
              <a:t>2022 : l’inverse, </a:t>
            </a:r>
            <a:r>
              <a:rPr sz="1350" b="1">
                <a:solidFill>
                  <a:srgbClr val="22252B"/>
                </a:solidFill>
                <a:latin typeface="Arial"/>
              </a:rPr>
              <a:t>−22 €/MWh</a:t>
            </a:r>
            <a:r>
              <a:rPr sz="1350" b="0">
                <a:solidFill>
                  <a:srgbClr val="22252B"/>
                </a:solidFill>
                <a:latin typeface="Arial"/>
              </a:rPr>
              <a:t> : la France importe, les voisins font baisser son prix (et couvrent 89 heures où elle aurait manqué d’énergie).</a:t>
            </a:r>
          </a:p>
          <a:p>
            <a:pPr marL="152400" indent="-133350">
              <a:spcAft>
                <a:spcPts val="500"/>
              </a:spcAft>
              <a:buChar char="•"/>
            </a:pPr>
            <a:r>
              <a:rPr sz="1350" b="0">
                <a:solidFill>
                  <a:srgbClr val="22252B"/>
                </a:solidFill>
                <a:latin typeface="Arial"/>
              </a:rPr>
              <a:t>2024–2025 : </a:t>
            </a:r>
            <a:r>
              <a:rPr sz="1350" b="1">
                <a:solidFill>
                  <a:srgbClr val="22252B"/>
                </a:solidFill>
                <a:latin typeface="Arial"/>
              </a:rPr>
              <a:t>+39 et +38 €/MWh</a:t>
            </a:r>
            <a:r>
              <a:rPr sz="1350" b="0">
                <a:solidFill>
                  <a:srgbClr val="22252B"/>
                </a:solidFill>
                <a:latin typeface="Arial"/>
              </a:rPr>
              <a:t>. Une France isolée aurait eu 19 et 23 €/MWh : avec 90 TWh de trop, son nucléaire aurait modulé en permanence et elle aurait écrêté 5,2 et 8,9 TWh.</a:t>
            </a:r>
          </a:p>
          <a:p>
            <a:pPr marL="152400" indent="-133350">
              <a:spcAft>
                <a:spcPts val="500"/>
              </a:spcAft>
              <a:buChar char="•"/>
            </a:pPr>
            <a:r>
              <a:rPr sz="1350" b="0">
                <a:solidFill>
                  <a:srgbClr val="22252B"/>
                </a:solidFill>
                <a:latin typeface="Arial"/>
              </a:rPr>
              <a:t>2026 (janv.–oct.) : </a:t>
            </a:r>
            <a:r>
              <a:rPr sz="1350" b="1">
                <a:solidFill>
                  <a:srgbClr val="22252B"/>
                </a:solidFill>
                <a:latin typeface="Arial"/>
              </a:rPr>
              <a:t>+51 €/MWh</a:t>
            </a:r>
            <a:r>
              <a:rPr sz="1350" b="0">
                <a:solidFill>
                  <a:srgbClr val="22252B"/>
                </a:solidFill>
                <a:latin typeface="Arial"/>
              </a:rPr>
              <a:t> : le gaz est cher chez les voisins, la France exporte toujours ~11 GW.</a:t>
            </a:r>
          </a:p>
          <a:p>
            <a:pPr marL="152400" indent="-133350">
              <a:spcAft>
                <a:spcPts val="500"/>
              </a:spcAft>
              <a:buChar char="•"/>
            </a:pPr>
            <a:r>
              <a:rPr sz="1350" b="1">
                <a:solidFill>
                  <a:srgbClr val="22252B"/>
                </a:solidFill>
                <a:latin typeface="Arial"/>
              </a:rPr>
              <a:t>Le paradoxe</a:t>
            </a:r>
            <a:r>
              <a:rPr sz="1350" b="0">
                <a:solidFill>
                  <a:srgbClr val="22252B"/>
                </a:solidFill>
                <a:latin typeface="Arial"/>
              </a:rPr>
              <a:t> : la France est de plus en plus coupée de l’Allemagne, mais l’écart avec une France isolée grandit, car elle a de plus en plus à exporter.</a:t>
            </a:r>
          </a:p>
        </p:txBody>
      </p:sp>
      <p:sp>
        <p:nvSpPr>
          <p:cNvPr id="6" name="TextBox 5"/>
          <p:cNvSpPr txBox="1"/>
          <p:nvPr/>
        </p:nvSpPr>
        <p:spPr>
          <a:xfrm>
            <a:off x="6369992" y="4722018"/>
            <a:ext cx="5250507" cy="359568"/>
          </a:xfrm>
          <a:prstGeom prst="rect">
            <a:avLst/>
          </a:prstGeom>
          <a:noFill/>
        </p:spPr>
        <p:txBody>
          <a:bodyPr wrap="square" lIns="0" rIns="0" tIns="0" bIns="0" anchor="t">
            <a:spAutoFit/>
          </a:bodyPr>
          <a:lstStyle/>
          <a:p>
            <a:r>
              <a:rPr sz="937" b="0">
                <a:solidFill>
                  <a:srgbClr val="8A8F98"/>
                </a:solidFill>
                <a:latin typeface="Arial"/>
              </a:rPr>
              <a:t>Moyenne horaire hors heures de pénurie de la France isolée. Robustesse 2025 : 17 à 25 €/MWh selon le plancher d’écrêtement et le jeu d’apprentissage (page 30).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RÉSULTAT</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Mois par mois, 2023 – octobre 2026</a:t>
            </a:r>
          </a:p>
        </p:txBody>
      </p:sp>
      <p:pic>
        <p:nvPicPr>
          <p:cNvPr id="4" name="Picture 3" descr="image.png"/>
          <p:cNvPicPr>
            <a:picLocks noChangeAspect="1"/>
          </p:cNvPicPr>
          <p:nvPr/>
        </p:nvPicPr>
        <p:blipFill>
          <a:blip r:embed="rId2"/>
          <a:stretch>
            <a:fillRect/>
          </a:stretch>
        </p:blipFill>
        <p:spPr>
          <a:xfrm>
            <a:off x="571500" y="1101476"/>
            <a:ext cx="11049000" cy="4239071"/>
          </a:xfrm>
          <a:prstGeom prst="rect">
            <a:avLst/>
          </a:prstGeom>
        </p:spPr>
      </p:pic>
      <p:sp>
        <p:nvSpPr>
          <p:cNvPr id="5" name="TextBox 4"/>
          <p:cNvSpPr txBox="1"/>
          <p:nvPr/>
        </p:nvSpPr>
        <p:spPr>
          <a:xfrm>
            <a:off x="571500" y="5507682"/>
            <a:ext cx="11049000" cy="819150"/>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Le prix réel français reste collé à l’Allemagne en hiver, quand la France a moins de surplus. Il s’en éloigne au printemps et en été, quand le surplus déborde la ligne.</a:t>
            </a:r>
          </a:p>
          <a:p>
            <a:pPr marL="152400" indent="-133350">
              <a:spcAft>
                <a:spcPts val="500"/>
              </a:spcAft>
              <a:buChar char="•"/>
            </a:pPr>
            <a:r>
              <a:rPr sz="1162" b="0">
                <a:solidFill>
                  <a:srgbClr val="22252B"/>
                </a:solidFill>
                <a:latin typeface="Arial"/>
              </a:rPr>
              <a:t>La France isolée tombe entre −5 et +12 €/MWh d’avril à septembre 2024 et 2025 : le nucléaire module jusqu’à son minimum et l’éolien et le solaire sont écrêtés.</a:t>
            </a:r>
          </a:p>
          <a:p>
            <a:pPr marL="152400" indent="-133350">
              <a:spcAft>
                <a:spcPts val="500"/>
              </a:spcAft>
              <a:buChar char="•"/>
            </a:pPr>
            <a:r>
              <a:rPr sz="1162" b="0">
                <a:solidFill>
                  <a:srgbClr val="22252B"/>
                </a:solidFill>
                <a:latin typeface="Arial"/>
              </a:rPr>
              <a:t>Pic de janvier 2026 : vague de froid, une France isolée aurait été chère (et a manqué d’énergie 15 heures les 5 et 6 janvier).</a:t>
            </a:r>
          </a:p>
        </p:txBody>
      </p:sp>
      <p:sp>
        <p:nvSpPr>
          <p:cNvPr id="6" name="TextBox 5"/>
          <p:cNvSpPr txBox="1"/>
          <p:nvPr/>
        </p:nvSpPr>
        <p:spPr>
          <a:xfrm>
            <a:off x="571500" y="6383982"/>
            <a:ext cx="11049000" cy="198834"/>
          </a:xfrm>
          <a:prstGeom prst="rect">
            <a:avLst/>
          </a:prstGeom>
          <a:noFill/>
        </p:spPr>
        <p:txBody>
          <a:bodyPr wrap="square" lIns="0" rIns="0" tIns="0" bIns="0" anchor="t">
            <a:spAutoFit/>
          </a:bodyPr>
          <a:lstStyle/>
          <a:p>
            <a:r>
              <a:rPr sz="937" b="0">
                <a:solidFill>
                  <a:srgbClr val="8A8F98"/>
                </a:solidFill>
                <a:latin typeface="Arial"/>
              </a:rPr>
              <a:t>Sources : ENTSO-E, RTE éCO2mix ; modèle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HEURES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Les heures : quand le couplage fait monter le prix, et de combien (2025)</a:t>
            </a:r>
          </a:p>
        </p:txBody>
      </p:sp>
      <p:graphicFrame>
        <p:nvGraphicFramePr>
          <p:cNvPr id="4" name="Table 3"/>
          <p:cNvGraphicFramePr>
            <a:graphicFrameLocks noGrp="1"/>
          </p:cNvGraphicFramePr>
          <p:nvPr/>
        </p:nvGraphicFramePr>
        <p:xfrm>
          <a:off x="571500" y="1101476"/>
          <a:ext cx="11048997" cy="2525758"/>
        </p:xfrm>
        <a:graphic>
          <a:graphicData uri="http://schemas.openxmlformats.org/drawingml/2006/table">
            <a:tbl>
              <a:tblPr firstRow="0" bandRow="0">
                <a:tableStyleId>{5C22544A-7EE6-4342-B048-85BDC9FD1C3A}</a:tableStyleId>
              </a:tblPr>
              <a:tblGrid>
                <a:gridCol w="4439542"/>
                <a:gridCol w="715565"/>
                <a:gridCol w="951160"/>
                <a:gridCol w="800100"/>
                <a:gridCol w="1170384"/>
                <a:gridCol w="1304925"/>
                <a:gridCol w="1667321"/>
              </a:tblGrid>
              <a:tr h="567183">
                <a:tc>
                  <a:txBody>
                    <a:bodyPr wrap="square"/>
                    <a:lstStyle/>
                    <a:p>
                      <a:r>
                        <a:rPr sz="1125" b="1">
                          <a:solidFill>
                            <a:srgbClr val="22252B"/>
                          </a:solidFill>
                          <a:latin typeface="Arial"/>
                        </a:rPr>
                        <a:t>Cas (2025)</a:t>
                      </a:r>
                    </a:p>
                  </a:txBody>
                  <a:tcPr marL="95250" marR="95250" marT="76200" marB="76200">
                    <a:solidFill>
                      <a:srgbClr val="F5F3FB"/>
                    </a:solidFill>
                  </a:tcPr>
                </a:tc>
                <a:tc>
                  <a:txBody>
                    <a:bodyPr wrap="square"/>
                    <a:lstStyle/>
                    <a:p>
                      <a:pPr algn="r"/>
                      <a:r>
                        <a:rPr sz="1125" b="1">
                          <a:solidFill>
                            <a:srgbClr val="22252B"/>
                          </a:solidFill>
                          <a:latin typeface="Arial"/>
                        </a:rPr>
                        <a:t>Heures</a:t>
                      </a:r>
                    </a:p>
                  </a:txBody>
                  <a:tcPr marL="95250" marR="95250" marT="76200" marB="76200">
                    <a:solidFill>
                      <a:srgbClr val="F5F3FB"/>
                    </a:solidFill>
                  </a:tcPr>
                </a:tc>
                <a:tc>
                  <a:txBody>
                    <a:bodyPr wrap="square"/>
                    <a:lstStyle/>
                    <a:p>
                      <a:pPr algn="r"/>
                      <a:r>
                        <a:rPr sz="1125" b="1">
                          <a:solidFill>
                            <a:srgbClr val="22252B"/>
                          </a:solidFill>
                          <a:latin typeface="Arial"/>
                        </a:rPr>
                        <a:t>Export net</a:t>
                      </a:r>
                    </a:p>
                  </a:txBody>
                  <a:tcPr marL="95250" marR="95250" marT="76200" marB="76200">
                    <a:solidFill>
                      <a:srgbClr val="F5F3FB"/>
                    </a:solidFill>
                  </a:tcPr>
                </a:tc>
                <a:tc>
                  <a:txBody>
                    <a:bodyPr wrap="square"/>
                    <a:lstStyle/>
                    <a:p>
                      <a:pPr algn="r"/>
                      <a:r>
                        <a:rPr sz="1125" b="1">
                          <a:solidFill>
                            <a:srgbClr val="22252B"/>
                          </a:solidFill>
                          <a:latin typeface="Arial"/>
                        </a:rPr>
                        <a:t>Prix réel</a:t>
                      </a:r>
                    </a:p>
                  </a:txBody>
                  <a:tcPr marL="95250" marR="95250" marT="76200" marB="76200">
                    <a:solidFill>
                      <a:srgbClr val="F5F3FB"/>
                    </a:solidFill>
                  </a:tcPr>
                </a:tc>
                <a:tc>
                  <a:txBody>
                    <a:bodyPr wrap="square"/>
                    <a:lstStyle/>
                    <a:p>
                      <a:pPr algn="r"/>
                      <a:r>
                        <a:rPr sz="1125" b="1">
                          <a:solidFill>
                            <a:srgbClr val="22252B"/>
                          </a:solidFill>
                          <a:latin typeface="Arial"/>
                        </a:rPr>
                        <a:t>France isolée</a:t>
                      </a:r>
                    </a:p>
                    <a:p>
                      <a:pPr algn="r"/>
                      <a:r>
                        <a:rPr sz="937" b="0">
                          <a:solidFill>
                            <a:srgbClr val="777777"/>
                          </a:solidFill>
                          <a:latin typeface="Arial"/>
                        </a:rPr>
                        <a:t>modèle</a:t>
                      </a:r>
                    </a:p>
                  </a:txBody>
                  <a:tcPr marL="95250" marR="95250" marT="76200" marB="76200">
                    <a:solidFill>
                      <a:srgbClr val="F5F3FB"/>
                    </a:solidFill>
                  </a:tcPr>
                </a:tc>
                <a:tc>
                  <a:txBody>
                    <a:bodyPr wrap="square"/>
                    <a:lstStyle/>
                    <a:p>
                      <a:pPr algn="r"/>
                      <a:r>
                        <a:rPr sz="1125" b="1">
                          <a:solidFill>
                            <a:srgbClr val="22252B"/>
                          </a:solidFill>
                          <a:latin typeface="Arial"/>
                        </a:rPr>
                        <a:t>Effet sur le prix</a:t>
                      </a:r>
                    </a:p>
                  </a:txBody>
                  <a:tcPr marL="95250" marR="95250" marT="76200" marB="76200">
                    <a:solidFill>
                      <a:srgbClr val="F5F3FB"/>
                    </a:solidFill>
                  </a:tcPr>
                </a:tc>
                <a:tc>
                  <a:txBody>
                    <a:bodyPr wrap="square"/>
                    <a:lstStyle/>
                    <a:p>
                      <a:pPr algn="r"/>
                      <a:r>
                        <a:rPr sz="1125" b="1">
                          <a:solidFill>
                            <a:srgbClr val="22252B"/>
                          </a:solidFill>
                          <a:latin typeface="Arial"/>
                        </a:rPr>
                        <a:t>Rente aux frontières</a:t>
                      </a:r>
                    </a:p>
                    <a:p>
                      <a:pPr algn="r"/>
                      <a:r>
                        <a:rPr sz="937" b="0">
                          <a:solidFill>
                            <a:srgbClr val="777777"/>
                          </a:solidFill>
                          <a:latin typeface="Arial"/>
                        </a:rPr>
                        <a:t>deux côtés</a:t>
                      </a:r>
                    </a:p>
                  </a:txBody>
                  <a:tcPr marL="95250" marR="95250" marT="76200" marB="76200">
                    <a:solidFill>
                      <a:srgbClr val="F5F3FB"/>
                    </a:solidFill>
                  </a:tcPr>
                </a:tc>
              </a:tr>
              <a:tr h="391715">
                <a:tc>
                  <a:txBody>
                    <a:bodyPr wrap="square"/>
                    <a:lstStyle/>
                    <a:p>
                      <a:r>
                        <a:rPr sz="1275" b="0">
                          <a:solidFill>
                            <a:srgbClr val="22252B"/>
                          </a:solidFill>
                          <a:latin typeface="Arial"/>
                        </a:rPr>
                        <a:t>Le prix monte, la France a le prix d’au moins un voisin</a:t>
                      </a:r>
                    </a:p>
                  </a:txBody>
                  <a:tcPr marL="95250" marR="95250" marT="76200" marB="76200">
                    <a:solidFill>
                      <a:srgbClr val="FFFFFF"/>
                    </a:solidFill>
                  </a:tcPr>
                </a:tc>
                <a:tc>
                  <a:txBody>
                    <a:bodyPr wrap="square"/>
                    <a:lstStyle/>
                    <a:p>
                      <a:pPr algn="r"/>
                      <a:r>
                        <a:rPr sz="1275" b="0">
                          <a:solidFill>
                            <a:srgbClr val="22252B"/>
                          </a:solidFill>
                          <a:latin typeface="Arial"/>
                        </a:rPr>
                        <a:t>3 575</a:t>
                      </a:r>
                    </a:p>
                  </a:txBody>
                  <a:tcPr marL="95250" marR="95250" marT="76200" marB="76200">
                    <a:solidFill>
                      <a:srgbClr val="FFFFFF"/>
                    </a:solidFill>
                  </a:tcPr>
                </a:tc>
                <a:tc>
                  <a:txBody>
                    <a:bodyPr wrap="square"/>
                    <a:lstStyle/>
                    <a:p>
                      <a:pPr algn="r"/>
                      <a:r>
                        <a:rPr sz="1275" b="0">
                          <a:solidFill>
                            <a:srgbClr val="22252B"/>
                          </a:solidFill>
                          <a:latin typeface="Arial"/>
                        </a:rPr>
                        <a:t>10,9 GW</a:t>
                      </a:r>
                    </a:p>
                  </a:txBody>
                  <a:tcPr marL="95250" marR="95250" marT="76200" marB="76200">
                    <a:solidFill>
                      <a:srgbClr val="FFFFFF"/>
                    </a:solidFill>
                  </a:tcPr>
                </a:tc>
                <a:tc>
                  <a:txBody>
                    <a:bodyPr wrap="square"/>
                    <a:lstStyle/>
                    <a:p>
                      <a:pPr algn="r"/>
                      <a:r>
                        <a:rPr sz="1275" b="0">
                          <a:solidFill>
                            <a:srgbClr val="22252B"/>
                          </a:solidFill>
                          <a:latin typeface="Arial"/>
                        </a:rPr>
                        <a:t>74 €</a:t>
                      </a:r>
                    </a:p>
                  </a:txBody>
                  <a:tcPr marL="95250" marR="95250" marT="76200" marB="76200">
                    <a:solidFill>
                      <a:srgbClr val="FFFFFF"/>
                    </a:solidFill>
                  </a:tcPr>
                </a:tc>
                <a:tc>
                  <a:txBody>
                    <a:bodyPr wrap="square"/>
                    <a:lstStyle/>
                    <a:p>
                      <a:pPr algn="r"/>
                      <a:r>
                        <a:rPr sz="1275" b="0">
                          <a:solidFill>
                            <a:srgbClr val="22252B"/>
                          </a:solidFill>
                          <a:latin typeface="Arial"/>
                        </a:rPr>
                        <a:t>29 €</a:t>
                      </a:r>
                    </a:p>
                  </a:txBody>
                  <a:tcPr marL="95250" marR="95250" marT="76200" marB="76200">
                    <a:solidFill>
                      <a:srgbClr val="FFFFFF"/>
                    </a:solidFill>
                  </a:tcPr>
                </a:tc>
                <a:tc>
                  <a:txBody>
                    <a:bodyPr wrap="square"/>
                    <a:lstStyle/>
                    <a:p>
                      <a:pPr algn="r"/>
                      <a:r>
                        <a:rPr sz="1275" b="0">
                          <a:solidFill>
                            <a:srgbClr val="C8453A"/>
                          </a:solidFill>
                          <a:latin typeface="Arial"/>
                        </a:rPr>
                        <a:t>+45 €/MWh</a:t>
                      </a:r>
                    </a:p>
                  </a:txBody>
                  <a:tcPr marL="95250" marR="95250" marT="76200" marB="76200">
                    <a:solidFill>
                      <a:srgbClr val="FFFFFF"/>
                    </a:solidFill>
                  </a:tcPr>
                </a:tc>
                <a:tc>
                  <a:txBody>
                    <a:bodyPr wrap="square"/>
                    <a:lstStyle/>
                    <a:p>
                      <a:pPr algn="r"/>
                      <a:r>
                        <a:rPr sz="1275" b="0">
                          <a:solidFill>
                            <a:srgbClr val="22252B"/>
                          </a:solidFill>
                          <a:latin typeface="Arial"/>
                        </a:rPr>
                        <a:t>1,6 Md€</a:t>
                      </a:r>
                    </a:p>
                  </a:txBody>
                  <a:tcPr marL="95250" marR="95250" marT="76200" marB="76200">
                    <a:solidFill>
                      <a:srgbClr val="FFFFFF"/>
                    </a:solidFill>
                  </a:tcPr>
                </a:tc>
              </a:tr>
              <a:tr h="391715">
                <a:tc>
                  <a:txBody>
                    <a:bodyPr wrap="square"/>
                    <a:lstStyle/>
                    <a:p>
                      <a:r>
                        <a:rPr sz="1275" b="0">
                          <a:solidFill>
                            <a:srgbClr val="22252B"/>
                          </a:solidFill>
                          <a:latin typeface="Arial"/>
                        </a:rPr>
                        <a:t>Le prix monte, la France est coupée de tous ses voisins</a:t>
                      </a:r>
                    </a:p>
                  </a:txBody>
                  <a:tcPr marL="95250" marR="95250" marT="76200" marB="76200">
                    <a:solidFill>
                      <a:srgbClr val="FFFFFF"/>
                    </a:solidFill>
                  </a:tcPr>
                </a:tc>
                <a:tc>
                  <a:txBody>
                    <a:bodyPr wrap="square"/>
                    <a:lstStyle/>
                    <a:p>
                      <a:pPr algn="r"/>
                      <a:r>
                        <a:rPr sz="1275" b="0">
                          <a:solidFill>
                            <a:srgbClr val="22252B"/>
                          </a:solidFill>
                          <a:latin typeface="Arial"/>
                        </a:rPr>
                        <a:t>4 091</a:t>
                      </a:r>
                    </a:p>
                  </a:txBody>
                  <a:tcPr marL="95250" marR="95250" marT="76200" marB="76200">
                    <a:solidFill>
                      <a:srgbClr val="FFFFFF"/>
                    </a:solidFill>
                  </a:tcPr>
                </a:tc>
                <a:tc>
                  <a:txBody>
                    <a:bodyPr wrap="square"/>
                    <a:lstStyle/>
                    <a:p>
                      <a:pPr algn="r"/>
                      <a:r>
                        <a:rPr sz="1275" b="0">
                          <a:solidFill>
                            <a:srgbClr val="22252B"/>
                          </a:solidFill>
                          <a:latin typeface="Arial"/>
                        </a:rPr>
                        <a:t>11,4 GW</a:t>
                      </a:r>
                    </a:p>
                  </a:txBody>
                  <a:tcPr marL="95250" marR="95250" marT="76200" marB="76200">
                    <a:solidFill>
                      <a:srgbClr val="FFFFFF"/>
                    </a:solidFill>
                  </a:tcPr>
                </a:tc>
                <a:tc>
                  <a:txBody>
                    <a:bodyPr wrap="square"/>
                    <a:lstStyle/>
                    <a:p>
                      <a:pPr algn="r"/>
                      <a:r>
                        <a:rPr sz="1275" b="0">
                          <a:solidFill>
                            <a:srgbClr val="22252B"/>
                          </a:solidFill>
                          <a:latin typeface="Arial"/>
                        </a:rPr>
                        <a:t>61 €</a:t>
                      </a:r>
                    </a:p>
                  </a:txBody>
                  <a:tcPr marL="95250" marR="95250" marT="76200" marB="76200">
                    <a:solidFill>
                      <a:srgbClr val="FFFFFF"/>
                    </a:solidFill>
                  </a:tcPr>
                </a:tc>
                <a:tc>
                  <a:txBody>
                    <a:bodyPr wrap="square"/>
                    <a:lstStyle/>
                    <a:p>
                      <a:pPr algn="r"/>
                      <a:r>
                        <a:rPr sz="1275" b="0">
                          <a:solidFill>
                            <a:srgbClr val="22252B"/>
                          </a:solidFill>
                          <a:latin typeface="Arial"/>
                        </a:rPr>
                        <a:t>17 €</a:t>
                      </a:r>
                    </a:p>
                  </a:txBody>
                  <a:tcPr marL="95250" marR="95250" marT="76200" marB="76200">
                    <a:solidFill>
                      <a:srgbClr val="FFFFFF"/>
                    </a:solidFill>
                  </a:tcPr>
                </a:tc>
                <a:tc>
                  <a:txBody>
                    <a:bodyPr wrap="square"/>
                    <a:lstStyle/>
                    <a:p>
                      <a:pPr algn="r"/>
                      <a:r>
                        <a:rPr sz="1275" b="0">
                          <a:solidFill>
                            <a:srgbClr val="C8453A"/>
                          </a:solidFill>
                          <a:latin typeface="Arial"/>
                        </a:rPr>
                        <a:t>+44 €/MWh</a:t>
                      </a:r>
                    </a:p>
                  </a:txBody>
                  <a:tcPr marL="95250" marR="95250" marT="76200" marB="76200">
                    <a:solidFill>
                      <a:srgbClr val="FFFFFF"/>
                    </a:solidFill>
                  </a:tcPr>
                </a:tc>
                <a:tc>
                  <a:txBody>
                    <a:bodyPr wrap="square"/>
                    <a:lstStyle/>
                    <a:p>
                      <a:pPr algn="r"/>
                      <a:r>
                        <a:rPr sz="1275" b="0">
                          <a:solidFill>
                            <a:srgbClr val="22252B"/>
                          </a:solidFill>
                          <a:latin typeface="Arial"/>
                        </a:rPr>
                        <a:t>2,4 Md€</a:t>
                      </a:r>
                    </a:p>
                  </a:txBody>
                  <a:tcPr marL="95250" marR="95250" marT="76200" marB="76200">
                    <a:solidFill>
                      <a:srgbClr val="FFFFFF"/>
                    </a:solidFill>
                  </a:tcPr>
                </a:tc>
              </a:tr>
              <a:tr h="391715">
                <a:tc>
                  <a:txBody>
                    <a:bodyPr wrap="square"/>
                    <a:lstStyle/>
                    <a:p>
                      <a:r>
                        <a:rPr sz="1275" b="0">
                          <a:solidFill>
                            <a:srgbClr val="22252B"/>
                          </a:solidFill>
                          <a:latin typeface="Arial"/>
                        </a:rPr>
                        <a:t>Pas d’effet sur le prix (moins de 5 €/MWh)</a:t>
                      </a:r>
                    </a:p>
                  </a:txBody>
                  <a:tcPr marL="95250" marR="95250" marT="76200" marB="76200">
                    <a:solidFill>
                      <a:srgbClr val="FFFFFF"/>
                    </a:solidFill>
                  </a:tcPr>
                </a:tc>
                <a:tc>
                  <a:txBody>
                    <a:bodyPr wrap="square"/>
                    <a:lstStyle/>
                    <a:p>
                      <a:pPr algn="r"/>
                      <a:r>
                        <a:rPr sz="1275" b="0">
                          <a:solidFill>
                            <a:srgbClr val="22252B"/>
                          </a:solidFill>
                          <a:latin typeface="Arial"/>
                        </a:rPr>
                        <a:t>897</a:t>
                      </a:r>
                    </a:p>
                  </a:txBody>
                  <a:tcPr marL="95250" marR="95250" marT="76200" marB="76200">
                    <a:solidFill>
                      <a:srgbClr val="FFFFFF"/>
                    </a:solidFill>
                  </a:tcPr>
                </a:tc>
                <a:tc>
                  <a:txBody>
                    <a:bodyPr wrap="square"/>
                    <a:lstStyle/>
                    <a:p>
                      <a:pPr algn="r"/>
                      <a:r>
                        <a:rPr sz="1275" b="0">
                          <a:solidFill>
                            <a:srgbClr val="22252B"/>
                          </a:solidFill>
                          <a:latin typeface="Arial"/>
                        </a:rPr>
                        <a:t>8,0 GW</a:t>
                      </a:r>
                    </a:p>
                  </a:txBody>
                  <a:tcPr marL="95250" marR="95250" marT="76200" marB="76200">
                    <a:solidFill>
                      <a:srgbClr val="FFFFFF"/>
                    </a:solidFill>
                  </a:tcPr>
                </a:tc>
                <a:tc>
                  <a:txBody>
                    <a:bodyPr wrap="square"/>
                    <a:lstStyle/>
                    <a:p>
                      <a:pPr algn="r"/>
                      <a:r>
                        <a:rPr sz="1275" b="0">
                          <a:solidFill>
                            <a:srgbClr val="22252B"/>
                          </a:solidFill>
                          <a:latin typeface="Arial"/>
                        </a:rPr>
                        <a:t>14 €</a:t>
                      </a:r>
                    </a:p>
                  </a:txBody>
                  <a:tcPr marL="95250" marR="95250" marT="76200" marB="76200">
                    <a:solidFill>
                      <a:srgbClr val="FFFFFF"/>
                    </a:solidFill>
                  </a:tcPr>
                </a:tc>
                <a:tc>
                  <a:txBody>
                    <a:bodyPr wrap="square"/>
                    <a:lstStyle/>
                    <a:p>
                      <a:pPr algn="r"/>
                      <a:r>
                        <a:rPr sz="1275" b="0">
                          <a:solidFill>
                            <a:srgbClr val="22252B"/>
                          </a:solidFill>
                          <a:latin typeface="Arial"/>
                        </a:rPr>
                        <a:t>14 €</a:t>
                      </a:r>
                    </a:p>
                  </a:txBody>
                  <a:tcPr marL="95250" marR="95250" marT="76200" marB="76200">
                    <a:solidFill>
                      <a:srgbClr val="FFFFFF"/>
                    </a:solidFill>
                  </a:tcPr>
                </a:tc>
                <a:tc>
                  <a:txBody>
                    <a:bodyPr wrap="square"/>
                    <a:lstStyle/>
                    <a:p>
                      <a:pPr algn="r"/>
                      <a:r>
                        <a:rPr sz="1275" b="0">
                          <a:solidFill>
                            <a:srgbClr val="22252B"/>
                          </a:solidFill>
                          <a:latin typeface="Arial"/>
                        </a:rPr>
                        <a:t>+1 €/MWh</a:t>
                      </a:r>
                    </a:p>
                  </a:txBody>
                  <a:tcPr marL="95250" marR="95250" marT="76200" marB="76200">
                    <a:solidFill>
                      <a:srgbClr val="FFFFFF"/>
                    </a:solidFill>
                  </a:tcPr>
                </a:tc>
                <a:tc>
                  <a:txBody>
                    <a:bodyPr wrap="square"/>
                    <a:lstStyle/>
                    <a:p>
                      <a:pPr algn="r"/>
                      <a:r>
                        <a:rPr sz="1275" b="0">
                          <a:solidFill>
                            <a:srgbClr val="22252B"/>
                          </a:solidFill>
                          <a:latin typeface="Arial"/>
                        </a:rPr>
                        <a:t>0,5 Md€</a:t>
                      </a:r>
                    </a:p>
                  </a:txBody>
                  <a:tcPr marL="95250" marR="95250" marT="76200" marB="76200">
                    <a:solidFill>
                      <a:srgbClr val="FFFFFF"/>
                    </a:solidFill>
                  </a:tcPr>
                </a:tc>
              </a:tr>
              <a:tr h="391715">
                <a:tc>
                  <a:txBody>
                    <a:bodyPr wrap="square"/>
                    <a:lstStyle/>
                    <a:p>
                      <a:r>
                        <a:rPr sz="1275" b="0">
                          <a:solidFill>
                            <a:srgbClr val="22252B"/>
                          </a:solidFill>
                          <a:latin typeface="Arial"/>
                        </a:rPr>
                        <a:t>Le prix baisse</a:t>
                      </a:r>
                    </a:p>
                  </a:txBody>
                  <a:tcPr marL="95250" marR="95250" marT="76200" marB="76200">
                    <a:solidFill>
                      <a:srgbClr val="FFFFFF"/>
                    </a:solidFill>
                  </a:tcPr>
                </a:tc>
                <a:tc>
                  <a:txBody>
                    <a:bodyPr wrap="square"/>
                    <a:lstStyle/>
                    <a:p>
                      <a:pPr algn="r"/>
                      <a:r>
                        <a:rPr sz="1275" b="0">
                          <a:solidFill>
                            <a:srgbClr val="22252B"/>
                          </a:solidFill>
                          <a:latin typeface="Arial"/>
                        </a:rPr>
                        <a:t>196</a:t>
                      </a:r>
                    </a:p>
                  </a:txBody>
                  <a:tcPr marL="95250" marR="95250" marT="76200" marB="76200">
                    <a:solidFill>
                      <a:srgbClr val="FFFFFF"/>
                    </a:solidFill>
                  </a:tcPr>
                </a:tc>
                <a:tc>
                  <a:txBody>
                    <a:bodyPr wrap="square"/>
                    <a:lstStyle/>
                    <a:p>
                      <a:pPr algn="r"/>
                      <a:r>
                        <a:rPr sz="1275" b="0">
                          <a:solidFill>
                            <a:srgbClr val="22252B"/>
                          </a:solidFill>
                          <a:latin typeface="Arial"/>
                        </a:rPr>
                        <a:t>2,2 GW</a:t>
                      </a:r>
                    </a:p>
                  </a:txBody>
                  <a:tcPr marL="95250" marR="95250" marT="76200" marB="76200">
                    <a:solidFill>
                      <a:srgbClr val="FFFFFF"/>
                    </a:solidFill>
                  </a:tcPr>
                </a:tc>
                <a:tc>
                  <a:txBody>
                    <a:bodyPr wrap="square"/>
                    <a:lstStyle/>
                    <a:p>
                      <a:pPr algn="r"/>
                      <a:r>
                        <a:rPr sz="1275" b="0">
                          <a:solidFill>
                            <a:srgbClr val="22252B"/>
                          </a:solidFill>
                          <a:latin typeface="Arial"/>
                        </a:rPr>
                        <a:t>34 €</a:t>
                      </a:r>
                    </a:p>
                  </a:txBody>
                  <a:tcPr marL="95250" marR="95250" marT="76200" marB="76200">
                    <a:solidFill>
                      <a:srgbClr val="FFFFFF"/>
                    </a:solidFill>
                  </a:tcPr>
                </a:tc>
                <a:tc>
                  <a:txBody>
                    <a:bodyPr wrap="square"/>
                    <a:lstStyle/>
                    <a:p>
                      <a:pPr algn="r"/>
                      <a:r>
                        <a:rPr sz="1275" b="0">
                          <a:solidFill>
                            <a:srgbClr val="22252B"/>
                          </a:solidFill>
                          <a:latin typeface="Arial"/>
                        </a:rPr>
                        <a:t>56 €</a:t>
                      </a:r>
                    </a:p>
                  </a:txBody>
                  <a:tcPr marL="95250" marR="95250" marT="76200" marB="76200">
                    <a:solidFill>
                      <a:srgbClr val="FFFFFF"/>
                    </a:solidFill>
                  </a:tcPr>
                </a:tc>
                <a:tc>
                  <a:txBody>
                    <a:bodyPr wrap="square"/>
                    <a:lstStyle/>
                    <a:p>
                      <a:pPr algn="r"/>
                      <a:r>
                        <a:rPr sz="1275" b="0">
                          <a:solidFill>
                            <a:srgbClr val="3F8F5A"/>
                          </a:solidFill>
                          <a:latin typeface="Arial"/>
                        </a:rPr>
                        <a:t>-22 €/MWh</a:t>
                      </a:r>
                    </a:p>
                  </a:txBody>
                  <a:tcPr marL="95250" marR="95250" marT="76200" marB="76200">
                    <a:solidFill>
                      <a:srgbClr val="FFFFFF"/>
                    </a:solidFill>
                  </a:tcPr>
                </a:tc>
                <a:tc>
                  <a:txBody>
                    <a:bodyPr wrap="square"/>
                    <a:lstStyle/>
                    <a:p>
                      <a:pPr algn="r"/>
                      <a:r>
                        <a:rPr sz="1275" b="0">
                          <a:solidFill>
                            <a:srgbClr val="22252B"/>
                          </a:solidFill>
                          <a:latin typeface="Arial"/>
                        </a:rPr>
                        <a:t>0,1 Md€</a:t>
                      </a:r>
                    </a:p>
                  </a:txBody>
                  <a:tcPr marL="95250" marR="95250" marT="76200" marB="76200">
                    <a:solidFill>
                      <a:srgbClr val="FFFFFF"/>
                    </a:solidFill>
                  </a:tcPr>
                </a:tc>
              </a:tr>
              <a:tr h="391715">
                <a:tc>
                  <a:txBody>
                    <a:bodyPr wrap="square"/>
                    <a:lstStyle/>
                    <a:p>
                      <a:r>
                        <a:rPr sz="1275" b="0">
                          <a:solidFill>
                            <a:srgbClr val="22252B"/>
                          </a:solidFill>
                          <a:latin typeface="Arial"/>
                        </a:rPr>
                        <a:t>La France seule aurait manqué d’énergie</a:t>
                      </a:r>
                    </a:p>
                  </a:txBody>
                  <a:tcPr marL="95250" marR="95250" marT="76200" marB="76200">
                    <a:solidFill>
                      <a:srgbClr val="FFFFFF"/>
                    </a:solidFill>
                  </a:tcPr>
                </a:tc>
                <a:tc>
                  <a:txBody>
                    <a:bodyPr wrap="square"/>
                    <a:lstStyle/>
                    <a:p>
                      <a:pPr algn="r"/>
                      <a:r>
                        <a:rPr sz="1275" b="0">
                          <a:solidFill>
                            <a:srgbClr val="22252B"/>
                          </a:solidFill>
                          <a:latin typeface="Arial"/>
                        </a:rPr>
                        <a:t>0</a:t>
                      </a:r>
                    </a:p>
                  </a:txBody>
                  <a:tcPr marL="95250" marR="95250" marT="76200" marB="76200">
                    <a:solidFill>
                      <a:srgbClr val="FFFFFF"/>
                    </a:solidFill>
                  </a:tcPr>
                </a:tc>
                <a:tc>
                  <a:txBody>
                    <a:bodyPr wrap="square"/>
                    <a:lstStyle/>
                    <a:p>
                      <a:pPr algn="r"/>
                      <a:r>
                        <a:rPr sz="1275" b="0">
                          <a:solidFill>
                            <a:srgbClr val="22252B"/>
                          </a:solidFill>
                          <a:latin typeface="Arial"/>
                        </a:rPr>
                        <a:t>–</a:t>
                      </a:r>
                    </a:p>
                  </a:txBody>
                  <a:tcPr marL="95250" marR="95250" marT="76200" marB="76200">
                    <a:solidFill>
                      <a:srgbClr val="FFFFFF"/>
                    </a:solidFill>
                  </a:tcPr>
                </a:tc>
                <a:tc>
                  <a:txBody>
                    <a:bodyPr wrap="square"/>
                    <a:lstStyle/>
                    <a:p>
                      <a:pPr algn="r"/>
                      <a:r>
                        <a:rPr sz="1275" b="0">
                          <a:solidFill>
                            <a:srgbClr val="22252B"/>
                          </a:solidFill>
                          <a:latin typeface="Arial"/>
                        </a:rPr>
                        <a:t>–</a:t>
                      </a:r>
                    </a:p>
                  </a:txBody>
                  <a:tcPr marL="95250" marR="95250" marT="76200" marB="76200">
                    <a:solidFill>
                      <a:srgbClr val="FFFFFF"/>
                    </a:solidFill>
                  </a:tcPr>
                </a:tc>
                <a:tc>
                  <a:txBody>
                    <a:bodyPr wrap="square"/>
                    <a:lstStyle/>
                    <a:p>
                      <a:pPr algn="r"/>
                      <a:r>
                        <a:rPr sz="1275" b="0">
                          <a:solidFill>
                            <a:srgbClr val="22252B"/>
                          </a:solidFill>
                          <a:latin typeface="Arial"/>
                        </a:rPr>
                        <a:t>–</a:t>
                      </a:r>
                    </a:p>
                  </a:txBody>
                  <a:tcPr marL="95250" marR="95250" marT="76200" marB="76200">
                    <a:solidFill>
                      <a:srgbClr val="FFFFFF"/>
                    </a:solidFill>
                  </a:tcPr>
                </a:tc>
                <a:tc>
                  <a:txBody>
                    <a:bodyPr wrap="square"/>
                    <a:lstStyle/>
                    <a:p>
                      <a:pPr algn="r"/>
                      <a:r>
                        <a:rPr sz="1275" b="0">
                          <a:solidFill>
                            <a:srgbClr val="22252B"/>
                          </a:solidFill>
                          <a:latin typeface="Arial"/>
                        </a:rPr>
                        <a:t>–</a:t>
                      </a:r>
                    </a:p>
                  </a:txBody>
                  <a:tcPr marL="95250" marR="95250" marT="76200" marB="76200">
                    <a:solidFill>
                      <a:srgbClr val="FFFFFF"/>
                    </a:solidFill>
                  </a:tcPr>
                </a:tc>
                <a:tc>
                  <a:txBody>
                    <a:bodyPr wrap="square"/>
                    <a:lstStyle/>
                    <a:p>
                      <a:pPr algn="r"/>
                      <a:r>
                        <a:rPr sz="1275" b="0">
                          <a:solidFill>
                            <a:srgbClr val="22252B"/>
                          </a:solidFill>
                          <a:latin typeface="Arial"/>
                        </a:rPr>
                        <a:t>0,0 Md€</a:t>
                      </a:r>
                    </a:p>
                  </a:txBody>
                  <a:tcPr marL="95250" marR="95250" marT="76200" marB="76200">
                    <a:solidFill>
                      <a:srgbClr val="FFFFFF"/>
                    </a:solidFill>
                  </a:tcPr>
                </a:tc>
              </a:tr>
            </a:tbl>
          </a:graphicData>
        </a:graphic>
      </p:graphicFrame>
      <p:sp>
        <p:nvSpPr>
          <p:cNvPr id="5" name="TextBox 4"/>
          <p:cNvSpPr txBox="1"/>
          <p:nvPr/>
        </p:nvSpPr>
        <p:spPr>
          <a:xfrm>
            <a:off x="571500" y="3784401"/>
            <a:ext cx="11049000" cy="1171575"/>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Coupée, la France voit son prix monter autant que couplée</a:t>
            </a:r>
            <a:r>
              <a:rPr sz="1162" b="0">
                <a:solidFill>
                  <a:srgbClr val="22252B"/>
                </a:solidFill>
                <a:latin typeface="Arial"/>
              </a:rPr>
              <a:t> (+44 contre +45 €/MWh) : elle exporte encore 11 GW à pleine ligne ; sans ces exports son prix tomberait à 17 €. Ce qui change, c’est le partage de ce que paie l’acheteur étranger : couplée, presque tout va aux producteurs français ; coupée, l’écart entre son prix (94 € en Allemagne) et le prix français (61 €) va aux gestionnaires de réseau.</a:t>
            </a:r>
          </a:p>
          <a:p>
            <a:pPr marL="152400" indent="-133350">
              <a:spcAft>
                <a:spcPts val="500"/>
              </a:spcAft>
              <a:buChar char="•"/>
            </a:pPr>
            <a:r>
              <a:rPr sz="1162" b="1">
                <a:solidFill>
                  <a:srgbClr val="22252B"/>
                </a:solidFill>
                <a:latin typeface="Arial"/>
              </a:rPr>
              <a:t>Pas d’effet sur le prix, mais une rente</a:t>
            </a:r>
            <a:r>
              <a:rPr sz="1162" b="0">
                <a:solidFill>
                  <a:srgbClr val="22252B"/>
                </a:solidFill>
                <a:latin typeface="Arial"/>
              </a:rPr>
              <a:t> : environ 900 heures de très gros surplus (printemps, midi). La France exporte 8 GW mais son prix reste au plancher (~15 €) : seule, elle aurait arrêté plus d’éolien, de solaire ou de nucléaire. Les voisins paient ces MWh plus cher : 0,5 Md€ de rente.</a:t>
            </a:r>
          </a:p>
        </p:txBody>
      </p:sp>
      <p:sp>
        <p:nvSpPr>
          <p:cNvPr id="6" name="TextBox 5"/>
          <p:cNvSpPr txBox="1"/>
          <p:nvPr/>
        </p:nvSpPr>
        <p:spPr>
          <a:xfrm>
            <a:off x="571500" y="5013126"/>
            <a:ext cx="11049000" cy="359568"/>
          </a:xfrm>
          <a:prstGeom prst="rect">
            <a:avLst/>
          </a:prstGeom>
          <a:noFill/>
        </p:spPr>
        <p:txBody>
          <a:bodyPr wrap="square" lIns="0" rIns="0" tIns="0" bIns="0" anchor="t">
            <a:spAutoFit/>
          </a:bodyPr>
          <a:lstStyle/>
          <a:p>
            <a:r>
              <a:rPr sz="937" b="0">
                <a:solidFill>
                  <a:srgbClr val="8A8F98"/>
                </a:solidFill>
                <a:latin typeface="Arial"/>
              </a:rPr>
              <a:t>France isolée : estimation de modèle, jamais observée ; erreur ± 15 à 20 €/MWh sur une heure, biais annuel +0,6 à +2,6 €/MWh en 2020–2025, +8 € en 2026 (page 14). Seuil de 5 €/MWh : seuil de lecture. Rente = écart de prix × échange commercial programmé (ENTSO-E via Energy-Charts), au quart d’heure.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HEURES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Les heures, année par année</a:t>
            </a:r>
          </a:p>
        </p:txBody>
      </p:sp>
      <p:graphicFrame>
        <p:nvGraphicFramePr>
          <p:cNvPr id="4" name="Table 3"/>
          <p:cNvGraphicFramePr>
            <a:graphicFrameLocks noGrp="1"/>
          </p:cNvGraphicFramePr>
          <p:nvPr/>
        </p:nvGraphicFramePr>
        <p:xfrm>
          <a:off x="571500" y="1101476"/>
          <a:ext cx="11048997" cy="2553886"/>
        </p:xfrm>
        <a:graphic>
          <a:graphicData uri="http://schemas.openxmlformats.org/drawingml/2006/table">
            <a:tbl>
              <a:tblPr firstRow="0" bandRow="0">
                <a:tableStyleId>{5C22544A-7EE6-4342-B048-85BDC9FD1C3A}</a:tableStyleId>
              </a:tblPr>
              <a:tblGrid>
                <a:gridCol w="1377553"/>
                <a:gridCol w="1244649"/>
                <a:gridCol w="1082129"/>
                <a:gridCol w="1822698"/>
                <a:gridCol w="1895177"/>
                <a:gridCol w="1262955"/>
                <a:gridCol w="1082129"/>
                <a:gridCol w="1281707"/>
              </a:tblGrid>
              <a:tr h="315069">
                <a:tc>
                  <a:txBody>
                    <a:bodyPr wrap="square"/>
                    <a:lstStyle/>
                    <a:p>
                      <a:r>
                        <a:rPr sz="1087" b="1">
                          <a:solidFill>
                            <a:srgbClr val="22252B"/>
                          </a:solidFill>
                          <a:latin typeface="Arial"/>
                        </a:rPr>
                        <a:t>Année</a:t>
                      </a:r>
                    </a:p>
                  </a:txBody>
                  <a:tcPr marL="76200" marR="76200" marT="57150" marB="57150">
                    <a:solidFill>
                      <a:srgbClr val="F5F3FB"/>
                    </a:solidFill>
                  </a:tcPr>
                </a:tc>
                <a:tc>
                  <a:txBody>
                    <a:bodyPr wrap="square"/>
                    <a:lstStyle/>
                    <a:p>
                      <a:pPr algn="r"/>
                      <a:r>
                        <a:rPr sz="1087" b="1">
                          <a:solidFill>
                            <a:srgbClr val="22252B"/>
                          </a:solidFill>
                          <a:latin typeface="Arial"/>
                        </a:rPr>
                        <a:t>Le prix monte</a:t>
                      </a:r>
                    </a:p>
                  </a:txBody>
                  <a:tcPr marL="76200" marR="76200" marT="57150" marB="57150">
                    <a:solidFill>
                      <a:srgbClr val="F5F3FB"/>
                    </a:solidFill>
                  </a:tcPr>
                </a:tc>
                <a:tc>
                  <a:txBody>
                    <a:bodyPr wrap="square"/>
                    <a:lstStyle/>
                    <a:p>
                      <a:pPr algn="r"/>
                      <a:r>
                        <a:rPr sz="1087" b="1">
                          <a:solidFill>
                            <a:srgbClr val="22252B"/>
                          </a:solidFill>
                          <a:latin typeface="Arial"/>
                        </a:rPr>
                        <a:t>de combien</a:t>
                      </a:r>
                    </a:p>
                  </a:txBody>
                  <a:tcPr marL="76200" marR="76200" marT="57150" marB="57150">
                    <a:solidFill>
                      <a:srgbClr val="F5F3FB"/>
                    </a:solidFill>
                  </a:tcPr>
                </a:tc>
                <a:tc>
                  <a:txBody>
                    <a:bodyPr wrap="square"/>
                    <a:lstStyle/>
                    <a:p>
                      <a:pPr algn="r"/>
                      <a:r>
                        <a:rPr sz="1087" b="1">
                          <a:solidFill>
                            <a:srgbClr val="22252B"/>
                          </a:solidFill>
                          <a:latin typeface="Arial"/>
                        </a:rPr>
                        <a:t>Pas d’effet sur le prix</a:t>
                      </a:r>
                    </a:p>
                  </a:txBody>
                  <a:tcPr marL="76200" marR="76200" marT="57150" marB="57150">
                    <a:solidFill>
                      <a:srgbClr val="F5F3FB"/>
                    </a:solidFill>
                  </a:tcPr>
                </a:tc>
                <a:tc>
                  <a:txBody>
                    <a:bodyPr wrap="square"/>
                    <a:lstStyle/>
                    <a:p>
                      <a:pPr algn="r"/>
                      <a:r>
                        <a:rPr sz="1087" b="1">
                          <a:solidFill>
                            <a:srgbClr val="22252B"/>
                          </a:solidFill>
                          <a:latin typeface="Arial"/>
                        </a:rPr>
                        <a:t>rente dans ces heures</a:t>
                      </a:r>
                    </a:p>
                  </a:txBody>
                  <a:tcPr marL="76200" marR="76200" marT="57150" marB="57150">
                    <a:solidFill>
                      <a:srgbClr val="F5F3FB"/>
                    </a:solidFill>
                  </a:tcPr>
                </a:tc>
                <a:tc>
                  <a:txBody>
                    <a:bodyPr wrap="square"/>
                    <a:lstStyle/>
                    <a:p>
                      <a:pPr algn="r"/>
                      <a:r>
                        <a:rPr sz="1087" b="1">
                          <a:solidFill>
                            <a:srgbClr val="22252B"/>
                          </a:solidFill>
                          <a:latin typeface="Arial"/>
                        </a:rPr>
                        <a:t>Le prix baisse</a:t>
                      </a:r>
                    </a:p>
                  </a:txBody>
                  <a:tcPr marL="76200" marR="76200" marT="57150" marB="57150">
                    <a:solidFill>
                      <a:srgbClr val="F5F3FB"/>
                    </a:solidFill>
                  </a:tcPr>
                </a:tc>
                <a:tc>
                  <a:txBody>
                    <a:bodyPr wrap="square"/>
                    <a:lstStyle/>
                    <a:p>
                      <a:pPr algn="r"/>
                      <a:r>
                        <a:rPr sz="1087" b="1">
                          <a:solidFill>
                            <a:srgbClr val="22252B"/>
                          </a:solidFill>
                          <a:latin typeface="Arial"/>
                        </a:rPr>
                        <a:t>de combien</a:t>
                      </a:r>
                    </a:p>
                  </a:txBody>
                  <a:tcPr marL="76200" marR="76200" marT="57150" marB="57150">
                    <a:solidFill>
                      <a:srgbClr val="F5F3FB"/>
                    </a:solidFill>
                  </a:tcPr>
                </a:tc>
                <a:tc>
                  <a:txBody>
                    <a:bodyPr wrap="square"/>
                    <a:lstStyle/>
                    <a:p>
                      <a:pPr algn="r"/>
                      <a:r>
                        <a:rPr sz="1087" b="1">
                          <a:solidFill>
                            <a:srgbClr val="22252B"/>
                          </a:solidFill>
                          <a:latin typeface="Arial"/>
                        </a:rPr>
                        <a:t>Pénurie évitée</a:t>
                      </a:r>
                    </a:p>
                  </a:txBody>
                  <a:tcPr marL="76200" marR="76200" marT="57150" marB="57150">
                    <a:solidFill>
                      <a:srgbClr val="F5F3FB"/>
                    </a:solidFill>
                  </a:tcPr>
                </a:tc>
              </a:tr>
              <a:tr h="319831">
                <a:tc>
                  <a:txBody>
                    <a:bodyPr wrap="square"/>
                    <a:lstStyle/>
                    <a:p>
                      <a:r>
                        <a:rPr sz="1087" b="0">
                          <a:solidFill>
                            <a:srgbClr val="22252B"/>
                          </a:solidFill>
                          <a:latin typeface="Arial"/>
                        </a:rPr>
                        <a:t>2020</a:t>
                      </a:r>
                    </a:p>
                  </a:txBody>
                  <a:tcPr marL="76200" marR="76200" marT="57150" marB="57150">
                    <a:solidFill>
                      <a:srgbClr val="FFFFFF"/>
                    </a:solidFill>
                  </a:tcPr>
                </a:tc>
                <a:tc>
                  <a:txBody>
                    <a:bodyPr wrap="square"/>
                    <a:lstStyle/>
                    <a:p>
                      <a:pPr algn="r"/>
                      <a:r>
                        <a:rPr sz="1087" b="0">
                          <a:solidFill>
                            <a:srgbClr val="22252B"/>
                          </a:solidFill>
                          <a:latin typeface="Arial"/>
                        </a:rPr>
                        <a:t>6 289 h</a:t>
                      </a:r>
                    </a:p>
                  </a:txBody>
                  <a:tcPr marL="76200" marR="76200" marT="57150" marB="57150">
                    <a:solidFill>
                      <a:srgbClr val="FFFFFF"/>
                    </a:solidFill>
                  </a:tcPr>
                </a:tc>
                <a:tc>
                  <a:txBody>
                    <a:bodyPr wrap="square"/>
                    <a:lstStyle/>
                    <a:p>
                      <a:pPr algn="r"/>
                      <a:r>
                        <a:rPr sz="1087" b="0">
                          <a:solidFill>
                            <a:srgbClr val="C8453A"/>
                          </a:solidFill>
                          <a:latin typeface="Arial"/>
                        </a:rPr>
                        <a:t>+20 €</a:t>
                      </a:r>
                    </a:p>
                  </a:txBody>
                  <a:tcPr marL="76200" marR="76200" marT="57150" marB="57150">
                    <a:solidFill>
                      <a:srgbClr val="FFFFFF"/>
                    </a:solidFill>
                  </a:tcPr>
                </a:tc>
                <a:tc>
                  <a:txBody>
                    <a:bodyPr wrap="square"/>
                    <a:lstStyle/>
                    <a:p>
                      <a:pPr algn="r"/>
                      <a:r>
                        <a:rPr sz="1087" b="0">
                          <a:solidFill>
                            <a:srgbClr val="22252B"/>
                          </a:solidFill>
                          <a:latin typeface="Arial"/>
                        </a:rPr>
                        <a:t>1 883 h</a:t>
                      </a:r>
                    </a:p>
                  </a:txBody>
                  <a:tcPr marL="76200" marR="76200" marT="57150" marB="57150">
                    <a:solidFill>
                      <a:srgbClr val="FFFFFF"/>
                    </a:solidFill>
                  </a:tcPr>
                </a:tc>
                <a:tc>
                  <a:txBody>
                    <a:bodyPr wrap="square"/>
                    <a:lstStyle/>
                    <a:p>
                      <a:pPr algn="r"/>
                      <a:r>
                        <a:rPr sz="1087" b="0">
                          <a:solidFill>
                            <a:srgbClr val="22252B"/>
                          </a:solidFill>
                          <a:latin typeface="Arial"/>
                        </a:rPr>
                        <a:t>0,07 Md€</a:t>
                      </a:r>
                    </a:p>
                  </a:txBody>
                  <a:tcPr marL="76200" marR="76200" marT="57150" marB="57150">
                    <a:solidFill>
                      <a:srgbClr val="FFFFFF"/>
                    </a:solidFill>
                  </a:tcPr>
                </a:tc>
                <a:tc>
                  <a:txBody>
                    <a:bodyPr wrap="square"/>
                    <a:lstStyle/>
                    <a:p>
                      <a:pPr algn="r"/>
                      <a:r>
                        <a:rPr sz="1087" b="0">
                          <a:solidFill>
                            <a:srgbClr val="22252B"/>
                          </a:solidFill>
                          <a:latin typeface="Arial"/>
                        </a:rPr>
                        <a:t>600 h</a:t>
                      </a:r>
                    </a:p>
                  </a:txBody>
                  <a:tcPr marL="76200" marR="76200" marT="57150" marB="57150">
                    <a:solidFill>
                      <a:srgbClr val="FFFFFF"/>
                    </a:solidFill>
                  </a:tcPr>
                </a:tc>
                <a:tc>
                  <a:txBody>
                    <a:bodyPr wrap="square"/>
                    <a:lstStyle/>
                    <a:p>
                      <a:pPr algn="r"/>
                      <a:r>
                        <a:rPr sz="1087" b="0">
                          <a:solidFill>
                            <a:srgbClr val="3F8F5A"/>
                          </a:solidFill>
                          <a:latin typeface="Arial"/>
                        </a:rPr>
                        <a:t>-12 €</a:t>
                      </a:r>
                    </a:p>
                  </a:txBody>
                  <a:tcPr marL="76200" marR="76200" marT="57150" marB="57150">
                    <a:solidFill>
                      <a:srgbClr val="FFFFFF"/>
                    </a:solidFill>
                  </a:tcPr>
                </a:tc>
                <a:tc>
                  <a:txBody>
                    <a:bodyPr wrap="square"/>
                    <a:lstStyle/>
                    <a:p>
                      <a:pPr algn="r"/>
                      <a:r>
                        <a:rPr sz="1087" b="0">
                          <a:solidFill>
                            <a:srgbClr val="22252B"/>
                          </a:solidFill>
                          <a:latin typeface="Arial"/>
                        </a:rPr>
                        <a:t>11 h</a:t>
                      </a:r>
                    </a:p>
                  </a:txBody>
                  <a:tcPr marL="76200" marR="76200" marT="57150" marB="57150">
                    <a:solidFill>
                      <a:srgbClr val="FFFFFF"/>
                    </a:solidFill>
                  </a:tcPr>
                </a:tc>
              </a:tr>
              <a:tr h="319831">
                <a:tc>
                  <a:txBody>
                    <a:bodyPr wrap="square"/>
                    <a:lstStyle/>
                    <a:p>
                      <a:r>
                        <a:rPr sz="1087" b="0">
                          <a:solidFill>
                            <a:srgbClr val="22252B"/>
                          </a:solidFill>
                          <a:latin typeface="Arial"/>
                        </a:rPr>
                        <a:t>2021</a:t>
                      </a:r>
                    </a:p>
                  </a:txBody>
                  <a:tcPr marL="76200" marR="76200" marT="57150" marB="57150">
                    <a:solidFill>
                      <a:srgbClr val="FFFFFF"/>
                    </a:solidFill>
                  </a:tcPr>
                </a:tc>
                <a:tc>
                  <a:txBody>
                    <a:bodyPr wrap="square"/>
                    <a:lstStyle/>
                    <a:p>
                      <a:pPr algn="r"/>
                      <a:r>
                        <a:rPr sz="1087" b="0">
                          <a:solidFill>
                            <a:srgbClr val="22252B"/>
                          </a:solidFill>
                          <a:latin typeface="Arial"/>
                        </a:rPr>
                        <a:t>6 357 h</a:t>
                      </a:r>
                    </a:p>
                  </a:txBody>
                  <a:tcPr marL="76200" marR="76200" marT="57150" marB="57150">
                    <a:solidFill>
                      <a:srgbClr val="FFFFFF"/>
                    </a:solidFill>
                  </a:tcPr>
                </a:tc>
                <a:tc>
                  <a:txBody>
                    <a:bodyPr wrap="square"/>
                    <a:lstStyle/>
                    <a:p>
                      <a:pPr algn="r"/>
                      <a:r>
                        <a:rPr sz="1087" b="0">
                          <a:solidFill>
                            <a:srgbClr val="C8453A"/>
                          </a:solidFill>
                          <a:latin typeface="Arial"/>
                        </a:rPr>
                        <a:t>+46 €</a:t>
                      </a:r>
                    </a:p>
                  </a:txBody>
                  <a:tcPr marL="76200" marR="76200" marT="57150" marB="57150">
                    <a:solidFill>
                      <a:srgbClr val="FFFFFF"/>
                    </a:solidFill>
                  </a:tcPr>
                </a:tc>
                <a:tc>
                  <a:txBody>
                    <a:bodyPr wrap="square"/>
                    <a:lstStyle/>
                    <a:p>
                      <a:pPr algn="r"/>
                      <a:r>
                        <a:rPr sz="1087" b="0">
                          <a:solidFill>
                            <a:srgbClr val="22252B"/>
                          </a:solidFill>
                          <a:latin typeface="Arial"/>
                        </a:rPr>
                        <a:t>970 h</a:t>
                      </a:r>
                    </a:p>
                  </a:txBody>
                  <a:tcPr marL="76200" marR="76200" marT="57150" marB="57150">
                    <a:solidFill>
                      <a:srgbClr val="FFFFFF"/>
                    </a:solidFill>
                  </a:tcPr>
                </a:tc>
                <a:tc>
                  <a:txBody>
                    <a:bodyPr wrap="square"/>
                    <a:lstStyle/>
                    <a:p>
                      <a:pPr algn="r"/>
                      <a:r>
                        <a:rPr sz="1087" b="0">
                          <a:solidFill>
                            <a:srgbClr val="22252B"/>
                          </a:solidFill>
                          <a:latin typeface="Arial"/>
                        </a:rPr>
                        <a:t>0,16 Md€</a:t>
                      </a:r>
                    </a:p>
                  </a:txBody>
                  <a:tcPr marL="76200" marR="76200" marT="57150" marB="57150">
                    <a:solidFill>
                      <a:srgbClr val="FFFFFF"/>
                    </a:solidFill>
                  </a:tcPr>
                </a:tc>
                <a:tc>
                  <a:txBody>
                    <a:bodyPr wrap="square"/>
                    <a:lstStyle/>
                    <a:p>
                      <a:pPr algn="r"/>
                      <a:r>
                        <a:rPr sz="1087" b="0">
                          <a:solidFill>
                            <a:srgbClr val="22252B"/>
                          </a:solidFill>
                          <a:latin typeface="Arial"/>
                        </a:rPr>
                        <a:t>1 367 h</a:t>
                      </a:r>
                    </a:p>
                  </a:txBody>
                  <a:tcPr marL="76200" marR="76200" marT="57150" marB="57150">
                    <a:solidFill>
                      <a:srgbClr val="FFFFFF"/>
                    </a:solidFill>
                  </a:tcPr>
                </a:tc>
                <a:tc>
                  <a:txBody>
                    <a:bodyPr wrap="square"/>
                    <a:lstStyle/>
                    <a:p>
                      <a:pPr algn="r"/>
                      <a:r>
                        <a:rPr sz="1087" b="0">
                          <a:solidFill>
                            <a:srgbClr val="3F8F5A"/>
                          </a:solidFill>
                          <a:latin typeface="Arial"/>
                        </a:rPr>
                        <a:t>-31 €</a:t>
                      </a:r>
                    </a:p>
                  </a:txBody>
                  <a:tcPr marL="76200" marR="76200" marT="57150" marB="57150">
                    <a:solidFill>
                      <a:srgbClr val="FFFFFF"/>
                    </a:solidFill>
                  </a:tcPr>
                </a:tc>
                <a:tc>
                  <a:txBody>
                    <a:bodyPr wrap="square"/>
                    <a:lstStyle/>
                    <a:p>
                      <a:pPr algn="r"/>
                      <a:r>
                        <a:rPr sz="1087" b="0">
                          <a:solidFill>
                            <a:srgbClr val="22252B"/>
                          </a:solidFill>
                          <a:latin typeface="Arial"/>
                        </a:rPr>
                        <a:t>65 h</a:t>
                      </a:r>
                    </a:p>
                  </a:txBody>
                  <a:tcPr marL="76200" marR="76200" marT="57150" marB="57150">
                    <a:solidFill>
                      <a:srgbClr val="FFFFFF"/>
                    </a:solidFill>
                  </a:tcPr>
                </a:tc>
              </a:tr>
              <a:tr h="319831">
                <a:tc>
                  <a:txBody>
                    <a:bodyPr wrap="square"/>
                    <a:lstStyle/>
                    <a:p>
                      <a:r>
                        <a:rPr sz="1087" b="0">
                          <a:solidFill>
                            <a:srgbClr val="22252B"/>
                          </a:solidFill>
                          <a:latin typeface="Arial"/>
                        </a:rPr>
                        <a:t>2022</a:t>
                      </a:r>
                    </a:p>
                  </a:txBody>
                  <a:tcPr marL="76200" marR="76200" marT="57150" marB="57150">
                    <a:solidFill>
                      <a:srgbClr val="FFFFFF"/>
                    </a:solidFill>
                  </a:tcPr>
                </a:tc>
                <a:tc>
                  <a:txBody>
                    <a:bodyPr wrap="square"/>
                    <a:lstStyle/>
                    <a:p>
                      <a:pPr algn="r"/>
                      <a:r>
                        <a:rPr sz="1087" b="0">
                          <a:solidFill>
                            <a:srgbClr val="22252B"/>
                          </a:solidFill>
                          <a:latin typeface="Arial"/>
                        </a:rPr>
                        <a:t>3 035 h</a:t>
                      </a:r>
                    </a:p>
                  </a:txBody>
                  <a:tcPr marL="76200" marR="76200" marT="57150" marB="57150">
                    <a:solidFill>
                      <a:srgbClr val="FFFFFF"/>
                    </a:solidFill>
                  </a:tcPr>
                </a:tc>
                <a:tc>
                  <a:txBody>
                    <a:bodyPr wrap="square"/>
                    <a:lstStyle/>
                    <a:p>
                      <a:pPr algn="r"/>
                      <a:r>
                        <a:rPr sz="1087" b="0">
                          <a:solidFill>
                            <a:srgbClr val="C8453A"/>
                          </a:solidFill>
                          <a:latin typeface="Arial"/>
                        </a:rPr>
                        <a:t>+40 €</a:t>
                      </a:r>
                    </a:p>
                  </a:txBody>
                  <a:tcPr marL="76200" marR="76200" marT="57150" marB="57150">
                    <a:solidFill>
                      <a:srgbClr val="FFFFFF"/>
                    </a:solidFill>
                  </a:tcPr>
                </a:tc>
                <a:tc>
                  <a:txBody>
                    <a:bodyPr wrap="square"/>
                    <a:lstStyle/>
                    <a:p>
                      <a:pPr algn="r"/>
                      <a:r>
                        <a:rPr sz="1087" b="0">
                          <a:solidFill>
                            <a:srgbClr val="22252B"/>
                          </a:solidFill>
                          <a:latin typeface="Arial"/>
                        </a:rPr>
                        <a:t>866 h</a:t>
                      </a:r>
                    </a:p>
                  </a:txBody>
                  <a:tcPr marL="76200" marR="76200" marT="57150" marB="57150">
                    <a:solidFill>
                      <a:srgbClr val="FFFFFF"/>
                    </a:solidFill>
                  </a:tcPr>
                </a:tc>
                <a:tc>
                  <a:txBody>
                    <a:bodyPr wrap="square"/>
                    <a:lstStyle/>
                    <a:p>
                      <a:pPr algn="r"/>
                      <a:r>
                        <a:rPr sz="1087" b="0">
                          <a:solidFill>
                            <a:srgbClr val="22252B"/>
                          </a:solidFill>
                          <a:latin typeface="Arial"/>
                        </a:rPr>
                        <a:t>0,42 Md€</a:t>
                      </a:r>
                    </a:p>
                  </a:txBody>
                  <a:tcPr marL="76200" marR="76200" marT="57150" marB="57150">
                    <a:solidFill>
                      <a:srgbClr val="FFFFFF"/>
                    </a:solidFill>
                  </a:tcPr>
                </a:tc>
                <a:tc>
                  <a:txBody>
                    <a:bodyPr wrap="square"/>
                    <a:lstStyle/>
                    <a:p>
                      <a:pPr algn="r"/>
                      <a:r>
                        <a:rPr sz="1087" b="0">
                          <a:solidFill>
                            <a:srgbClr val="22252B"/>
                          </a:solidFill>
                          <a:latin typeface="Arial"/>
                        </a:rPr>
                        <a:t>4 769 h</a:t>
                      </a:r>
                    </a:p>
                  </a:txBody>
                  <a:tcPr marL="76200" marR="76200" marT="57150" marB="57150">
                    <a:solidFill>
                      <a:srgbClr val="FFFFFF"/>
                    </a:solidFill>
                  </a:tcPr>
                </a:tc>
                <a:tc>
                  <a:txBody>
                    <a:bodyPr wrap="square"/>
                    <a:lstStyle/>
                    <a:p>
                      <a:pPr algn="r"/>
                      <a:r>
                        <a:rPr sz="1087" b="0">
                          <a:solidFill>
                            <a:srgbClr val="3F8F5A"/>
                          </a:solidFill>
                          <a:latin typeface="Arial"/>
                        </a:rPr>
                        <a:t>-65 €</a:t>
                      </a:r>
                    </a:p>
                  </a:txBody>
                  <a:tcPr marL="76200" marR="76200" marT="57150" marB="57150">
                    <a:solidFill>
                      <a:srgbClr val="FFFFFF"/>
                    </a:solidFill>
                  </a:tcPr>
                </a:tc>
                <a:tc>
                  <a:txBody>
                    <a:bodyPr wrap="square"/>
                    <a:lstStyle/>
                    <a:p>
                      <a:pPr algn="r"/>
                      <a:r>
                        <a:rPr sz="1087" b="0">
                          <a:solidFill>
                            <a:srgbClr val="22252B"/>
                          </a:solidFill>
                          <a:latin typeface="Arial"/>
                        </a:rPr>
                        <a:t>89 h</a:t>
                      </a:r>
                    </a:p>
                  </a:txBody>
                  <a:tcPr marL="76200" marR="76200" marT="57150" marB="57150">
                    <a:solidFill>
                      <a:srgbClr val="FFFFFF"/>
                    </a:solidFill>
                  </a:tcPr>
                </a:tc>
              </a:tr>
              <a:tr h="319831">
                <a:tc>
                  <a:txBody>
                    <a:bodyPr wrap="square"/>
                    <a:lstStyle/>
                    <a:p>
                      <a:r>
                        <a:rPr sz="1087" b="0">
                          <a:solidFill>
                            <a:srgbClr val="22252B"/>
                          </a:solidFill>
                          <a:latin typeface="Arial"/>
                        </a:rPr>
                        <a:t>2023</a:t>
                      </a:r>
                    </a:p>
                  </a:txBody>
                  <a:tcPr marL="76200" marR="76200" marT="57150" marB="57150">
                    <a:solidFill>
                      <a:srgbClr val="FFFFFF"/>
                    </a:solidFill>
                  </a:tcPr>
                </a:tc>
                <a:tc>
                  <a:txBody>
                    <a:bodyPr wrap="square"/>
                    <a:lstStyle/>
                    <a:p>
                      <a:pPr algn="r"/>
                      <a:r>
                        <a:rPr sz="1087" b="0">
                          <a:solidFill>
                            <a:srgbClr val="22252B"/>
                          </a:solidFill>
                          <a:latin typeface="Arial"/>
                        </a:rPr>
                        <a:t>6 902 h</a:t>
                      </a:r>
                    </a:p>
                  </a:txBody>
                  <a:tcPr marL="76200" marR="76200" marT="57150" marB="57150">
                    <a:solidFill>
                      <a:srgbClr val="FFFFFF"/>
                    </a:solidFill>
                  </a:tcPr>
                </a:tc>
                <a:tc>
                  <a:txBody>
                    <a:bodyPr wrap="square"/>
                    <a:lstStyle/>
                    <a:p>
                      <a:pPr algn="r"/>
                      <a:r>
                        <a:rPr sz="1087" b="0">
                          <a:solidFill>
                            <a:srgbClr val="C8453A"/>
                          </a:solidFill>
                          <a:latin typeface="Arial"/>
                        </a:rPr>
                        <a:t>+43 €</a:t>
                      </a:r>
                    </a:p>
                  </a:txBody>
                  <a:tcPr marL="76200" marR="76200" marT="57150" marB="57150">
                    <a:solidFill>
                      <a:srgbClr val="FFFFFF"/>
                    </a:solidFill>
                  </a:tcPr>
                </a:tc>
                <a:tc>
                  <a:txBody>
                    <a:bodyPr wrap="square"/>
                    <a:lstStyle/>
                    <a:p>
                      <a:pPr algn="r"/>
                      <a:r>
                        <a:rPr sz="1087" b="0">
                          <a:solidFill>
                            <a:srgbClr val="22252B"/>
                          </a:solidFill>
                          <a:latin typeface="Arial"/>
                        </a:rPr>
                        <a:t>872 h</a:t>
                      </a:r>
                    </a:p>
                  </a:txBody>
                  <a:tcPr marL="76200" marR="76200" marT="57150" marB="57150">
                    <a:solidFill>
                      <a:srgbClr val="FFFFFF"/>
                    </a:solidFill>
                  </a:tcPr>
                </a:tc>
                <a:tc>
                  <a:txBody>
                    <a:bodyPr wrap="square"/>
                    <a:lstStyle/>
                    <a:p>
                      <a:pPr algn="r"/>
                      <a:r>
                        <a:rPr sz="1087" b="0">
                          <a:solidFill>
                            <a:srgbClr val="22252B"/>
                          </a:solidFill>
                          <a:latin typeface="Arial"/>
                        </a:rPr>
                        <a:t>0,27 Md€</a:t>
                      </a:r>
                    </a:p>
                  </a:txBody>
                  <a:tcPr marL="76200" marR="76200" marT="57150" marB="57150">
                    <a:solidFill>
                      <a:srgbClr val="FFFFFF"/>
                    </a:solidFill>
                  </a:tcPr>
                </a:tc>
                <a:tc>
                  <a:txBody>
                    <a:bodyPr wrap="square"/>
                    <a:lstStyle/>
                    <a:p>
                      <a:pPr algn="r"/>
                      <a:r>
                        <a:rPr sz="1087" b="0">
                          <a:solidFill>
                            <a:srgbClr val="22252B"/>
                          </a:solidFill>
                          <a:latin typeface="Arial"/>
                        </a:rPr>
                        <a:t>947 h</a:t>
                      </a:r>
                    </a:p>
                  </a:txBody>
                  <a:tcPr marL="76200" marR="76200" marT="57150" marB="57150">
                    <a:solidFill>
                      <a:srgbClr val="FFFFFF"/>
                    </a:solidFill>
                  </a:tcPr>
                </a:tc>
                <a:tc>
                  <a:txBody>
                    <a:bodyPr wrap="square"/>
                    <a:lstStyle/>
                    <a:p>
                      <a:pPr algn="r"/>
                      <a:r>
                        <a:rPr sz="1087" b="0">
                          <a:solidFill>
                            <a:srgbClr val="3F8F5A"/>
                          </a:solidFill>
                          <a:latin typeface="Arial"/>
                        </a:rPr>
                        <a:t>-24 €</a:t>
                      </a:r>
                    </a:p>
                  </a:txBody>
                  <a:tcPr marL="76200" marR="76200" marT="57150" marB="57150">
                    <a:solidFill>
                      <a:srgbClr val="FFFFFF"/>
                    </a:solidFill>
                  </a:tcPr>
                </a:tc>
                <a:tc>
                  <a:txBody>
                    <a:bodyPr wrap="square"/>
                    <a:lstStyle/>
                    <a:p>
                      <a:pPr algn="r"/>
                      <a:r>
                        <a:rPr sz="1087" b="0">
                          <a:solidFill>
                            <a:srgbClr val="22252B"/>
                          </a:solidFill>
                          <a:latin typeface="Arial"/>
                        </a:rPr>
                        <a:t>38 h</a:t>
                      </a:r>
                    </a:p>
                  </a:txBody>
                  <a:tcPr marL="76200" marR="76200" marT="57150" marB="57150">
                    <a:solidFill>
                      <a:srgbClr val="FFFFFF"/>
                    </a:solidFill>
                  </a:tcPr>
                </a:tc>
              </a:tr>
              <a:tr h="319831">
                <a:tc>
                  <a:txBody>
                    <a:bodyPr wrap="square"/>
                    <a:lstStyle/>
                    <a:p>
                      <a:r>
                        <a:rPr sz="1087" b="0">
                          <a:solidFill>
                            <a:srgbClr val="22252B"/>
                          </a:solidFill>
                          <a:latin typeface="Arial"/>
                        </a:rPr>
                        <a:t>2024</a:t>
                      </a:r>
                    </a:p>
                  </a:txBody>
                  <a:tcPr marL="76200" marR="76200" marT="57150" marB="57150">
                    <a:solidFill>
                      <a:srgbClr val="FFFFFF"/>
                    </a:solidFill>
                  </a:tcPr>
                </a:tc>
                <a:tc>
                  <a:txBody>
                    <a:bodyPr wrap="square"/>
                    <a:lstStyle/>
                    <a:p>
                      <a:pPr algn="r"/>
                      <a:r>
                        <a:rPr sz="1087" b="0">
                          <a:solidFill>
                            <a:srgbClr val="22252B"/>
                          </a:solidFill>
                          <a:latin typeface="Arial"/>
                        </a:rPr>
                        <a:t>7 765 h</a:t>
                      </a:r>
                    </a:p>
                  </a:txBody>
                  <a:tcPr marL="76200" marR="76200" marT="57150" marB="57150">
                    <a:solidFill>
                      <a:srgbClr val="FFFFFF"/>
                    </a:solidFill>
                  </a:tcPr>
                </a:tc>
                <a:tc>
                  <a:txBody>
                    <a:bodyPr wrap="square"/>
                    <a:lstStyle/>
                    <a:p>
                      <a:pPr algn="r"/>
                      <a:r>
                        <a:rPr sz="1087" b="0">
                          <a:solidFill>
                            <a:srgbClr val="C8453A"/>
                          </a:solidFill>
                          <a:latin typeface="Arial"/>
                        </a:rPr>
                        <a:t>+44 €</a:t>
                      </a:r>
                    </a:p>
                  </a:txBody>
                  <a:tcPr marL="76200" marR="76200" marT="57150" marB="57150">
                    <a:solidFill>
                      <a:srgbClr val="FFFFFF"/>
                    </a:solidFill>
                  </a:tcPr>
                </a:tc>
                <a:tc>
                  <a:txBody>
                    <a:bodyPr wrap="square"/>
                    <a:lstStyle/>
                    <a:p>
                      <a:pPr algn="r"/>
                      <a:r>
                        <a:rPr sz="1087" b="0">
                          <a:solidFill>
                            <a:srgbClr val="22252B"/>
                          </a:solidFill>
                          <a:latin typeface="Arial"/>
                        </a:rPr>
                        <a:t>807 h</a:t>
                      </a:r>
                    </a:p>
                  </a:txBody>
                  <a:tcPr marL="76200" marR="76200" marT="57150" marB="57150">
                    <a:solidFill>
                      <a:srgbClr val="FFFFFF"/>
                    </a:solidFill>
                  </a:tcPr>
                </a:tc>
                <a:tc>
                  <a:txBody>
                    <a:bodyPr wrap="square"/>
                    <a:lstStyle/>
                    <a:p>
                      <a:pPr algn="r"/>
                      <a:r>
                        <a:rPr sz="1087" b="0">
                          <a:solidFill>
                            <a:srgbClr val="22252B"/>
                          </a:solidFill>
                          <a:latin typeface="Arial"/>
                        </a:rPr>
                        <a:t>0,36 Md€</a:t>
                      </a:r>
                    </a:p>
                  </a:txBody>
                  <a:tcPr marL="76200" marR="76200" marT="57150" marB="57150">
                    <a:solidFill>
                      <a:srgbClr val="FFFFFF"/>
                    </a:solidFill>
                  </a:tcPr>
                </a:tc>
                <a:tc>
                  <a:txBody>
                    <a:bodyPr wrap="square"/>
                    <a:lstStyle/>
                    <a:p>
                      <a:pPr algn="r"/>
                      <a:r>
                        <a:rPr sz="1087" b="0">
                          <a:solidFill>
                            <a:srgbClr val="22252B"/>
                          </a:solidFill>
                          <a:latin typeface="Arial"/>
                        </a:rPr>
                        <a:t>211 h</a:t>
                      </a:r>
                    </a:p>
                  </a:txBody>
                  <a:tcPr marL="76200" marR="76200" marT="57150" marB="57150">
                    <a:solidFill>
                      <a:srgbClr val="FFFFFF"/>
                    </a:solidFill>
                  </a:tcPr>
                </a:tc>
                <a:tc>
                  <a:txBody>
                    <a:bodyPr wrap="square"/>
                    <a:lstStyle/>
                    <a:p>
                      <a:pPr algn="r"/>
                      <a:r>
                        <a:rPr sz="1087" b="0">
                          <a:solidFill>
                            <a:srgbClr val="3F8F5A"/>
                          </a:solidFill>
                          <a:latin typeface="Arial"/>
                        </a:rPr>
                        <a:t>-20 €</a:t>
                      </a:r>
                    </a:p>
                  </a:txBody>
                  <a:tcPr marL="76200" marR="76200" marT="57150" marB="57150">
                    <a:solidFill>
                      <a:srgbClr val="FFFFFF"/>
                    </a:solidFill>
                  </a:tcPr>
                </a:tc>
                <a:tc>
                  <a:txBody>
                    <a:bodyPr wrap="square"/>
                    <a:lstStyle/>
                    <a:p>
                      <a:pPr algn="r"/>
                      <a:r>
                        <a:rPr sz="1087" b="0">
                          <a:solidFill>
                            <a:srgbClr val="22252B"/>
                          </a:solidFill>
                          <a:latin typeface="Arial"/>
                        </a:rPr>
                        <a:t>0 h</a:t>
                      </a:r>
                    </a:p>
                  </a:txBody>
                  <a:tcPr marL="76200" marR="76200" marT="57150" marB="57150">
                    <a:solidFill>
                      <a:srgbClr val="FFFFFF"/>
                    </a:solidFill>
                  </a:tcPr>
                </a:tc>
              </a:tr>
              <a:tr h="319831">
                <a:tc>
                  <a:txBody>
                    <a:bodyPr wrap="square"/>
                    <a:lstStyle/>
                    <a:p>
                      <a:r>
                        <a:rPr sz="1087" b="0">
                          <a:solidFill>
                            <a:srgbClr val="22252B"/>
                          </a:solidFill>
                          <a:latin typeface="Arial"/>
                        </a:rPr>
                        <a:t>2025</a:t>
                      </a:r>
                    </a:p>
                  </a:txBody>
                  <a:tcPr marL="76200" marR="76200" marT="57150" marB="57150">
                    <a:solidFill>
                      <a:srgbClr val="FFFFFF"/>
                    </a:solidFill>
                  </a:tcPr>
                </a:tc>
                <a:tc>
                  <a:txBody>
                    <a:bodyPr wrap="square"/>
                    <a:lstStyle/>
                    <a:p>
                      <a:pPr algn="r"/>
                      <a:r>
                        <a:rPr sz="1087" b="0">
                          <a:solidFill>
                            <a:srgbClr val="22252B"/>
                          </a:solidFill>
                          <a:latin typeface="Arial"/>
                        </a:rPr>
                        <a:t>7 666 h</a:t>
                      </a:r>
                    </a:p>
                  </a:txBody>
                  <a:tcPr marL="76200" marR="76200" marT="57150" marB="57150">
                    <a:solidFill>
                      <a:srgbClr val="FFFFFF"/>
                    </a:solidFill>
                  </a:tcPr>
                </a:tc>
                <a:tc>
                  <a:txBody>
                    <a:bodyPr wrap="square"/>
                    <a:lstStyle/>
                    <a:p>
                      <a:pPr algn="r"/>
                      <a:r>
                        <a:rPr sz="1087" b="0">
                          <a:solidFill>
                            <a:srgbClr val="C8453A"/>
                          </a:solidFill>
                          <a:latin typeface="Arial"/>
                        </a:rPr>
                        <a:t>+44 €</a:t>
                      </a:r>
                    </a:p>
                  </a:txBody>
                  <a:tcPr marL="76200" marR="76200" marT="57150" marB="57150">
                    <a:solidFill>
                      <a:srgbClr val="FFFFFF"/>
                    </a:solidFill>
                  </a:tcPr>
                </a:tc>
                <a:tc>
                  <a:txBody>
                    <a:bodyPr wrap="square"/>
                    <a:lstStyle/>
                    <a:p>
                      <a:pPr algn="r"/>
                      <a:r>
                        <a:rPr sz="1087" b="0">
                          <a:solidFill>
                            <a:srgbClr val="22252B"/>
                          </a:solidFill>
                          <a:latin typeface="Arial"/>
                        </a:rPr>
                        <a:t>897 h</a:t>
                      </a:r>
                    </a:p>
                  </a:txBody>
                  <a:tcPr marL="76200" marR="76200" marT="57150" marB="57150">
                    <a:solidFill>
                      <a:srgbClr val="FFFFFF"/>
                    </a:solidFill>
                  </a:tcPr>
                </a:tc>
                <a:tc>
                  <a:txBody>
                    <a:bodyPr wrap="square"/>
                    <a:lstStyle/>
                    <a:p>
                      <a:pPr algn="r"/>
                      <a:r>
                        <a:rPr sz="1087" b="0">
                          <a:solidFill>
                            <a:srgbClr val="22252B"/>
                          </a:solidFill>
                          <a:latin typeface="Arial"/>
                        </a:rPr>
                        <a:t>0,51 Md€</a:t>
                      </a:r>
                    </a:p>
                  </a:txBody>
                  <a:tcPr marL="76200" marR="76200" marT="57150" marB="57150">
                    <a:solidFill>
                      <a:srgbClr val="FFFFFF"/>
                    </a:solidFill>
                  </a:tcPr>
                </a:tc>
                <a:tc>
                  <a:txBody>
                    <a:bodyPr wrap="square"/>
                    <a:lstStyle/>
                    <a:p>
                      <a:pPr algn="r"/>
                      <a:r>
                        <a:rPr sz="1087" b="0">
                          <a:solidFill>
                            <a:srgbClr val="22252B"/>
                          </a:solidFill>
                          <a:latin typeface="Arial"/>
                        </a:rPr>
                        <a:t>196 h</a:t>
                      </a:r>
                    </a:p>
                  </a:txBody>
                  <a:tcPr marL="76200" marR="76200" marT="57150" marB="57150">
                    <a:solidFill>
                      <a:srgbClr val="FFFFFF"/>
                    </a:solidFill>
                  </a:tcPr>
                </a:tc>
                <a:tc>
                  <a:txBody>
                    <a:bodyPr wrap="square"/>
                    <a:lstStyle/>
                    <a:p>
                      <a:pPr algn="r"/>
                      <a:r>
                        <a:rPr sz="1087" b="0">
                          <a:solidFill>
                            <a:srgbClr val="3F8F5A"/>
                          </a:solidFill>
                          <a:latin typeface="Arial"/>
                        </a:rPr>
                        <a:t>-22 €</a:t>
                      </a:r>
                    </a:p>
                  </a:txBody>
                  <a:tcPr marL="76200" marR="76200" marT="57150" marB="57150">
                    <a:solidFill>
                      <a:srgbClr val="FFFFFF"/>
                    </a:solidFill>
                  </a:tcPr>
                </a:tc>
                <a:tc>
                  <a:txBody>
                    <a:bodyPr wrap="square"/>
                    <a:lstStyle/>
                    <a:p>
                      <a:pPr algn="r"/>
                      <a:r>
                        <a:rPr sz="1087" b="0">
                          <a:solidFill>
                            <a:srgbClr val="22252B"/>
                          </a:solidFill>
                          <a:latin typeface="Arial"/>
                        </a:rPr>
                        <a:t>0 h</a:t>
                      </a:r>
                    </a:p>
                  </a:txBody>
                  <a:tcPr marL="76200" marR="76200" marT="57150" marB="57150">
                    <a:solidFill>
                      <a:srgbClr val="FFFFFF"/>
                    </a:solidFill>
                  </a:tcPr>
                </a:tc>
              </a:tr>
              <a:tr h="319831">
                <a:tc>
                  <a:txBody>
                    <a:bodyPr wrap="square"/>
                    <a:lstStyle/>
                    <a:p>
                      <a:r>
                        <a:rPr sz="1087" b="0">
                          <a:solidFill>
                            <a:srgbClr val="22252B"/>
                          </a:solidFill>
                          <a:latin typeface="Arial"/>
                        </a:rPr>
                        <a:t>2026 (janv.–oct.)</a:t>
                      </a:r>
                    </a:p>
                  </a:txBody>
                  <a:tcPr marL="76200" marR="76200" marT="57150" marB="57150">
                    <a:solidFill>
                      <a:srgbClr val="FFFFFF"/>
                    </a:solidFill>
                  </a:tcPr>
                </a:tc>
                <a:tc>
                  <a:txBody>
                    <a:bodyPr wrap="square"/>
                    <a:lstStyle/>
                    <a:p>
                      <a:pPr algn="r"/>
                      <a:r>
                        <a:rPr sz="1087" b="0">
                          <a:solidFill>
                            <a:srgbClr val="22252B"/>
                          </a:solidFill>
                          <a:latin typeface="Arial"/>
                        </a:rPr>
                        <a:t>6 003 h</a:t>
                      </a:r>
                    </a:p>
                  </a:txBody>
                  <a:tcPr marL="76200" marR="76200" marT="57150" marB="57150">
                    <a:solidFill>
                      <a:srgbClr val="FFFFFF"/>
                    </a:solidFill>
                  </a:tcPr>
                </a:tc>
                <a:tc>
                  <a:txBody>
                    <a:bodyPr wrap="square"/>
                    <a:lstStyle/>
                    <a:p>
                      <a:pPr algn="r"/>
                      <a:r>
                        <a:rPr sz="1087" b="0">
                          <a:solidFill>
                            <a:srgbClr val="C8453A"/>
                          </a:solidFill>
                          <a:latin typeface="Arial"/>
                        </a:rPr>
                        <a:t>+63 €</a:t>
                      </a:r>
                    </a:p>
                  </a:txBody>
                  <a:tcPr marL="76200" marR="76200" marT="57150" marB="57150">
                    <a:solidFill>
                      <a:srgbClr val="FFFFFF"/>
                    </a:solidFill>
                  </a:tcPr>
                </a:tc>
                <a:tc>
                  <a:txBody>
                    <a:bodyPr wrap="square"/>
                    <a:lstStyle/>
                    <a:p>
                      <a:pPr algn="r"/>
                      <a:r>
                        <a:rPr sz="1087" b="0">
                          <a:solidFill>
                            <a:srgbClr val="22252B"/>
                          </a:solidFill>
                          <a:latin typeface="Arial"/>
                        </a:rPr>
                        <a:t>1 026 h</a:t>
                      </a:r>
                    </a:p>
                  </a:txBody>
                  <a:tcPr marL="76200" marR="76200" marT="57150" marB="57150">
                    <a:solidFill>
                      <a:srgbClr val="FFFFFF"/>
                    </a:solidFill>
                  </a:tcPr>
                </a:tc>
                <a:tc>
                  <a:txBody>
                    <a:bodyPr wrap="square"/>
                    <a:lstStyle/>
                    <a:p>
                      <a:pPr algn="r"/>
                      <a:r>
                        <a:rPr sz="1087" b="0">
                          <a:solidFill>
                            <a:srgbClr val="22252B"/>
                          </a:solidFill>
                          <a:latin typeface="Arial"/>
                        </a:rPr>
                        <a:t>0,85 Md€</a:t>
                      </a:r>
                    </a:p>
                  </a:txBody>
                  <a:tcPr marL="76200" marR="76200" marT="57150" marB="57150">
                    <a:solidFill>
                      <a:srgbClr val="FFFFFF"/>
                    </a:solidFill>
                  </a:tcPr>
                </a:tc>
                <a:tc>
                  <a:txBody>
                    <a:bodyPr wrap="square"/>
                    <a:lstStyle/>
                    <a:p>
                      <a:pPr algn="r"/>
                      <a:r>
                        <a:rPr sz="1087" b="0">
                          <a:solidFill>
                            <a:srgbClr val="22252B"/>
                          </a:solidFill>
                          <a:latin typeface="Arial"/>
                        </a:rPr>
                        <a:t>202 h</a:t>
                      </a:r>
                    </a:p>
                  </a:txBody>
                  <a:tcPr marL="76200" marR="76200" marT="57150" marB="57150">
                    <a:solidFill>
                      <a:srgbClr val="FFFFFF"/>
                    </a:solidFill>
                  </a:tcPr>
                </a:tc>
                <a:tc>
                  <a:txBody>
                    <a:bodyPr wrap="square"/>
                    <a:lstStyle/>
                    <a:p>
                      <a:pPr algn="r"/>
                      <a:r>
                        <a:rPr sz="1087" b="0">
                          <a:solidFill>
                            <a:srgbClr val="3F8F5A"/>
                          </a:solidFill>
                          <a:latin typeface="Arial"/>
                        </a:rPr>
                        <a:t>-41 €</a:t>
                      </a:r>
                    </a:p>
                  </a:txBody>
                  <a:tcPr marL="76200" marR="76200" marT="57150" marB="57150">
                    <a:solidFill>
                      <a:srgbClr val="FFFFFF"/>
                    </a:solidFill>
                  </a:tcPr>
                </a:tc>
                <a:tc>
                  <a:txBody>
                    <a:bodyPr wrap="square"/>
                    <a:lstStyle/>
                    <a:p>
                      <a:pPr algn="r"/>
                      <a:r>
                        <a:rPr sz="1087" b="0">
                          <a:solidFill>
                            <a:srgbClr val="22252B"/>
                          </a:solidFill>
                          <a:latin typeface="Arial"/>
                        </a:rPr>
                        <a:t>15 h</a:t>
                      </a:r>
                    </a:p>
                  </a:txBody>
                  <a:tcPr marL="76200" marR="76200" marT="57150" marB="57150">
                    <a:solidFill>
                      <a:srgbClr val="FFFFFF"/>
                    </a:solidFill>
                  </a:tcPr>
                </a:tc>
              </a:tr>
            </a:tbl>
          </a:graphicData>
        </a:graphic>
      </p:graphicFrame>
      <p:sp>
        <p:nvSpPr>
          <p:cNvPr id="5" name="TextBox 4"/>
          <p:cNvSpPr txBox="1"/>
          <p:nvPr/>
        </p:nvSpPr>
        <p:spPr>
          <a:xfrm>
            <a:off x="571500" y="3774430"/>
            <a:ext cx="11049000" cy="476250"/>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Hors 2022, le couplage fait monter le prix français 6 000 à 7 800 heures par an, de 20 € (2020) à 63 € (2026) en moyenne ; il le fait baisser surtout en 2022 (4 769 h, −65 €/MWh), quand la France importait.</a:t>
            </a:r>
          </a:p>
        </p:txBody>
      </p:sp>
      <p:sp>
        <p:nvSpPr>
          <p:cNvPr id="6" name="TextBox 5"/>
          <p:cNvSpPr txBox="1"/>
          <p:nvPr/>
        </p:nvSpPr>
        <p:spPr>
          <a:xfrm>
            <a:off x="571500" y="4326880"/>
            <a:ext cx="11049000" cy="828675"/>
          </a:xfrm>
          <a:prstGeom prst="rect">
            <a:avLst/>
          </a:prstGeom>
          <a:solidFill>
            <a:srgbClr val="FBF6EA"/>
          </a:solidFill>
        </p:spPr>
        <p:txBody>
          <a:bodyPr wrap="square" lIns="133350" rIns="133350" tIns="95250" bIns="95250" anchor="t">
            <a:spAutoFit/>
          </a:bodyPr>
          <a:lstStyle/>
          <a:p>
            <a:r>
              <a:rPr sz="1125" b="1">
                <a:solidFill>
                  <a:srgbClr val="22252B"/>
                </a:solidFill>
                <a:latin typeface="Arial"/>
              </a:rPr>
              <a:t>Correction de la version précédente.</a:t>
            </a:r>
            <a:r>
              <a:rPr sz="1125" b="0">
                <a:solidFill>
                  <a:srgbClr val="22252B"/>
                </a:solidFill>
                <a:latin typeface="Arial"/>
              </a:rPr>
              <a:t> En 2024–2025, les heures où la France est plus chère que l’Allemagne (1 822 h en 2025) ne sont pas des heures où elle manque : elle exporte dans 96 % d’entre elles (7,7 GW en moyenne). C’est l’Allemagne qui déborde de vent et de soleil : l’éolien et le solaire y couvrent 64 % de sa consommation dans ces heures (contre 36 % quand la France est moins chère), et son prix est négatif dans 23 % de ces heures.</a:t>
            </a:r>
          </a:p>
        </p:txBody>
      </p:sp>
      <p:sp>
        <p:nvSpPr>
          <p:cNvPr id="7" name="TextBox 6"/>
          <p:cNvSpPr txBox="1"/>
          <p:nvPr/>
        </p:nvSpPr>
        <p:spPr>
          <a:xfrm>
            <a:off x="571500" y="5231755"/>
            <a:ext cx="11049000" cy="198834"/>
          </a:xfrm>
          <a:prstGeom prst="rect">
            <a:avLst/>
          </a:prstGeom>
          <a:noFill/>
        </p:spPr>
        <p:txBody>
          <a:bodyPr wrap="square" lIns="0" rIns="0" tIns="0" bIns="0" anchor="t">
            <a:spAutoFit/>
          </a:bodyPr>
          <a:lstStyle/>
          <a:p>
            <a:r>
              <a:rPr sz="937" b="0">
                <a:solidFill>
                  <a:srgbClr val="8A8F98"/>
                </a:solidFill>
                <a:latin typeface="Arial"/>
              </a:rPr>
              <a:t>France isolée : estimation de modèle, jamais observée ; erreur ± 15 à 20 €/MWh sur une heure, biais annuel +0,6 à +2,6 €/MWh en 2020–2025, +8 € en 2026 (page 14). Calcul PowerKlock.</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OÙ VA L’ARGENT</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Où va l’argent (2025)</a:t>
            </a:r>
          </a:p>
        </p:txBody>
      </p:sp>
      <p:graphicFrame>
        <p:nvGraphicFramePr>
          <p:cNvPr id="4" name="Table 3"/>
          <p:cNvGraphicFramePr>
            <a:graphicFrameLocks noGrp="1"/>
          </p:cNvGraphicFramePr>
          <p:nvPr/>
        </p:nvGraphicFramePr>
        <p:xfrm>
          <a:off x="571500" y="1101476"/>
          <a:ext cx="5512742" cy="2873717"/>
        </p:xfrm>
        <a:graphic>
          <a:graphicData uri="http://schemas.openxmlformats.org/drawingml/2006/table">
            <a:tbl>
              <a:tblPr firstRow="0" bandRow="0">
                <a:tableStyleId>{5C22544A-7EE6-4342-B048-85BDC9FD1C3A}</a:tableStyleId>
              </a:tblPr>
              <a:tblGrid>
                <a:gridCol w="5069681"/>
                <a:gridCol w="443061"/>
              </a:tblGrid>
              <a:tr h="315069">
                <a:tc>
                  <a:txBody>
                    <a:bodyPr wrap="square"/>
                    <a:lstStyle/>
                    <a:p>
                      <a:r>
                        <a:rPr sz="1087" b="1">
                          <a:solidFill>
                            <a:srgbClr val="22252B"/>
                          </a:solidFill>
                          <a:latin typeface="Arial"/>
                        </a:rPr>
                        <a:t>D’où vient l’argent (couplage comparé à France isolée)</a:t>
                      </a:r>
                    </a:p>
                  </a:txBody>
                  <a:tcPr marL="76200" marR="76200" marT="57150" marB="57150">
                    <a:solidFill>
                      <a:srgbClr val="F5F3FB"/>
                    </a:solidFill>
                  </a:tcPr>
                </a:tc>
                <a:tc>
                  <a:txBody>
                    <a:bodyPr wrap="square"/>
                    <a:lstStyle/>
                    <a:p>
                      <a:pPr algn="r"/>
                      <a:r>
                        <a:rPr sz="1087" b="1">
                          <a:solidFill>
                            <a:srgbClr val="22252B"/>
                          </a:solidFill>
                          <a:latin typeface="Arial"/>
                        </a:rPr>
                        <a:t>Md€</a:t>
                      </a:r>
                    </a:p>
                  </a:txBody>
                  <a:tcPr marL="76200" marR="76200" marT="57150" marB="57150">
                    <a:solidFill>
                      <a:srgbClr val="F5F3FB"/>
                    </a:solidFill>
                  </a:tcPr>
                </a:tc>
              </a:tr>
              <a:tr h="319831">
                <a:tc>
                  <a:txBody>
                    <a:bodyPr wrap="square"/>
                    <a:lstStyle/>
                    <a:p>
                      <a:r>
                        <a:rPr sz="1087" b="0">
                          <a:solidFill>
                            <a:srgbClr val="22252B"/>
                          </a:solidFill>
                          <a:latin typeface="Arial"/>
                        </a:rPr>
                        <a:t>Consommation française, valeur au prix spot en plus </a:t>
                      </a:r>
                      <a:r>
                        <a:rPr sz="1087" b="0">
                          <a:solidFill>
                            <a:srgbClr val="8A8F98"/>
                          </a:solidFill>
                          <a:latin typeface="Arial"/>
                        </a:rPr>
                        <a:t>(pas la facture, page 26)</a:t>
                      </a:r>
                    </a:p>
                  </a:txBody>
                  <a:tcPr marL="76200" marR="76200" marT="57150" marB="57150">
                    <a:solidFill>
                      <a:srgbClr val="FFFFFF"/>
                    </a:solidFill>
                  </a:tcPr>
                </a:tc>
                <a:tc>
                  <a:txBody>
                    <a:bodyPr wrap="square"/>
                    <a:lstStyle/>
                    <a:p>
                      <a:pPr algn="r"/>
                      <a:r>
                        <a:rPr sz="1087" b="0">
                          <a:solidFill>
                            <a:srgbClr val="22252B"/>
                          </a:solidFill>
                          <a:latin typeface="Arial"/>
                        </a:rPr>
                        <a:t>17,1</a:t>
                      </a:r>
                    </a:p>
                  </a:txBody>
                  <a:tcPr marL="76200" marR="76200" marT="57150" marB="57150">
                    <a:solidFill>
                      <a:srgbClr val="FFFFFF"/>
                    </a:solidFill>
                  </a:tcPr>
                </a:tc>
              </a:tr>
              <a:tr h="319831">
                <a:tc>
                  <a:txBody>
                    <a:bodyPr wrap="square"/>
                    <a:lstStyle/>
                    <a:p>
                      <a:r>
                        <a:rPr sz="1087" b="0">
                          <a:solidFill>
                            <a:srgbClr val="22252B"/>
                          </a:solidFill>
                          <a:latin typeface="Arial"/>
                        </a:rPr>
                        <a:t>Acheteurs étrangers, pour les exports français</a:t>
                      </a:r>
                    </a:p>
                  </a:txBody>
                  <a:tcPr marL="76200" marR="76200" marT="57150" marB="57150">
                    <a:solidFill>
                      <a:srgbClr val="FFFFFF"/>
                    </a:solidFill>
                  </a:tcPr>
                </a:tc>
                <a:tc>
                  <a:txBody>
                    <a:bodyPr wrap="square"/>
                    <a:lstStyle/>
                    <a:p>
                      <a:pPr algn="r"/>
                      <a:r>
                        <a:rPr sz="1087" b="0">
                          <a:solidFill>
                            <a:srgbClr val="22252B"/>
                          </a:solidFill>
                          <a:latin typeface="Arial"/>
                        </a:rPr>
                        <a:t>10,0</a:t>
                      </a:r>
                    </a:p>
                  </a:txBody>
                  <a:tcPr marL="76200" marR="76200" marT="57150" marB="57150">
                    <a:solidFill>
                      <a:srgbClr val="FFFFFF"/>
                    </a:solidFill>
                  </a:tcPr>
                </a:tc>
              </a:tr>
              <a:tr h="319831">
                <a:tc>
                  <a:txBody>
                    <a:bodyPr wrap="square"/>
                    <a:lstStyle/>
                    <a:p>
                      <a:r>
                        <a:rPr sz="1087" b="1">
                          <a:solidFill>
                            <a:srgbClr val="22252B"/>
                          </a:solidFill>
                          <a:latin typeface="Arial"/>
                        </a:rPr>
                        <a:t>Qui reçoit</a:t>
                      </a:r>
                    </a:p>
                  </a:txBody>
                  <a:tcPr marL="76200" marR="76200" marT="57150" marB="57150">
                    <a:solidFill>
                      <a:srgbClr val="F5F3FB"/>
                    </a:solidFill>
                  </a:tcPr>
                </a:tc>
                <a:tc>
                  <a:txBody>
                    <a:bodyPr wrap="square"/>
                    <a:lstStyle/>
                    <a:p>
                      <a:pPr algn="r"/>
                      <a:r>
                        <a:rPr sz="1087" b="1">
                          <a:solidFill>
                            <a:srgbClr val="22252B"/>
                          </a:solidFill>
                          <a:latin typeface="Arial"/>
                        </a:rPr>
                        <a:t>Md€</a:t>
                      </a:r>
                    </a:p>
                  </a:txBody>
                  <a:tcPr marL="76200" marR="76200" marT="57150" marB="57150">
                    <a:solidFill>
                      <a:srgbClr val="F5F3FB"/>
                    </a:solidFill>
                  </a:tcPr>
                </a:tc>
              </a:tr>
              <a:tr h="319831">
                <a:tc>
                  <a:txBody>
                    <a:bodyPr wrap="square"/>
                    <a:lstStyle/>
                    <a:p>
                      <a:r>
                        <a:rPr sz="1087" b="0">
                          <a:solidFill>
                            <a:srgbClr val="22252B"/>
                          </a:solidFill>
                          <a:latin typeface="Arial"/>
                        </a:rPr>
                        <a:t>Nucléaire</a:t>
                      </a:r>
                    </a:p>
                  </a:txBody>
                  <a:tcPr marL="76200" marR="76200" marT="57150" marB="57150">
                    <a:solidFill>
                      <a:srgbClr val="FFFFFF"/>
                    </a:solidFill>
                  </a:tcPr>
                </a:tc>
                <a:tc>
                  <a:txBody>
                    <a:bodyPr wrap="square"/>
                    <a:lstStyle/>
                    <a:p>
                      <a:pPr algn="r"/>
                      <a:r>
                        <a:rPr sz="1087" b="0">
                          <a:solidFill>
                            <a:srgbClr val="22252B"/>
                          </a:solidFill>
                          <a:latin typeface="Arial"/>
                        </a:rPr>
                        <a:t>16,2</a:t>
                      </a:r>
                    </a:p>
                  </a:txBody>
                  <a:tcPr marL="76200" marR="76200" marT="57150" marB="57150">
                    <a:solidFill>
                      <a:srgbClr val="FFFFFF"/>
                    </a:solidFill>
                  </a:tcPr>
                </a:tc>
              </a:tr>
              <a:tr h="319831">
                <a:tc>
                  <a:txBody>
                    <a:bodyPr wrap="square"/>
                    <a:lstStyle/>
                    <a:p>
                      <a:r>
                        <a:rPr sz="1087" b="0">
                          <a:solidFill>
                            <a:srgbClr val="22252B"/>
                          </a:solidFill>
                          <a:latin typeface="Arial"/>
                        </a:rPr>
                        <a:t>Hydraulique</a:t>
                      </a:r>
                    </a:p>
                  </a:txBody>
                  <a:tcPr marL="76200" marR="76200" marT="57150" marB="57150">
                    <a:solidFill>
                      <a:srgbClr val="FFFFFF"/>
                    </a:solidFill>
                  </a:tcPr>
                </a:tc>
                <a:tc>
                  <a:txBody>
                    <a:bodyPr wrap="square"/>
                    <a:lstStyle/>
                    <a:p>
                      <a:pPr algn="r"/>
                      <a:r>
                        <a:rPr sz="1087" b="0">
                          <a:solidFill>
                            <a:srgbClr val="22252B"/>
                          </a:solidFill>
                          <a:latin typeface="Arial"/>
                        </a:rPr>
                        <a:t>2,6</a:t>
                      </a:r>
                    </a:p>
                  </a:txBody>
                  <a:tcPr marL="76200" marR="76200" marT="57150" marB="57150">
                    <a:solidFill>
                      <a:srgbClr val="FFFFFF"/>
                    </a:solidFill>
                  </a:tcPr>
                </a:tc>
              </a:tr>
              <a:tr h="319831">
                <a:tc>
                  <a:txBody>
                    <a:bodyPr wrap="square"/>
                    <a:lstStyle/>
                    <a:p>
                      <a:r>
                        <a:rPr sz="1087" b="0">
                          <a:solidFill>
                            <a:srgbClr val="22252B"/>
                          </a:solidFill>
                          <a:latin typeface="Arial"/>
                        </a:rPr>
                        <a:t>Éolien et solaire</a:t>
                      </a:r>
                    </a:p>
                  </a:txBody>
                  <a:tcPr marL="76200" marR="76200" marT="57150" marB="57150">
                    <a:solidFill>
                      <a:srgbClr val="FFFFFF"/>
                    </a:solidFill>
                  </a:tcPr>
                </a:tc>
                <a:tc>
                  <a:txBody>
                    <a:bodyPr wrap="square"/>
                    <a:lstStyle/>
                    <a:p>
                      <a:pPr algn="r"/>
                      <a:r>
                        <a:rPr sz="1087" b="0">
                          <a:solidFill>
                            <a:srgbClr val="22252B"/>
                          </a:solidFill>
                          <a:latin typeface="Arial"/>
                        </a:rPr>
                        <a:t>2,8</a:t>
                      </a:r>
                    </a:p>
                  </a:txBody>
                  <a:tcPr marL="76200" marR="76200" marT="57150" marB="57150">
                    <a:solidFill>
                      <a:srgbClr val="FFFFFF"/>
                    </a:solidFill>
                  </a:tcPr>
                </a:tc>
              </a:tr>
              <a:tr h="319831">
                <a:tc>
                  <a:txBody>
                    <a:bodyPr wrap="square"/>
                    <a:lstStyle/>
                    <a:p>
                      <a:r>
                        <a:rPr sz="1087" b="0">
                          <a:solidFill>
                            <a:srgbClr val="22252B"/>
                          </a:solidFill>
                          <a:latin typeface="Arial"/>
                        </a:rPr>
                        <a:t>Gaz, charbon, fioul, bioénergies</a:t>
                      </a:r>
                    </a:p>
                  </a:txBody>
                  <a:tcPr marL="76200" marR="76200" marT="57150" marB="57150">
                    <a:solidFill>
                      <a:srgbClr val="FFFFFF"/>
                    </a:solidFill>
                  </a:tcPr>
                </a:tc>
                <a:tc>
                  <a:txBody>
                    <a:bodyPr wrap="square"/>
                    <a:lstStyle/>
                    <a:p>
                      <a:pPr algn="r"/>
                      <a:r>
                        <a:rPr sz="1087" b="0">
                          <a:solidFill>
                            <a:srgbClr val="22252B"/>
                          </a:solidFill>
                          <a:latin typeface="Arial"/>
                        </a:rPr>
                        <a:t>1,2</a:t>
                      </a:r>
                    </a:p>
                  </a:txBody>
                  <a:tcPr marL="76200" marR="76200" marT="57150" marB="57150">
                    <a:solidFill>
                      <a:srgbClr val="FFFFFF"/>
                    </a:solidFill>
                  </a:tcPr>
                </a:tc>
              </a:tr>
              <a:tr h="319831">
                <a:tc>
                  <a:txBody>
                    <a:bodyPr wrap="square"/>
                    <a:lstStyle/>
                    <a:p>
                      <a:r>
                        <a:rPr sz="1087" b="0">
                          <a:solidFill>
                            <a:srgbClr val="22252B"/>
                          </a:solidFill>
                          <a:latin typeface="Arial"/>
                        </a:rPr>
                        <a:t>Rente de congestion (deux côtés)</a:t>
                      </a:r>
                    </a:p>
                  </a:txBody>
                  <a:tcPr marL="76200" marR="76200" marT="57150" marB="57150">
                    <a:solidFill>
                      <a:srgbClr val="FFFFFF"/>
                    </a:solidFill>
                  </a:tcPr>
                </a:tc>
                <a:tc>
                  <a:txBody>
                    <a:bodyPr wrap="square"/>
                    <a:lstStyle/>
                    <a:p>
                      <a:pPr algn="r"/>
                      <a:r>
                        <a:rPr sz="1087" b="0">
                          <a:solidFill>
                            <a:srgbClr val="22252B"/>
                          </a:solidFill>
                          <a:latin typeface="Arial"/>
                        </a:rPr>
                        <a:t>4,5</a:t>
                      </a:r>
                    </a:p>
                  </a:txBody>
                  <a:tcPr marL="76200" marR="76200" marT="57150" marB="57150">
                    <a:solidFill>
                      <a:srgbClr val="FFFFFF"/>
                    </a:solidFill>
                  </a:tcPr>
                </a:tc>
              </a:tr>
            </a:tbl>
          </a:graphicData>
        </a:graphic>
      </p:graphicFrame>
      <p:sp>
        <p:nvSpPr>
          <p:cNvPr id="5" name="TextBox 4"/>
          <p:cNvSpPr txBox="1"/>
          <p:nvPr/>
        </p:nvSpPr>
        <p:spPr>
          <a:xfrm>
            <a:off x="571500" y="4094261"/>
            <a:ext cx="5512742" cy="520303"/>
          </a:xfrm>
          <a:prstGeom prst="rect">
            <a:avLst/>
          </a:prstGeom>
          <a:noFill/>
        </p:spPr>
        <p:txBody>
          <a:bodyPr wrap="square" lIns="0" rIns="0" tIns="0" bIns="0" anchor="t">
            <a:spAutoFit/>
          </a:bodyPr>
          <a:lstStyle/>
          <a:p>
            <a:r>
              <a:rPr sz="937" b="0">
                <a:solidFill>
                  <a:srgbClr val="8A8F98"/>
                </a:solidFill>
                <a:latin typeface="Arial"/>
              </a:rPr>
              <a:t>Producteurs : chiffre d’affaires de marché en plus (prix × production réelle − prix isolé × production isolée), pas un bénéfice. Les exports retirés dans le monde isolé sont pris sur chaque centrale pilotable au prorata de sa production de l’heure ; l’écrêtement sur l’éolien et le solaire.</a:t>
            </a:r>
          </a:p>
        </p:txBody>
      </p:sp>
      <p:sp>
        <p:nvSpPr>
          <p:cNvPr id="6" name="TextBox 5"/>
          <p:cNvSpPr txBox="1"/>
          <p:nvPr/>
        </p:nvSpPr>
        <p:spPr>
          <a:xfrm>
            <a:off x="6369992" y="1101476"/>
            <a:ext cx="5250507" cy="3333750"/>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Nucléaire → EDF, détenue à 100 % par l’État depuis juin 2023</a:t>
            </a:r>
            <a:r>
              <a:rPr sz="1162" b="0">
                <a:solidFill>
                  <a:srgbClr val="22252B"/>
                </a:solidFill>
                <a:latin typeface="Arial"/>
              </a:rPr>
              <a:t> : une partie revient au contribuable (dividendes, impôts). Jusqu’en 2025, l’ARENH vendait une partie du nucléaire à 42 €/MWh : sur cette part, pas de hausse pour le consommateur ni de gain pour EDF ; le chiffre est donc un maximum. Depuis 2026, le VNU prélève les revenus nucléaires au-dessus de 78 €/MWh (rien en 2026 : revenu estimé 66 €).</a:t>
            </a:r>
          </a:p>
          <a:p>
            <a:pPr marL="152400" indent="-133350">
              <a:spcAft>
                <a:spcPts val="500"/>
              </a:spcAft>
              <a:buChar char="•"/>
            </a:pPr>
            <a:r>
              <a:rPr sz="1162" b="1">
                <a:solidFill>
                  <a:srgbClr val="22252B"/>
                </a:solidFill>
                <a:latin typeface="Arial"/>
              </a:rPr>
              <a:t>Éolien et solaire</a:t>
            </a:r>
            <a:r>
              <a:rPr sz="1162" b="0">
                <a:solidFill>
                  <a:srgbClr val="22252B"/>
                </a:solidFill>
                <a:latin typeface="Arial"/>
              </a:rPr>
              <a:t> : pour les parcs sous contrat (obligation d’achat, complément de rémunération), l’État paie la différence entre le tarif garanti et le prix de marché. Un prix plus haut </a:t>
            </a:r>
            <a:r>
              <a:rPr sz="1162" b="1">
                <a:solidFill>
                  <a:srgbClr val="22252B"/>
                </a:solidFill>
                <a:latin typeface="Arial"/>
              </a:rPr>
              <a:t>allège la dépense publique</a:t>
            </a:r>
            <a:r>
              <a:rPr sz="1162" b="0">
                <a:solidFill>
                  <a:srgbClr val="22252B"/>
                </a:solidFill>
                <a:latin typeface="Arial"/>
              </a:rPr>
              <a:t>. Le soutien à l’électricité renouvelable a coûté 6,2 Md€ en 2025 (CRE) ; sans couplage, il aurait été plus élevé, jusqu’à 2,8 Md€ si tous les parcs étaient sous contrat (part non chiffrée ici).</a:t>
            </a:r>
          </a:p>
          <a:p>
            <a:pPr marL="152400" indent="-133350">
              <a:spcAft>
                <a:spcPts val="500"/>
              </a:spcAft>
              <a:buChar char="•"/>
            </a:pPr>
            <a:r>
              <a:rPr sz="1162" b="1">
                <a:solidFill>
                  <a:srgbClr val="22252B"/>
                </a:solidFill>
                <a:latin typeface="Arial"/>
              </a:rPr>
              <a:t>Rente</a:t>
            </a:r>
            <a:r>
              <a:rPr sz="1162" b="0">
                <a:solidFill>
                  <a:srgbClr val="22252B"/>
                </a:solidFill>
                <a:latin typeface="Arial"/>
              </a:rPr>
              <a:t> : en principe moitié pour RTE, moitié pour le voisin. La part de RTE finance d’abord le réseau ; l’excédent est </a:t>
            </a:r>
            <a:r>
              <a:rPr sz="1162" b="1">
                <a:solidFill>
                  <a:srgbClr val="22252B"/>
                </a:solidFill>
                <a:latin typeface="Arial"/>
              </a:rPr>
              <a:t>déduit du TURPE</a:t>
            </a:r>
            <a:r>
              <a:rPr sz="1162" b="0">
                <a:solidFill>
                  <a:srgbClr val="22252B"/>
                </a:solidFill>
                <a:latin typeface="Arial"/>
              </a:rPr>
              <a:t> (459,7 M€ en 2025, CRE).</a:t>
            </a:r>
          </a:p>
        </p:txBody>
      </p:sp>
      <p:sp>
        <p:nvSpPr>
          <p:cNvPr id="7" name="TextBox 6"/>
          <p:cNvSpPr txBox="1"/>
          <p:nvPr/>
        </p:nvSpPr>
        <p:spPr>
          <a:xfrm>
            <a:off x="6369992" y="4492376"/>
            <a:ext cx="5250507" cy="681037"/>
          </a:xfrm>
          <a:prstGeom prst="rect">
            <a:avLst/>
          </a:prstGeom>
          <a:noFill/>
        </p:spPr>
        <p:txBody>
          <a:bodyPr wrap="square" lIns="0" rIns="0" tIns="0" bIns="0" anchor="t">
            <a:spAutoFit/>
          </a:bodyPr>
          <a:lstStyle/>
          <a:p>
            <a:r>
              <a:rPr sz="937" b="0">
                <a:solidFill>
                  <a:srgbClr val="8A8F98"/>
                </a:solidFill>
                <a:latin typeface="Arial"/>
              </a:rPr>
              <a:t>Sources : EDF, communiqué du 9 juin 2023 ; CRE, délibération CSPE 2026-149, annexe 3 ; CRE, recettes de congestion 2025 ; CRE, délibération 2026-52 (VNU) ; calcul PowerKlock. France isolée : estimation de modèle, jamais observée ; erreur ± 15 à 20 €/MWh sur une heure, biais annuel +0,6 à +2,6 €/MWh en 2020–2025, +8 € en 2026 (page 14).</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OÙ VA L’ARGENT</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Où va l’argent, année par année</a:t>
            </a:r>
          </a:p>
        </p:txBody>
      </p:sp>
      <p:graphicFrame>
        <p:nvGraphicFramePr>
          <p:cNvPr id="4" name="Table 3"/>
          <p:cNvGraphicFramePr>
            <a:graphicFrameLocks noGrp="1"/>
          </p:cNvGraphicFramePr>
          <p:nvPr/>
        </p:nvGraphicFramePr>
        <p:xfrm>
          <a:off x="571500" y="1101476"/>
          <a:ext cx="11048996" cy="3309188"/>
        </p:xfrm>
        <a:graphic>
          <a:graphicData uri="http://schemas.openxmlformats.org/drawingml/2006/table">
            <a:tbl>
              <a:tblPr firstRow="0" bandRow="0">
                <a:tableStyleId>{5C22544A-7EE6-4342-B048-85BDC9FD1C3A}</a:tableStyleId>
              </a:tblPr>
              <a:tblGrid>
                <a:gridCol w="1528464"/>
                <a:gridCol w="2094458"/>
                <a:gridCol w="1744265"/>
                <a:gridCol w="920353"/>
                <a:gridCol w="1121717"/>
                <a:gridCol w="1540073"/>
                <a:gridCol w="1253132"/>
                <a:gridCol w="846534"/>
              </a:tblGrid>
              <a:tr h="567183">
                <a:tc>
                  <a:txBody>
                    <a:bodyPr wrap="square"/>
                    <a:lstStyle/>
                    <a:p>
                      <a:r>
                        <a:rPr sz="1125" b="1">
                          <a:solidFill>
                            <a:srgbClr val="22252B"/>
                          </a:solidFill>
                          <a:latin typeface="Arial"/>
                        </a:rPr>
                        <a:t>Md€</a:t>
                      </a:r>
                    </a:p>
                  </a:txBody>
                  <a:tcPr marL="95250" marR="95250" marT="76200" marB="76200">
                    <a:solidFill>
                      <a:srgbClr val="F5F3FB"/>
                    </a:solidFill>
                  </a:tcPr>
                </a:tc>
                <a:tc>
                  <a:txBody>
                    <a:bodyPr wrap="square"/>
                    <a:lstStyle/>
                    <a:p>
                      <a:pPr algn="r"/>
                      <a:r>
                        <a:rPr sz="1125" b="1">
                          <a:solidFill>
                            <a:srgbClr val="22252B"/>
                          </a:solidFill>
                          <a:latin typeface="Arial"/>
                        </a:rPr>
                        <a:t>Consommation française</a:t>
                      </a:r>
                    </a:p>
                    <a:p>
                      <a:pPr algn="r"/>
                      <a:r>
                        <a:rPr sz="937" b="0">
                          <a:solidFill>
                            <a:srgbClr val="777777"/>
                          </a:solidFill>
                          <a:latin typeface="Arial"/>
                        </a:rPr>
                        <a:t>valeur au prix spot</a:t>
                      </a:r>
                    </a:p>
                  </a:txBody>
                  <a:tcPr marL="95250" marR="95250" marT="76200" marB="76200">
                    <a:solidFill>
                      <a:srgbClr val="F5F3FB"/>
                    </a:solidFill>
                  </a:tcPr>
                </a:tc>
                <a:tc>
                  <a:txBody>
                    <a:bodyPr wrap="square"/>
                    <a:lstStyle/>
                    <a:p>
                      <a:pPr algn="r"/>
                      <a:r>
                        <a:rPr sz="1125" b="1">
                          <a:solidFill>
                            <a:srgbClr val="22252B"/>
                          </a:solidFill>
                          <a:latin typeface="Arial"/>
                        </a:rPr>
                        <a:t>Acheteurs étrangers</a:t>
                      </a:r>
                    </a:p>
                    <a:p>
                      <a:pPr algn="r"/>
                      <a:r>
                        <a:rPr sz="937" b="0">
                          <a:solidFill>
                            <a:srgbClr val="777777"/>
                          </a:solidFill>
                          <a:latin typeface="Arial"/>
                        </a:rPr>
                        <a:t>exports</a:t>
                      </a:r>
                    </a:p>
                  </a:txBody>
                  <a:tcPr marL="95250" marR="95250" marT="76200" marB="76200">
                    <a:solidFill>
                      <a:srgbClr val="F5F3FB"/>
                    </a:solidFill>
                  </a:tcPr>
                </a:tc>
                <a:tc>
                  <a:txBody>
                    <a:bodyPr wrap="square"/>
                    <a:lstStyle/>
                    <a:p>
                      <a:pPr algn="r"/>
                      <a:r>
                        <a:rPr sz="1125" b="1">
                          <a:solidFill>
                            <a:srgbClr val="22252B"/>
                          </a:solidFill>
                          <a:latin typeface="Arial"/>
                        </a:rPr>
                        <a:t>Nucléaire</a:t>
                      </a:r>
                    </a:p>
                    <a:p>
                      <a:pPr algn="r"/>
                      <a:r>
                        <a:rPr sz="937" b="0">
                          <a:solidFill>
                            <a:srgbClr val="777777"/>
                          </a:solidFill>
                          <a:latin typeface="Arial"/>
                        </a:rPr>
                        <a:t>EDF (État)</a:t>
                      </a:r>
                    </a:p>
                  </a:txBody>
                  <a:tcPr marL="95250" marR="95250" marT="76200" marB="76200">
                    <a:solidFill>
                      <a:srgbClr val="F5F3FB"/>
                    </a:solidFill>
                  </a:tcPr>
                </a:tc>
                <a:tc>
                  <a:txBody>
                    <a:bodyPr wrap="square"/>
                    <a:lstStyle/>
                    <a:p>
                      <a:pPr algn="r"/>
                      <a:r>
                        <a:rPr sz="1125" b="1">
                          <a:solidFill>
                            <a:srgbClr val="22252B"/>
                          </a:solidFill>
                          <a:latin typeface="Arial"/>
                        </a:rPr>
                        <a:t>Hydraulique</a:t>
                      </a:r>
                    </a:p>
                  </a:txBody>
                  <a:tcPr marL="95250" marR="95250" marT="76200" marB="76200">
                    <a:solidFill>
                      <a:srgbClr val="F5F3FB"/>
                    </a:solidFill>
                  </a:tcPr>
                </a:tc>
                <a:tc>
                  <a:txBody>
                    <a:bodyPr wrap="square"/>
                    <a:lstStyle/>
                    <a:p>
                      <a:pPr algn="r"/>
                      <a:r>
                        <a:rPr sz="1125" b="1">
                          <a:solidFill>
                            <a:srgbClr val="22252B"/>
                          </a:solidFill>
                          <a:latin typeface="Arial"/>
                        </a:rPr>
                        <a:t>Éolien, solaire</a:t>
                      </a:r>
                    </a:p>
                    <a:p>
                      <a:pPr algn="r"/>
                      <a:r>
                        <a:rPr sz="937" b="0">
                          <a:solidFill>
                            <a:srgbClr val="777777"/>
                          </a:solidFill>
                          <a:latin typeface="Arial"/>
                        </a:rPr>
                        <a:t>allège le soutien public</a:t>
                      </a:r>
                    </a:p>
                  </a:txBody>
                  <a:tcPr marL="95250" marR="95250" marT="76200" marB="76200">
                    <a:solidFill>
                      <a:srgbClr val="F5F3FB"/>
                    </a:solidFill>
                  </a:tcPr>
                </a:tc>
                <a:tc>
                  <a:txBody>
                    <a:bodyPr wrap="square"/>
                    <a:lstStyle/>
                    <a:p>
                      <a:pPr algn="r"/>
                      <a:r>
                        <a:rPr sz="1125" b="1">
                          <a:solidFill>
                            <a:srgbClr val="22252B"/>
                          </a:solidFill>
                          <a:latin typeface="Arial"/>
                        </a:rPr>
                        <a:t>Gaz, charbon,</a:t>
                      </a:r>
                    </a:p>
                    <a:p>
                      <a:pPr algn="r"/>
                      <a:r>
                        <a:rPr sz="1125" b="1">
                          <a:solidFill>
                            <a:srgbClr val="22252B"/>
                          </a:solidFill>
                          <a:latin typeface="Arial"/>
                        </a:rPr>
                        <a:t>fioul, bio</a:t>
                      </a:r>
                    </a:p>
                  </a:txBody>
                  <a:tcPr marL="95250" marR="95250" marT="76200" marB="76200">
                    <a:solidFill>
                      <a:srgbClr val="F5F3FB"/>
                    </a:solidFill>
                  </a:tcPr>
                </a:tc>
                <a:tc>
                  <a:txBody>
                    <a:bodyPr wrap="square"/>
                    <a:lstStyle/>
                    <a:p>
                      <a:pPr algn="r"/>
                      <a:r>
                        <a:rPr sz="1125" b="1">
                          <a:solidFill>
                            <a:srgbClr val="22252B"/>
                          </a:solidFill>
                          <a:latin typeface="Arial"/>
                        </a:rPr>
                        <a:t>Rente</a:t>
                      </a:r>
                    </a:p>
                    <a:p>
                      <a:pPr algn="r"/>
                      <a:r>
                        <a:rPr sz="937" b="0">
                          <a:solidFill>
                            <a:srgbClr val="777777"/>
                          </a:solidFill>
                          <a:latin typeface="Arial"/>
                        </a:rPr>
                        <a:t>deux côtés</a:t>
                      </a:r>
                    </a:p>
                  </a:txBody>
                  <a:tcPr marL="95250" marR="95250" marT="76200" marB="76200">
                    <a:solidFill>
                      <a:srgbClr val="F5F3FB"/>
                    </a:solidFill>
                  </a:tcPr>
                </a:tc>
              </a:tr>
              <a:tr h="391715">
                <a:tc>
                  <a:txBody>
                    <a:bodyPr wrap="square"/>
                    <a:lstStyle/>
                    <a:p>
                      <a:r>
                        <a:rPr sz="1275" b="0">
                          <a:solidFill>
                            <a:srgbClr val="22252B"/>
                          </a:solidFill>
                          <a:latin typeface="Arial"/>
                        </a:rPr>
                        <a:t>2020</a:t>
                      </a:r>
                    </a:p>
                  </a:txBody>
                  <a:tcPr marL="95250" marR="95250" marT="76200" marB="76200">
                    <a:solidFill>
                      <a:srgbClr val="FFFFFF"/>
                    </a:solidFill>
                  </a:tcPr>
                </a:tc>
                <a:tc>
                  <a:txBody>
                    <a:bodyPr wrap="square"/>
                    <a:lstStyle/>
                    <a:p>
                      <a:pPr algn="r"/>
                      <a:r>
                        <a:rPr sz="1275" b="0">
                          <a:solidFill>
                            <a:srgbClr val="22252B"/>
                          </a:solidFill>
                          <a:latin typeface="Arial"/>
                        </a:rPr>
                        <a:t>5,9</a:t>
                      </a:r>
                    </a:p>
                  </a:txBody>
                  <a:tcPr marL="95250" marR="95250" marT="76200" marB="76200">
                    <a:solidFill>
                      <a:srgbClr val="FFFFFF"/>
                    </a:solidFill>
                  </a:tcPr>
                </a:tc>
                <a:tc>
                  <a:txBody>
                    <a:bodyPr wrap="square"/>
                    <a:lstStyle/>
                    <a:p>
                      <a:pPr algn="r"/>
                      <a:r>
                        <a:rPr sz="1275" b="0">
                          <a:solidFill>
                            <a:srgbClr val="22252B"/>
                          </a:solidFill>
                          <a:latin typeface="Arial"/>
                        </a:rPr>
                        <a:t>1,6</a:t>
                      </a:r>
                    </a:p>
                  </a:txBody>
                  <a:tcPr marL="95250" marR="95250" marT="76200" marB="76200">
                    <a:solidFill>
                      <a:srgbClr val="FFFFFF"/>
                    </a:solidFill>
                  </a:tcPr>
                </a:tc>
                <a:tc>
                  <a:txBody>
                    <a:bodyPr wrap="square"/>
                    <a:lstStyle/>
                    <a:p>
                      <a:pPr algn="r"/>
                      <a:r>
                        <a:rPr sz="1275" b="0">
                          <a:solidFill>
                            <a:srgbClr val="22252B"/>
                          </a:solidFill>
                          <a:latin typeface="Arial"/>
                        </a:rPr>
                        <a:t>5,0</a:t>
                      </a:r>
                    </a:p>
                  </a:txBody>
                  <a:tcPr marL="95250" marR="95250" marT="76200" marB="76200">
                    <a:solidFill>
                      <a:srgbClr val="FFFFFF"/>
                    </a:solidFill>
                  </a:tcPr>
                </a:tc>
                <a:tc>
                  <a:txBody>
                    <a:bodyPr wrap="square"/>
                    <a:lstStyle/>
                    <a:p>
                      <a:pPr algn="r"/>
                      <a:r>
                        <a:rPr sz="1275" b="0">
                          <a:solidFill>
                            <a:srgbClr val="22252B"/>
                          </a:solidFill>
                          <a:latin typeface="Arial"/>
                        </a:rPr>
                        <a:t>0,9</a:t>
                      </a:r>
                    </a:p>
                  </a:txBody>
                  <a:tcPr marL="95250" marR="95250" marT="76200" marB="76200">
                    <a:solidFill>
                      <a:srgbClr val="FFFFFF"/>
                    </a:solidFill>
                  </a:tcPr>
                </a:tc>
                <a:tc>
                  <a:txBody>
                    <a:bodyPr wrap="square"/>
                    <a:lstStyle/>
                    <a:p>
                      <a:pPr algn="r"/>
                      <a:r>
                        <a:rPr sz="1275" b="0">
                          <a:solidFill>
                            <a:srgbClr val="22252B"/>
                          </a:solidFill>
                          <a:latin typeface="Arial"/>
                        </a:rPr>
                        <a:t>0,8</a:t>
                      </a:r>
                    </a:p>
                  </a:txBody>
                  <a:tcPr marL="95250" marR="95250" marT="76200" marB="76200">
                    <a:solidFill>
                      <a:srgbClr val="FFFFFF"/>
                    </a:solidFill>
                  </a:tcPr>
                </a:tc>
                <a:tc>
                  <a:txBody>
                    <a:bodyPr wrap="square"/>
                    <a:lstStyle/>
                    <a:p>
                      <a:pPr algn="r"/>
                      <a:r>
                        <a:rPr sz="1275" b="0">
                          <a:solidFill>
                            <a:srgbClr val="22252B"/>
                          </a:solidFill>
                          <a:latin typeface="Arial"/>
                        </a:rPr>
                        <a:t>0,6</a:t>
                      </a:r>
                    </a:p>
                  </a:txBody>
                  <a:tcPr marL="95250" marR="95250" marT="76200" marB="76200">
                    <a:solidFill>
                      <a:srgbClr val="FFFFFF"/>
                    </a:solidFill>
                  </a:tcPr>
                </a:tc>
                <a:tc>
                  <a:txBody>
                    <a:bodyPr wrap="square"/>
                    <a:lstStyle/>
                    <a:p>
                      <a:pPr algn="r"/>
                      <a:r>
                        <a:rPr sz="1275" b="0">
                          <a:solidFill>
                            <a:srgbClr val="22252B"/>
                          </a:solidFill>
                          <a:latin typeface="Arial"/>
                        </a:rPr>
                        <a:t>0,5</a:t>
                      </a:r>
                    </a:p>
                  </a:txBody>
                  <a:tcPr marL="95250" marR="95250" marT="76200" marB="76200">
                    <a:solidFill>
                      <a:srgbClr val="FFFFFF"/>
                    </a:solidFill>
                  </a:tcPr>
                </a:tc>
              </a:tr>
              <a:tr h="391715">
                <a:tc>
                  <a:txBody>
                    <a:bodyPr wrap="square"/>
                    <a:lstStyle/>
                    <a:p>
                      <a:r>
                        <a:rPr sz="1275" b="0">
                          <a:solidFill>
                            <a:srgbClr val="22252B"/>
                          </a:solidFill>
                          <a:latin typeface="Arial"/>
                        </a:rPr>
                        <a:t>2021</a:t>
                      </a:r>
                    </a:p>
                  </a:txBody>
                  <a:tcPr marL="95250" marR="95250" marT="76200" marB="76200">
                    <a:solidFill>
                      <a:srgbClr val="FFFFFF"/>
                    </a:solidFill>
                  </a:tcPr>
                </a:tc>
                <a:tc>
                  <a:txBody>
                    <a:bodyPr wrap="square"/>
                    <a:lstStyle/>
                    <a:p>
                      <a:pPr algn="r"/>
                      <a:r>
                        <a:rPr sz="1275" b="0">
                          <a:solidFill>
                            <a:srgbClr val="22252B"/>
                          </a:solidFill>
                          <a:latin typeface="Arial"/>
                        </a:rPr>
                        <a:t>10,6</a:t>
                      </a:r>
                    </a:p>
                  </a:txBody>
                  <a:tcPr marL="95250" marR="95250" marT="76200" marB="76200">
                    <a:solidFill>
                      <a:srgbClr val="FFFFFF"/>
                    </a:solidFill>
                  </a:tcPr>
                </a:tc>
                <a:tc>
                  <a:txBody>
                    <a:bodyPr wrap="square"/>
                    <a:lstStyle/>
                    <a:p>
                      <a:pPr algn="r"/>
                      <a:r>
                        <a:rPr sz="1275" b="0">
                          <a:solidFill>
                            <a:srgbClr val="22252B"/>
                          </a:solidFill>
                          <a:latin typeface="Arial"/>
                        </a:rPr>
                        <a:t>4,5</a:t>
                      </a:r>
                    </a:p>
                  </a:txBody>
                  <a:tcPr marL="95250" marR="95250" marT="76200" marB="76200">
                    <a:solidFill>
                      <a:srgbClr val="FFFFFF"/>
                    </a:solidFill>
                  </a:tcPr>
                </a:tc>
                <a:tc>
                  <a:txBody>
                    <a:bodyPr wrap="square"/>
                    <a:lstStyle/>
                    <a:p>
                      <a:pPr algn="r"/>
                      <a:r>
                        <a:rPr sz="1275" b="0">
                          <a:solidFill>
                            <a:srgbClr val="22252B"/>
                          </a:solidFill>
                          <a:latin typeface="Arial"/>
                        </a:rPr>
                        <a:t>11,0</a:t>
                      </a:r>
                    </a:p>
                  </a:txBody>
                  <a:tcPr marL="95250" marR="95250" marT="76200" marB="76200">
                    <a:solidFill>
                      <a:srgbClr val="FFFFFF"/>
                    </a:solidFill>
                  </a:tcPr>
                </a:tc>
                <a:tc>
                  <a:txBody>
                    <a:bodyPr wrap="square"/>
                    <a:lstStyle/>
                    <a:p>
                      <a:pPr algn="r"/>
                      <a:r>
                        <a:rPr sz="1275" b="0">
                          <a:solidFill>
                            <a:srgbClr val="22252B"/>
                          </a:solidFill>
                          <a:latin typeface="Arial"/>
                        </a:rPr>
                        <a:t>1,0</a:t>
                      </a:r>
                    </a:p>
                  </a:txBody>
                  <a:tcPr marL="95250" marR="95250" marT="76200" marB="76200">
                    <a:solidFill>
                      <a:srgbClr val="FFFFFF"/>
                    </a:solidFill>
                  </a:tcPr>
                </a:tc>
                <a:tc>
                  <a:txBody>
                    <a:bodyPr wrap="square"/>
                    <a:lstStyle/>
                    <a:p>
                      <a:pPr algn="r"/>
                      <a:r>
                        <a:rPr sz="1275" b="0">
                          <a:solidFill>
                            <a:srgbClr val="22252B"/>
                          </a:solidFill>
                          <a:latin typeface="Arial"/>
                        </a:rPr>
                        <a:t>1,5</a:t>
                      </a:r>
                    </a:p>
                  </a:txBody>
                  <a:tcPr marL="95250" marR="95250" marT="76200" marB="76200">
                    <a:solidFill>
                      <a:srgbClr val="FFFFFF"/>
                    </a:solidFill>
                  </a:tcPr>
                </a:tc>
                <a:tc>
                  <a:txBody>
                    <a:bodyPr wrap="square"/>
                    <a:lstStyle/>
                    <a:p>
                      <a:pPr algn="r"/>
                      <a:r>
                        <a:rPr sz="1275" b="0">
                          <a:solidFill>
                            <a:srgbClr val="22252B"/>
                          </a:solidFill>
                          <a:latin typeface="Arial"/>
                        </a:rPr>
                        <a:t>0,4</a:t>
                      </a:r>
                    </a:p>
                  </a:txBody>
                  <a:tcPr marL="95250" marR="95250" marT="76200" marB="76200">
                    <a:solidFill>
                      <a:srgbClr val="FFFFFF"/>
                    </a:solidFill>
                  </a:tcPr>
                </a:tc>
                <a:tc>
                  <a:txBody>
                    <a:bodyPr wrap="square"/>
                    <a:lstStyle/>
                    <a:p>
                      <a:pPr algn="r"/>
                      <a:r>
                        <a:rPr sz="1275" b="0">
                          <a:solidFill>
                            <a:srgbClr val="22252B"/>
                          </a:solidFill>
                          <a:latin typeface="Arial"/>
                        </a:rPr>
                        <a:t>1,9</a:t>
                      </a:r>
                    </a:p>
                  </a:txBody>
                  <a:tcPr marL="95250" marR="95250" marT="76200" marB="76200">
                    <a:solidFill>
                      <a:srgbClr val="FFFFFF"/>
                    </a:solidFill>
                  </a:tcPr>
                </a:tc>
              </a:tr>
              <a:tr h="391715">
                <a:tc>
                  <a:txBody>
                    <a:bodyPr wrap="square"/>
                    <a:lstStyle/>
                    <a:p>
                      <a:r>
                        <a:rPr sz="1275" b="0">
                          <a:solidFill>
                            <a:srgbClr val="22252B"/>
                          </a:solidFill>
                          <a:latin typeface="Arial"/>
                        </a:rPr>
                        <a:t>2022</a:t>
                      </a:r>
                    </a:p>
                  </a:txBody>
                  <a:tcPr marL="95250" marR="95250" marT="76200" marB="76200">
                    <a:solidFill>
                      <a:srgbClr val="FFFFFF"/>
                    </a:solidFill>
                  </a:tcPr>
                </a:tc>
                <a:tc>
                  <a:txBody>
                    <a:bodyPr wrap="square"/>
                    <a:lstStyle/>
                    <a:p>
                      <a:pPr algn="r"/>
                      <a:r>
                        <a:rPr sz="1275" b="0">
                          <a:solidFill>
                            <a:srgbClr val="22252B"/>
                          </a:solidFill>
                          <a:latin typeface="Arial"/>
                        </a:rPr>
                        <a:t>-10,2</a:t>
                      </a:r>
                    </a:p>
                  </a:txBody>
                  <a:tcPr marL="95250" marR="95250" marT="76200" marB="76200">
                    <a:solidFill>
                      <a:srgbClr val="FFFFFF"/>
                    </a:solidFill>
                  </a:tcPr>
                </a:tc>
                <a:tc>
                  <a:txBody>
                    <a:bodyPr wrap="square"/>
                    <a:lstStyle/>
                    <a:p>
                      <a:pPr algn="r"/>
                      <a:r>
                        <a:rPr sz="1275" b="0">
                          <a:solidFill>
                            <a:srgbClr val="22252B"/>
                          </a:solidFill>
                          <a:latin typeface="Arial"/>
                        </a:rPr>
                        <a:t>-2,3</a:t>
                      </a:r>
                    </a:p>
                  </a:txBody>
                  <a:tcPr marL="95250" marR="95250" marT="76200" marB="76200">
                    <a:solidFill>
                      <a:srgbClr val="FFFFFF"/>
                    </a:solidFill>
                  </a:tcPr>
                </a:tc>
                <a:tc>
                  <a:txBody>
                    <a:bodyPr wrap="square"/>
                    <a:lstStyle/>
                    <a:p>
                      <a:pPr algn="r"/>
                      <a:r>
                        <a:rPr sz="1275" b="0">
                          <a:solidFill>
                            <a:srgbClr val="22252B"/>
                          </a:solidFill>
                          <a:latin typeface="Arial"/>
                        </a:rPr>
                        <a:t>-7,5</a:t>
                      </a:r>
                    </a:p>
                  </a:txBody>
                  <a:tcPr marL="95250" marR="95250" marT="76200" marB="76200">
                    <a:solidFill>
                      <a:srgbClr val="FFFFFF"/>
                    </a:solidFill>
                  </a:tcPr>
                </a:tc>
                <a:tc>
                  <a:txBody>
                    <a:bodyPr wrap="square"/>
                    <a:lstStyle/>
                    <a:p>
                      <a:pPr algn="r"/>
                      <a:r>
                        <a:rPr sz="1275" b="0">
                          <a:solidFill>
                            <a:srgbClr val="22252B"/>
                          </a:solidFill>
                          <a:latin typeface="Arial"/>
                        </a:rPr>
                        <a:t>-4,5</a:t>
                      </a:r>
                    </a:p>
                  </a:txBody>
                  <a:tcPr marL="95250" marR="95250" marT="76200" marB="76200">
                    <a:solidFill>
                      <a:srgbClr val="FFFFFF"/>
                    </a:solidFill>
                  </a:tcPr>
                </a:tc>
                <a:tc>
                  <a:txBody>
                    <a:bodyPr wrap="square"/>
                    <a:lstStyle/>
                    <a:p>
                      <a:pPr algn="r"/>
                      <a:r>
                        <a:rPr sz="1275" b="0">
                          <a:solidFill>
                            <a:srgbClr val="22252B"/>
                          </a:solidFill>
                          <a:latin typeface="Arial"/>
                        </a:rPr>
                        <a:t>-0,7</a:t>
                      </a:r>
                    </a:p>
                  </a:txBody>
                  <a:tcPr marL="95250" marR="95250" marT="76200" marB="76200">
                    <a:solidFill>
                      <a:srgbClr val="FFFFFF"/>
                    </a:solidFill>
                  </a:tcPr>
                </a:tc>
                <a:tc>
                  <a:txBody>
                    <a:bodyPr wrap="square"/>
                    <a:lstStyle/>
                    <a:p>
                      <a:pPr algn="r"/>
                      <a:r>
                        <a:rPr sz="1275" b="0">
                          <a:solidFill>
                            <a:srgbClr val="22252B"/>
                          </a:solidFill>
                          <a:latin typeface="Arial"/>
                        </a:rPr>
                        <a:t>-4,5</a:t>
                      </a:r>
                    </a:p>
                  </a:txBody>
                  <a:tcPr marL="95250" marR="95250" marT="76200" marB="76200">
                    <a:solidFill>
                      <a:srgbClr val="FFFFFF"/>
                    </a:solidFill>
                  </a:tcPr>
                </a:tc>
                <a:tc>
                  <a:txBody>
                    <a:bodyPr wrap="square"/>
                    <a:lstStyle/>
                    <a:p>
                      <a:pPr algn="r"/>
                      <a:r>
                        <a:rPr sz="1275" b="0">
                          <a:solidFill>
                            <a:srgbClr val="22252B"/>
                          </a:solidFill>
                          <a:latin typeface="Arial"/>
                        </a:rPr>
                        <a:t>5,6</a:t>
                      </a:r>
                    </a:p>
                  </a:txBody>
                  <a:tcPr marL="95250" marR="95250" marT="76200" marB="76200">
                    <a:solidFill>
                      <a:srgbClr val="FFFFFF"/>
                    </a:solidFill>
                  </a:tcPr>
                </a:tc>
              </a:tr>
              <a:tr h="391715">
                <a:tc>
                  <a:txBody>
                    <a:bodyPr wrap="square"/>
                    <a:lstStyle/>
                    <a:p>
                      <a:r>
                        <a:rPr sz="1275" b="0">
                          <a:solidFill>
                            <a:srgbClr val="22252B"/>
                          </a:solidFill>
                          <a:latin typeface="Arial"/>
                        </a:rPr>
                        <a:t>2023</a:t>
                      </a:r>
                    </a:p>
                  </a:txBody>
                  <a:tcPr marL="95250" marR="95250" marT="76200" marB="76200">
                    <a:solidFill>
                      <a:srgbClr val="FFFFFF"/>
                    </a:solidFill>
                  </a:tcPr>
                </a:tc>
                <a:tc>
                  <a:txBody>
                    <a:bodyPr wrap="square"/>
                    <a:lstStyle/>
                    <a:p>
                      <a:pPr algn="r"/>
                      <a:r>
                        <a:rPr sz="1275" b="0">
                          <a:solidFill>
                            <a:srgbClr val="22252B"/>
                          </a:solidFill>
                          <a:latin typeface="Arial"/>
                        </a:rPr>
                        <a:t>12,2</a:t>
                      </a:r>
                    </a:p>
                  </a:txBody>
                  <a:tcPr marL="95250" marR="95250" marT="76200" marB="76200">
                    <a:solidFill>
                      <a:srgbClr val="FFFFFF"/>
                    </a:solidFill>
                  </a:tcPr>
                </a:tc>
                <a:tc>
                  <a:txBody>
                    <a:bodyPr wrap="square"/>
                    <a:lstStyle/>
                    <a:p>
                      <a:pPr algn="r"/>
                      <a:r>
                        <a:rPr sz="1275" b="0">
                          <a:solidFill>
                            <a:srgbClr val="22252B"/>
                          </a:solidFill>
                          <a:latin typeface="Arial"/>
                        </a:rPr>
                        <a:t>6,0</a:t>
                      </a:r>
                    </a:p>
                  </a:txBody>
                  <a:tcPr marL="95250" marR="95250" marT="76200" marB="76200">
                    <a:solidFill>
                      <a:srgbClr val="FFFFFF"/>
                    </a:solidFill>
                  </a:tcPr>
                </a:tc>
                <a:tc>
                  <a:txBody>
                    <a:bodyPr wrap="square"/>
                    <a:lstStyle/>
                    <a:p>
                      <a:pPr algn="r"/>
                      <a:r>
                        <a:rPr sz="1275" b="0">
                          <a:solidFill>
                            <a:srgbClr val="22252B"/>
                          </a:solidFill>
                          <a:latin typeface="Arial"/>
                        </a:rPr>
                        <a:t>11,3</a:t>
                      </a:r>
                    </a:p>
                  </a:txBody>
                  <a:tcPr marL="95250" marR="95250" marT="76200" marB="76200">
                    <a:solidFill>
                      <a:srgbClr val="FFFFFF"/>
                    </a:solidFill>
                  </a:tcPr>
                </a:tc>
                <a:tc>
                  <a:txBody>
                    <a:bodyPr wrap="square"/>
                    <a:lstStyle/>
                    <a:p>
                      <a:pPr algn="r"/>
                      <a:r>
                        <a:rPr sz="1275" b="0">
                          <a:solidFill>
                            <a:srgbClr val="22252B"/>
                          </a:solidFill>
                          <a:latin typeface="Arial"/>
                        </a:rPr>
                        <a:t>1,7</a:t>
                      </a:r>
                    </a:p>
                  </a:txBody>
                  <a:tcPr marL="95250" marR="95250" marT="76200" marB="76200">
                    <a:solidFill>
                      <a:srgbClr val="FFFFFF"/>
                    </a:solidFill>
                  </a:tcPr>
                </a:tc>
                <a:tc>
                  <a:txBody>
                    <a:bodyPr wrap="square"/>
                    <a:lstStyle/>
                    <a:p>
                      <a:pPr algn="r"/>
                      <a:r>
                        <a:rPr sz="1275" b="0">
                          <a:solidFill>
                            <a:srgbClr val="22252B"/>
                          </a:solidFill>
                          <a:latin typeface="Arial"/>
                        </a:rPr>
                        <a:t>2,5</a:t>
                      </a:r>
                    </a:p>
                  </a:txBody>
                  <a:tcPr marL="95250" marR="95250" marT="76200" marB="76200">
                    <a:solidFill>
                      <a:srgbClr val="FFFFFF"/>
                    </a:solidFill>
                  </a:tcPr>
                </a:tc>
                <a:tc>
                  <a:txBody>
                    <a:bodyPr wrap="square"/>
                    <a:lstStyle/>
                    <a:p>
                      <a:pPr algn="r"/>
                      <a:r>
                        <a:rPr sz="1275" b="0">
                          <a:solidFill>
                            <a:srgbClr val="22252B"/>
                          </a:solidFill>
                          <a:latin typeface="Arial"/>
                        </a:rPr>
                        <a:t>0,9</a:t>
                      </a:r>
                    </a:p>
                  </a:txBody>
                  <a:tcPr marL="95250" marR="95250" marT="76200" marB="76200">
                    <a:solidFill>
                      <a:srgbClr val="FFFFFF"/>
                    </a:solidFill>
                  </a:tcPr>
                </a:tc>
                <a:tc>
                  <a:txBody>
                    <a:bodyPr wrap="square"/>
                    <a:lstStyle/>
                    <a:p>
                      <a:pPr algn="r"/>
                      <a:r>
                        <a:rPr sz="1275" b="0">
                          <a:solidFill>
                            <a:srgbClr val="22252B"/>
                          </a:solidFill>
                          <a:latin typeface="Arial"/>
                        </a:rPr>
                        <a:t>2,1</a:t>
                      </a:r>
                    </a:p>
                  </a:txBody>
                  <a:tcPr marL="95250" marR="95250" marT="76200" marB="76200">
                    <a:solidFill>
                      <a:srgbClr val="FFFFFF"/>
                    </a:solidFill>
                  </a:tcPr>
                </a:tc>
              </a:tr>
              <a:tr h="391715">
                <a:tc>
                  <a:txBody>
                    <a:bodyPr wrap="square"/>
                    <a:lstStyle/>
                    <a:p>
                      <a:r>
                        <a:rPr sz="1275" b="0">
                          <a:solidFill>
                            <a:srgbClr val="22252B"/>
                          </a:solidFill>
                          <a:latin typeface="Arial"/>
                        </a:rPr>
                        <a:t>2024</a:t>
                      </a:r>
                    </a:p>
                  </a:txBody>
                  <a:tcPr marL="95250" marR="95250" marT="76200" marB="76200">
                    <a:solidFill>
                      <a:srgbClr val="FFFFFF"/>
                    </a:solidFill>
                  </a:tcPr>
                </a:tc>
                <a:tc>
                  <a:txBody>
                    <a:bodyPr wrap="square"/>
                    <a:lstStyle/>
                    <a:p>
                      <a:pPr algn="r"/>
                      <a:r>
                        <a:rPr sz="1275" b="0">
                          <a:solidFill>
                            <a:srgbClr val="22252B"/>
                          </a:solidFill>
                          <a:latin typeface="Arial"/>
                        </a:rPr>
                        <a:t>16,8</a:t>
                      </a:r>
                    </a:p>
                  </a:txBody>
                  <a:tcPr marL="95250" marR="95250" marT="76200" marB="76200">
                    <a:solidFill>
                      <a:srgbClr val="FFFFFF"/>
                    </a:solidFill>
                  </a:tcPr>
                </a:tc>
                <a:tc>
                  <a:txBody>
                    <a:bodyPr wrap="square"/>
                    <a:lstStyle/>
                    <a:p>
                      <a:pPr algn="r"/>
                      <a:r>
                        <a:rPr sz="1275" b="0">
                          <a:solidFill>
                            <a:srgbClr val="22252B"/>
                          </a:solidFill>
                          <a:latin typeface="Arial"/>
                        </a:rPr>
                        <a:t>8,4</a:t>
                      </a:r>
                    </a:p>
                  </a:txBody>
                  <a:tcPr marL="95250" marR="95250" marT="76200" marB="76200">
                    <a:solidFill>
                      <a:srgbClr val="FFFFFF"/>
                    </a:solidFill>
                  </a:tcPr>
                </a:tc>
                <a:tc>
                  <a:txBody>
                    <a:bodyPr wrap="square"/>
                    <a:lstStyle/>
                    <a:p>
                      <a:pPr algn="r"/>
                      <a:r>
                        <a:rPr sz="1275" b="0">
                          <a:solidFill>
                            <a:srgbClr val="22252B"/>
                          </a:solidFill>
                          <a:latin typeface="Arial"/>
                        </a:rPr>
                        <a:t>15,4</a:t>
                      </a:r>
                    </a:p>
                  </a:txBody>
                  <a:tcPr marL="95250" marR="95250" marT="76200" marB="76200">
                    <a:solidFill>
                      <a:srgbClr val="FFFFFF"/>
                    </a:solidFill>
                  </a:tcPr>
                </a:tc>
                <a:tc>
                  <a:txBody>
                    <a:bodyPr wrap="square"/>
                    <a:lstStyle/>
                    <a:p>
                      <a:pPr algn="r"/>
                      <a:r>
                        <a:rPr sz="1275" b="0">
                          <a:solidFill>
                            <a:srgbClr val="22252B"/>
                          </a:solidFill>
                          <a:latin typeface="Arial"/>
                        </a:rPr>
                        <a:t>3,0</a:t>
                      </a:r>
                    </a:p>
                  </a:txBody>
                  <a:tcPr marL="95250" marR="95250" marT="76200" marB="76200">
                    <a:solidFill>
                      <a:srgbClr val="FFFFFF"/>
                    </a:solidFill>
                  </a:tcPr>
                </a:tc>
                <a:tc>
                  <a:txBody>
                    <a:bodyPr wrap="square"/>
                    <a:lstStyle/>
                    <a:p>
                      <a:pPr algn="r"/>
                      <a:r>
                        <a:rPr sz="1275" b="0">
                          <a:solidFill>
                            <a:srgbClr val="22252B"/>
                          </a:solidFill>
                          <a:latin typeface="Arial"/>
                        </a:rPr>
                        <a:t>2,6</a:t>
                      </a:r>
                    </a:p>
                  </a:txBody>
                  <a:tcPr marL="95250" marR="95250" marT="76200" marB="76200">
                    <a:solidFill>
                      <a:srgbClr val="FFFFFF"/>
                    </a:solidFill>
                  </a:tcPr>
                </a:tc>
                <a:tc>
                  <a:txBody>
                    <a:bodyPr wrap="square"/>
                    <a:lstStyle/>
                    <a:p>
                      <a:pPr algn="r"/>
                      <a:r>
                        <a:rPr sz="1275" b="0">
                          <a:solidFill>
                            <a:srgbClr val="22252B"/>
                          </a:solidFill>
                          <a:latin typeface="Arial"/>
                        </a:rPr>
                        <a:t>1,2</a:t>
                      </a:r>
                    </a:p>
                  </a:txBody>
                  <a:tcPr marL="95250" marR="95250" marT="76200" marB="76200">
                    <a:solidFill>
                      <a:srgbClr val="FFFFFF"/>
                    </a:solidFill>
                  </a:tcPr>
                </a:tc>
                <a:tc>
                  <a:txBody>
                    <a:bodyPr wrap="square"/>
                    <a:lstStyle/>
                    <a:p>
                      <a:pPr algn="r"/>
                      <a:r>
                        <a:rPr sz="1275" b="0">
                          <a:solidFill>
                            <a:srgbClr val="22252B"/>
                          </a:solidFill>
                          <a:latin typeface="Arial"/>
                        </a:rPr>
                        <a:t>3,3</a:t>
                      </a:r>
                    </a:p>
                  </a:txBody>
                  <a:tcPr marL="95250" marR="95250" marT="76200" marB="76200">
                    <a:solidFill>
                      <a:srgbClr val="FFFFFF"/>
                    </a:solidFill>
                  </a:tcPr>
                </a:tc>
              </a:tr>
              <a:tr h="391715">
                <a:tc>
                  <a:txBody>
                    <a:bodyPr wrap="square"/>
                    <a:lstStyle/>
                    <a:p>
                      <a:r>
                        <a:rPr sz="1275" b="0">
                          <a:solidFill>
                            <a:srgbClr val="22252B"/>
                          </a:solidFill>
                          <a:latin typeface="Arial"/>
                        </a:rPr>
                        <a:t>2025</a:t>
                      </a:r>
                    </a:p>
                  </a:txBody>
                  <a:tcPr marL="95250" marR="95250" marT="76200" marB="76200">
                    <a:solidFill>
                      <a:srgbClr val="FFFFFF"/>
                    </a:solidFill>
                  </a:tcPr>
                </a:tc>
                <a:tc>
                  <a:txBody>
                    <a:bodyPr wrap="square"/>
                    <a:lstStyle/>
                    <a:p>
                      <a:pPr algn="r"/>
                      <a:r>
                        <a:rPr sz="1275" b="0">
                          <a:solidFill>
                            <a:srgbClr val="22252B"/>
                          </a:solidFill>
                          <a:latin typeface="Arial"/>
                        </a:rPr>
                        <a:t>17,1</a:t>
                      </a:r>
                    </a:p>
                  </a:txBody>
                  <a:tcPr marL="95250" marR="95250" marT="76200" marB="76200">
                    <a:solidFill>
                      <a:srgbClr val="FFFFFF"/>
                    </a:solidFill>
                  </a:tcPr>
                </a:tc>
                <a:tc>
                  <a:txBody>
                    <a:bodyPr wrap="square"/>
                    <a:lstStyle/>
                    <a:p>
                      <a:pPr algn="r"/>
                      <a:r>
                        <a:rPr sz="1275" b="0">
                          <a:solidFill>
                            <a:srgbClr val="22252B"/>
                          </a:solidFill>
                          <a:latin typeface="Arial"/>
                        </a:rPr>
                        <a:t>10,0</a:t>
                      </a:r>
                    </a:p>
                  </a:txBody>
                  <a:tcPr marL="95250" marR="95250" marT="76200" marB="76200">
                    <a:solidFill>
                      <a:srgbClr val="FFFFFF"/>
                    </a:solidFill>
                  </a:tcPr>
                </a:tc>
                <a:tc>
                  <a:txBody>
                    <a:bodyPr wrap="square"/>
                    <a:lstStyle/>
                    <a:p>
                      <a:pPr algn="r"/>
                      <a:r>
                        <a:rPr sz="1275" b="0">
                          <a:solidFill>
                            <a:srgbClr val="22252B"/>
                          </a:solidFill>
                          <a:latin typeface="Arial"/>
                        </a:rPr>
                        <a:t>16,2</a:t>
                      </a:r>
                    </a:p>
                  </a:txBody>
                  <a:tcPr marL="95250" marR="95250" marT="76200" marB="76200">
                    <a:solidFill>
                      <a:srgbClr val="FFFFFF"/>
                    </a:solidFill>
                  </a:tcPr>
                </a:tc>
                <a:tc>
                  <a:txBody>
                    <a:bodyPr wrap="square"/>
                    <a:lstStyle/>
                    <a:p>
                      <a:pPr algn="r"/>
                      <a:r>
                        <a:rPr sz="1275" b="0">
                          <a:solidFill>
                            <a:srgbClr val="22252B"/>
                          </a:solidFill>
                          <a:latin typeface="Arial"/>
                        </a:rPr>
                        <a:t>2,6</a:t>
                      </a:r>
                    </a:p>
                  </a:txBody>
                  <a:tcPr marL="95250" marR="95250" marT="76200" marB="76200">
                    <a:solidFill>
                      <a:srgbClr val="FFFFFF"/>
                    </a:solidFill>
                  </a:tcPr>
                </a:tc>
                <a:tc>
                  <a:txBody>
                    <a:bodyPr wrap="square"/>
                    <a:lstStyle/>
                    <a:p>
                      <a:pPr algn="r"/>
                      <a:r>
                        <a:rPr sz="1275" b="0">
                          <a:solidFill>
                            <a:srgbClr val="22252B"/>
                          </a:solidFill>
                          <a:latin typeface="Arial"/>
                        </a:rPr>
                        <a:t>2,8</a:t>
                      </a:r>
                    </a:p>
                  </a:txBody>
                  <a:tcPr marL="95250" marR="95250" marT="76200" marB="76200">
                    <a:solidFill>
                      <a:srgbClr val="FFFFFF"/>
                    </a:solidFill>
                  </a:tcPr>
                </a:tc>
                <a:tc>
                  <a:txBody>
                    <a:bodyPr wrap="square"/>
                    <a:lstStyle/>
                    <a:p>
                      <a:pPr algn="r"/>
                      <a:r>
                        <a:rPr sz="1275" b="0">
                          <a:solidFill>
                            <a:srgbClr val="22252B"/>
                          </a:solidFill>
                          <a:latin typeface="Arial"/>
                        </a:rPr>
                        <a:t>1,2</a:t>
                      </a:r>
                    </a:p>
                  </a:txBody>
                  <a:tcPr marL="95250" marR="95250" marT="76200" marB="76200">
                    <a:solidFill>
                      <a:srgbClr val="FFFFFF"/>
                    </a:solidFill>
                  </a:tcPr>
                </a:tc>
                <a:tc>
                  <a:txBody>
                    <a:bodyPr wrap="square"/>
                    <a:lstStyle/>
                    <a:p>
                      <a:pPr algn="r"/>
                      <a:r>
                        <a:rPr sz="1275" b="0">
                          <a:solidFill>
                            <a:srgbClr val="22252B"/>
                          </a:solidFill>
                          <a:latin typeface="Arial"/>
                        </a:rPr>
                        <a:t>4,5</a:t>
                      </a:r>
                    </a:p>
                  </a:txBody>
                  <a:tcPr marL="95250" marR="95250" marT="76200" marB="76200">
                    <a:solidFill>
                      <a:srgbClr val="FFFFFF"/>
                    </a:solidFill>
                  </a:tcPr>
                </a:tc>
              </a:tr>
              <a:tr h="391715">
                <a:tc>
                  <a:txBody>
                    <a:bodyPr wrap="square"/>
                    <a:lstStyle/>
                    <a:p>
                      <a:r>
                        <a:rPr sz="1275" b="0">
                          <a:solidFill>
                            <a:srgbClr val="22252B"/>
                          </a:solidFill>
                          <a:latin typeface="Arial"/>
                        </a:rPr>
                        <a:t>2026 (janv.–oct.)</a:t>
                      </a:r>
                    </a:p>
                  </a:txBody>
                  <a:tcPr marL="95250" marR="95250" marT="76200" marB="76200">
                    <a:solidFill>
                      <a:srgbClr val="FFFFFF"/>
                    </a:solidFill>
                  </a:tcPr>
                </a:tc>
                <a:tc>
                  <a:txBody>
                    <a:bodyPr wrap="square"/>
                    <a:lstStyle/>
                    <a:p>
                      <a:pPr algn="r"/>
                      <a:r>
                        <a:rPr sz="1275" b="0">
                          <a:solidFill>
                            <a:srgbClr val="22252B"/>
                          </a:solidFill>
                          <a:latin typeface="Arial"/>
                        </a:rPr>
                        <a:t>17,7</a:t>
                      </a:r>
                    </a:p>
                  </a:txBody>
                  <a:tcPr marL="95250" marR="95250" marT="76200" marB="76200">
                    <a:solidFill>
                      <a:srgbClr val="FFFFFF"/>
                    </a:solidFill>
                  </a:tcPr>
                </a:tc>
                <a:tc>
                  <a:txBody>
                    <a:bodyPr wrap="square"/>
                    <a:lstStyle/>
                    <a:p>
                      <a:pPr algn="r"/>
                      <a:r>
                        <a:rPr sz="1275" b="0">
                          <a:solidFill>
                            <a:srgbClr val="22252B"/>
                          </a:solidFill>
                          <a:latin typeface="Arial"/>
                        </a:rPr>
                        <a:t>10,5</a:t>
                      </a:r>
                    </a:p>
                  </a:txBody>
                  <a:tcPr marL="95250" marR="95250" marT="76200" marB="76200">
                    <a:solidFill>
                      <a:srgbClr val="FFFFFF"/>
                    </a:solidFill>
                  </a:tcPr>
                </a:tc>
                <a:tc>
                  <a:txBody>
                    <a:bodyPr wrap="square"/>
                    <a:lstStyle/>
                    <a:p>
                      <a:pPr algn="r"/>
                      <a:r>
                        <a:rPr sz="1275" b="0">
                          <a:solidFill>
                            <a:srgbClr val="22252B"/>
                          </a:solidFill>
                          <a:latin typeface="Arial"/>
                        </a:rPr>
                        <a:t>17,0</a:t>
                      </a:r>
                    </a:p>
                  </a:txBody>
                  <a:tcPr marL="95250" marR="95250" marT="76200" marB="76200">
                    <a:solidFill>
                      <a:srgbClr val="FFFFFF"/>
                    </a:solidFill>
                  </a:tcPr>
                </a:tc>
                <a:tc>
                  <a:txBody>
                    <a:bodyPr wrap="square"/>
                    <a:lstStyle/>
                    <a:p>
                      <a:pPr algn="r"/>
                      <a:r>
                        <a:rPr sz="1275" b="0">
                          <a:solidFill>
                            <a:srgbClr val="22252B"/>
                          </a:solidFill>
                          <a:latin typeface="Arial"/>
                        </a:rPr>
                        <a:t>2,5</a:t>
                      </a:r>
                    </a:p>
                  </a:txBody>
                  <a:tcPr marL="95250" marR="95250" marT="76200" marB="76200">
                    <a:solidFill>
                      <a:srgbClr val="FFFFFF"/>
                    </a:solidFill>
                  </a:tcPr>
                </a:tc>
                <a:tc>
                  <a:txBody>
                    <a:bodyPr wrap="square"/>
                    <a:lstStyle/>
                    <a:p>
                      <a:pPr algn="r"/>
                      <a:r>
                        <a:rPr sz="1275" b="0">
                          <a:solidFill>
                            <a:srgbClr val="22252B"/>
                          </a:solidFill>
                          <a:latin typeface="Arial"/>
                        </a:rPr>
                        <a:t>3,2</a:t>
                      </a:r>
                    </a:p>
                  </a:txBody>
                  <a:tcPr marL="95250" marR="95250" marT="76200" marB="76200">
                    <a:solidFill>
                      <a:srgbClr val="FFFFFF"/>
                    </a:solidFill>
                  </a:tcPr>
                </a:tc>
                <a:tc>
                  <a:txBody>
                    <a:bodyPr wrap="square"/>
                    <a:lstStyle/>
                    <a:p>
                      <a:pPr algn="r"/>
                      <a:r>
                        <a:rPr sz="1275" b="0">
                          <a:solidFill>
                            <a:srgbClr val="22252B"/>
                          </a:solidFill>
                          <a:latin typeface="Arial"/>
                        </a:rPr>
                        <a:t>1,4</a:t>
                      </a:r>
                    </a:p>
                  </a:txBody>
                  <a:tcPr marL="95250" marR="95250" marT="76200" marB="76200">
                    <a:solidFill>
                      <a:srgbClr val="FFFFFF"/>
                    </a:solidFill>
                  </a:tcPr>
                </a:tc>
                <a:tc>
                  <a:txBody>
                    <a:bodyPr wrap="square"/>
                    <a:lstStyle/>
                    <a:p>
                      <a:pPr algn="r"/>
                      <a:r>
                        <a:rPr sz="1275" b="0">
                          <a:solidFill>
                            <a:srgbClr val="22252B"/>
                          </a:solidFill>
                          <a:latin typeface="Arial"/>
                        </a:rPr>
                        <a:t>4,5</a:t>
                      </a:r>
                    </a:p>
                  </a:txBody>
                  <a:tcPr marL="95250" marR="95250" marT="76200" marB="76200">
                    <a:solidFill>
                      <a:srgbClr val="FFFFFF"/>
                    </a:solidFill>
                  </a:tcPr>
                </a:tc>
              </a:tr>
            </a:tbl>
          </a:graphicData>
        </a:graphic>
      </p:graphicFrame>
      <p:sp>
        <p:nvSpPr>
          <p:cNvPr id="5" name="TextBox 4"/>
          <p:cNvSpPr txBox="1"/>
          <p:nvPr/>
        </p:nvSpPr>
        <p:spPr>
          <a:xfrm>
            <a:off x="571500" y="4548782"/>
            <a:ext cx="11049000" cy="1238250"/>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Lecture : en 2025, la consommation française vaut 17,1 Md€ de plus au prix spot et les acheteurs étrangers paient 10,0 Md€ ; le nucléaire encaisse 16,2 Md€ de plus. La facture, elle, passe par les prix à terme (page 26).</a:t>
            </a:r>
          </a:p>
          <a:p>
            <a:pPr marL="152400" indent="-133350">
              <a:spcAft>
                <a:spcPts val="500"/>
              </a:spcAft>
              <a:buChar char="•"/>
            </a:pPr>
            <a:r>
              <a:rPr sz="1162" b="0">
                <a:solidFill>
                  <a:srgbClr val="22252B"/>
                </a:solidFill>
                <a:latin typeface="Arial"/>
              </a:rPr>
              <a:t>2022 : tout s’inverse. La France importe : la consommation française vaut 10,2 Md€ de moins au prix spot, les producteurs encaissent moins, et les exports nets sont négatifs (la France paie l’étranger).</a:t>
            </a:r>
          </a:p>
          <a:p>
            <a:pPr marL="152400" indent="-133350">
              <a:spcAft>
                <a:spcPts val="500"/>
              </a:spcAft>
              <a:buChar char="•"/>
            </a:pPr>
            <a:r>
              <a:rPr sz="1162" b="0">
                <a:solidFill>
                  <a:srgbClr val="22252B"/>
                </a:solidFill>
                <a:latin typeface="Arial"/>
              </a:rPr>
              <a:t>Ce sont des montants au prix spot : la facture des ménages suit avec un à deux ans de retard et passe par l’ARENH puis le VNU (pages 25–26).</a:t>
            </a:r>
          </a:p>
        </p:txBody>
      </p:sp>
      <p:sp>
        <p:nvSpPr>
          <p:cNvPr id="6" name="TextBox 5"/>
          <p:cNvSpPr txBox="1"/>
          <p:nvPr/>
        </p:nvSpPr>
        <p:spPr>
          <a:xfrm>
            <a:off x="571500" y="5844182"/>
            <a:ext cx="11049000" cy="359568"/>
          </a:xfrm>
          <a:prstGeom prst="rect">
            <a:avLst/>
          </a:prstGeom>
          <a:noFill/>
        </p:spPr>
        <p:txBody>
          <a:bodyPr wrap="square" lIns="0" rIns="0" tIns="0" bIns="0" anchor="t">
            <a:spAutoFit/>
          </a:bodyPr>
          <a:lstStyle/>
          <a:p>
            <a:r>
              <a:rPr sz="937" b="0">
                <a:solidFill>
                  <a:srgbClr val="8A8F98"/>
                </a:solidFill>
                <a:latin typeface="Arial"/>
              </a:rPr>
              <a:t>France isolée : estimation de modèle, jamais observée ; erreur ± 15 à 20 €/MWh sur une heure, biais annuel +0,6 à +2,6 €/MWh en 2020–2025, +8 € en 2026 (page 14). Hors heures de pénurie.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BILAN</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Rente de congestion et contrôles avec RTE et la CRE</a:t>
            </a:r>
          </a:p>
        </p:txBody>
      </p:sp>
      <p:graphicFrame>
        <p:nvGraphicFramePr>
          <p:cNvPr id="4" name="Table 3"/>
          <p:cNvGraphicFramePr>
            <a:graphicFrameLocks noGrp="1"/>
          </p:cNvGraphicFramePr>
          <p:nvPr/>
        </p:nvGraphicFramePr>
        <p:xfrm>
          <a:off x="571500" y="1101476"/>
          <a:ext cx="5512741" cy="2626068"/>
        </p:xfrm>
        <a:graphic>
          <a:graphicData uri="http://schemas.openxmlformats.org/drawingml/2006/table">
            <a:tbl>
              <a:tblPr firstRow="0" bandRow="0">
                <a:tableStyleId>{5C22544A-7EE6-4342-B048-85BDC9FD1C3A}</a:tableStyleId>
              </a:tblPr>
              <a:tblGrid>
                <a:gridCol w="1312812"/>
                <a:gridCol w="1452860"/>
                <a:gridCol w="1042392"/>
                <a:gridCol w="1704677"/>
              </a:tblGrid>
              <a:tr h="511075">
                <a:tc>
                  <a:txBody>
                    <a:bodyPr wrap="square"/>
                    <a:lstStyle/>
                    <a:p>
                      <a:r>
                        <a:rPr sz="1087" b="1">
                          <a:solidFill>
                            <a:srgbClr val="22252B"/>
                          </a:solidFill>
                          <a:latin typeface="Arial"/>
                        </a:rPr>
                        <a:t>2025</a:t>
                      </a:r>
                    </a:p>
                  </a:txBody>
                  <a:tcPr marL="76200" marR="76200" marT="57150" marB="57150">
                    <a:solidFill>
                      <a:srgbClr val="F5F3FB"/>
                    </a:solidFill>
                  </a:tcPr>
                </a:tc>
                <a:tc>
                  <a:txBody>
                    <a:bodyPr wrap="square"/>
                    <a:lstStyle/>
                    <a:p>
                      <a:pPr algn="r"/>
                      <a:r>
                        <a:rPr sz="1087" b="1">
                          <a:solidFill>
                            <a:srgbClr val="22252B"/>
                          </a:solidFill>
                          <a:latin typeface="Arial"/>
                        </a:rPr>
                        <a:t>Export net commercial</a:t>
                      </a:r>
                    </a:p>
                  </a:txBody>
                  <a:tcPr marL="76200" marR="76200" marT="57150" marB="57150">
                    <a:solidFill>
                      <a:srgbClr val="F5F3FB"/>
                    </a:solidFill>
                  </a:tcPr>
                </a:tc>
                <a:tc>
                  <a:txBody>
                    <a:bodyPr wrap="square"/>
                    <a:lstStyle/>
                    <a:p>
                      <a:pPr algn="r"/>
                      <a:r>
                        <a:rPr sz="1087" b="1">
                          <a:solidFill>
                            <a:srgbClr val="22252B"/>
                          </a:solidFill>
                          <a:latin typeface="Arial"/>
                        </a:rPr>
                        <a:t>RTE (bilan 2025)</a:t>
                      </a:r>
                    </a:p>
                  </a:txBody>
                  <a:tcPr marL="76200" marR="76200" marT="57150" marB="57150">
                    <a:solidFill>
                      <a:srgbClr val="F5F3FB"/>
                    </a:solidFill>
                  </a:tcPr>
                </a:tc>
                <a:tc>
                  <a:txBody>
                    <a:bodyPr wrap="square"/>
                    <a:lstStyle/>
                    <a:p>
                      <a:pPr algn="r"/>
                      <a:r>
                        <a:rPr sz="1087" b="1">
                          <a:solidFill>
                            <a:srgbClr val="22252B"/>
                          </a:solidFill>
                          <a:latin typeface="Arial"/>
                        </a:rPr>
                        <a:t>Rente day-ahead (deux côtés)</a:t>
                      </a:r>
                    </a:p>
                  </a:txBody>
                  <a:tcPr marL="76200" marR="76200" marT="57150" marB="57150">
                    <a:solidFill>
                      <a:srgbClr val="F5F3FB"/>
                    </a:solidFill>
                  </a:tcPr>
                </a:tc>
              </a:tr>
              <a:tr h="319831">
                <a:tc>
                  <a:txBody>
                    <a:bodyPr wrap="square"/>
                    <a:lstStyle/>
                    <a:p>
                      <a:r>
                        <a:rPr sz="1087" b="0">
                          <a:solidFill>
                            <a:srgbClr val="22252B"/>
                          </a:solidFill>
                          <a:latin typeface="Arial"/>
                        </a:rPr>
                        <a:t>Italie</a:t>
                      </a:r>
                    </a:p>
                  </a:txBody>
                  <a:tcPr marL="76200" marR="76200" marT="57150" marB="57150">
                    <a:solidFill>
                      <a:srgbClr val="FFFFFF"/>
                    </a:solidFill>
                  </a:tcPr>
                </a:tc>
                <a:tc>
                  <a:txBody>
                    <a:bodyPr wrap="square"/>
                    <a:lstStyle/>
                    <a:p>
                      <a:pPr algn="r"/>
                      <a:r>
                        <a:rPr sz="1087" b="0">
                          <a:solidFill>
                            <a:srgbClr val="22252B"/>
                          </a:solidFill>
                          <a:latin typeface="Arial"/>
                        </a:rPr>
                        <a:t>26,2 TWh</a:t>
                      </a:r>
                    </a:p>
                  </a:txBody>
                  <a:tcPr marL="76200" marR="76200" marT="57150" marB="57150">
                    <a:solidFill>
                      <a:srgbClr val="FFFFFF"/>
                    </a:solidFill>
                  </a:tcPr>
                </a:tc>
                <a:tc>
                  <a:txBody>
                    <a:bodyPr wrap="square"/>
                    <a:lstStyle/>
                    <a:p>
                      <a:pPr algn="r"/>
                      <a:r>
                        <a:rPr sz="1087" b="0">
                          <a:solidFill>
                            <a:srgbClr val="22252B"/>
                          </a:solidFill>
                          <a:latin typeface="Arial"/>
                        </a:rPr>
                        <a:t>26,2 TWh</a:t>
                      </a:r>
                    </a:p>
                  </a:txBody>
                  <a:tcPr marL="76200" marR="76200" marT="57150" marB="57150">
                    <a:solidFill>
                      <a:srgbClr val="FFFFFF"/>
                    </a:solidFill>
                  </a:tcPr>
                </a:tc>
                <a:tc>
                  <a:txBody>
                    <a:bodyPr wrap="square"/>
                    <a:lstStyle/>
                    <a:p>
                      <a:pPr algn="r"/>
                      <a:r>
                        <a:rPr sz="1087" b="0">
                          <a:solidFill>
                            <a:srgbClr val="22252B"/>
                          </a:solidFill>
                          <a:latin typeface="Arial"/>
                        </a:rPr>
                        <a:t>1 436 M€</a:t>
                      </a:r>
                    </a:p>
                  </a:txBody>
                  <a:tcPr marL="76200" marR="76200" marT="57150" marB="57150">
                    <a:solidFill>
                      <a:srgbClr val="FFFFFF"/>
                    </a:solidFill>
                  </a:tcPr>
                </a:tc>
              </a:tr>
              <a:tr h="319831">
                <a:tc>
                  <a:txBody>
                    <a:bodyPr wrap="square"/>
                    <a:lstStyle/>
                    <a:p>
                      <a:r>
                        <a:rPr sz="1087" b="0">
                          <a:solidFill>
                            <a:srgbClr val="22252B"/>
                          </a:solidFill>
                          <a:latin typeface="Arial"/>
                        </a:rPr>
                        <a:t>Grande-Bretagne</a:t>
                      </a:r>
                    </a:p>
                  </a:txBody>
                  <a:tcPr marL="76200" marR="76200" marT="57150" marB="57150">
                    <a:solidFill>
                      <a:srgbClr val="FFFFFF"/>
                    </a:solidFill>
                  </a:tcPr>
                </a:tc>
                <a:tc>
                  <a:txBody>
                    <a:bodyPr wrap="square"/>
                    <a:lstStyle/>
                    <a:p>
                      <a:pPr algn="r"/>
                      <a:r>
                        <a:rPr sz="1087" b="0">
                          <a:solidFill>
                            <a:srgbClr val="22252B"/>
                          </a:solidFill>
                          <a:latin typeface="Arial"/>
                        </a:rPr>
                        <a:t>22,6 TWh</a:t>
                      </a:r>
                    </a:p>
                  </a:txBody>
                  <a:tcPr marL="76200" marR="76200" marT="57150" marB="57150">
                    <a:solidFill>
                      <a:srgbClr val="FFFFFF"/>
                    </a:solidFill>
                  </a:tcPr>
                </a:tc>
                <a:tc>
                  <a:txBody>
                    <a:bodyPr wrap="square"/>
                    <a:lstStyle/>
                    <a:p>
                      <a:pPr algn="r"/>
                      <a:r>
                        <a:rPr sz="1087" b="0">
                          <a:solidFill>
                            <a:srgbClr val="22252B"/>
                          </a:solidFill>
                          <a:latin typeface="Arial"/>
                        </a:rPr>
                        <a:t>22,6 TWh</a:t>
                      </a:r>
                    </a:p>
                  </a:txBody>
                  <a:tcPr marL="76200" marR="76200" marT="57150" marB="57150">
                    <a:solidFill>
                      <a:srgbClr val="FFFFFF"/>
                    </a:solidFill>
                  </a:tcPr>
                </a:tc>
                <a:tc>
                  <a:txBody>
                    <a:bodyPr wrap="square"/>
                    <a:lstStyle/>
                    <a:p>
                      <a:pPr algn="r"/>
                      <a:r>
                        <a:rPr sz="1087" b="0">
                          <a:solidFill>
                            <a:srgbClr val="22252B"/>
                          </a:solidFill>
                          <a:latin typeface="Arial"/>
                        </a:rPr>
                        <a:t>923 M€</a:t>
                      </a:r>
                    </a:p>
                  </a:txBody>
                  <a:tcPr marL="76200" marR="76200" marT="57150" marB="57150">
                    <a:solidFill>
                      <a:srgbClr val="FFFFFF"/>
                    </a:solidFill>
                  </a:tcPr>
                </a:tc>
              </a:tr>
              <a:tr h="319831">
                <a:tc>
                  <a:txBody>
                    <a:bodyPr wrap="square"/>
                    <a:lstStyle/>
                    <a:p>
                      <a:r>
                        <a:rPr sz="1087" b="0">
                          <a:solidFill>
                            <a:srgbClr val="22252B"/>
                          </a:solidFill>
                          <a:latin typeface="Arial"/>
                        </a:rPr>
                        <a:t>Suisse</a:t>
                      </a:r>
                    </a:p>
                  </a:txBody>
                  <a:tcPr marL="76200" marR="76200" marT="57150" marB="57150">
                    <a:solidFill>
                      <a:srgbClr val="FFFFFF"/>
                    </a:solidFill>
                  </a:tcPr>
                </a:tc>
                <a:tc>
                  <a:txBody>
                    <a:bodyPr wrap="square"/>
                    <a:lstStyle/>
                    <a:p>
                      <a:pPr algn="r"/>
                      <a:r>
                        <a:rPr sz="1087" b="0">
                          <a:solidFill>
                            <a:srgbClr val="22252B"/>
                          </a:solidFill>
                          <a:latin typeface="Arial"/>
                        </a:rPr>
                        <a:t>20,2 TWh</a:t>
                      </a:r>
                    </a:p>
                  </a:txBody>
                  <a:tcPr marL="76200" marR="76200" marT="57150" marB="57150">
                    <a:solidFill>
                      <a:srgbClr val="FFFFFF"/>
                    </a:solidFill>
                  </a:tcPr>
                </a:tc>
                <a:tc>
                  <a:txBody>
                    <a:bodyPr wrap="square"/>
                    <a:lstStyle/>
                    <a:p>
                      <a:pPr algn="r"/>
                      <a:r>
                        <a:rPr sz="1087" b="0">
                          <a:solidFill>
                            <a:srgbClr val="22252B"/>
                          </a:solidFill>
                          <a:latin typeface="Arial"/>
                        </a:rPr>
                        <a:t>20,1 TWh</a:t>
                      </a:r>
                    </a:p>
                  </a:txBody>
                  <a:tcPr marL="76200" marR="76200" marT="57150" marB="57150">
                    <a:solidFill>
                      <a:srgbClr val="FFFFFF"/>
                    </a:solidFill>
                  </a:tcPr>
                </a:tc>
                <a:tc>
                  <a:txBody>
                    <a:bodyPr wrap="square"/>
                    <a:lstStyle/>
                    <a:p>
                      <a:pPr algn="r"/>
                      <a:r>
                        <a:rPr sz="1087" b="0">
                          <a:solidFill>
                            <a:srgbClr val="22252B"/>
                          </a:solidFill>
                          <a:latin typeface="Arial"/>
                        </a:rPr>
                        <a:t>875 M€</a:t>
                      </a:r>
                    </a:p>
                  </a:txBody>
                  <a:tcPr marL="76200" marR="76200" marT="57150" marB="57150">
                    <a:solidFill>
                      <a:srgbClr val="FFFFFF"/>
                    </a:solidFill>
                  </a:tcPr>
                </a:tc>
              </a:tr>
              <a:tr h="515838">
                <a:tc>
                  <a:txBody>
                    <a:bodyPr wrap="square"/>
                    <a:lstStyle/>
                    <a:p>
                      <a:r>
                        <a:rPr sz="1087" b="0">
                          <a:solidFill>
                            <a:srgbClr val="22252B"/>
                          </a:solidFill>
                          <a:latin typeface="Arial"/>
                        </a:rPr>
                        <a:t>Belgique + Allemagne</a:t>
                      </a:r>
                    </a:p>
                  </a:txBody>
                  <a:tcPr marL="76200" marR="76200" marT="57150" marB="57150">
                    <a:solidFill>
                      <a:srgbClr val="FFFFFF"/>
                    </a:solidFill>
                  </a:tcPr>
                </a:tc>
                <a:tc>
                  <a:txBody>
                    <a:bodyPr wrap="square"/>
                    <a:lstStyle/>
                    <a:p>
                      <a:pPr algn="r"/>
                      <a:r>
                        <a:rPr sz="1087" b="0">
                          <a:solidFill>
                            <a:srgbClr val="22252B"/>
                          </a:solidFill>
                          <a:latin typeface="Arial"/>
                        </a:rPr>
                        <a:t>23,3 TWh</a:t>
                      </a:r>
                    </a:p>
                  </a:txBody>
                  <a:tcPr marL="76200" marR="76200" marT="57150" marB="57150">
                    <a:solidFill>
                      <a:srgbClr val="FFFFFF"/>
                    </a:solidFill>
                  </a:tcPr>
                </a:tc>
                <a:tc>
                  <a:txBody>
                    <a:bodyPr wrap="square"/>
                    <a:lstStyle/>
                    <a:p>
                      <a:pPr algn="r"/>
                      <a:r>
                        <a:rPr sz="1087" b="0">
                          <a:solidFill>
                            <a:srgbClr val="22252B"/>
                          </a:solidFill>
                          <a:latin typeface="Arial"/>
                        </a:rPr>
                        <a:t>23,1 TWh</a:t>
                      </a:r>
                    </a:p>
                  </a:txBody>
                  <a:tcPr marL="76200" marR="76200" marT="57150" marB="57150">
                    <a:solidFill>
                      <a:srgbClr val="FFFFFF"/>
                    </a:solidFill>
                  </a:tcPr>
                </a:tc>
                <a:tc>
                  <a:txBody>
                    <a:bodyPr wrap="square"/>
                    <a:lstStyle/>
                    <a:p>
                      <a:pPr algn="r"/>
                      <a:r>
                        <a:rPr sz="1087" b="0">
                          <a:solidFill>
                            <a:srgbClr val="22252B"/>
                          </a:solidFill>
                          <a:latin typeface="Arial"/>
                        </a:rPr>
                        <a:t>917 M€</a:t>
                      </a:r>
                    </a:p>
                  </a:txBody>
                  <a:tcPr marL="76200" marR="76200" marT="57150" marB="57150">
                    <a:solidFill>
                      <a:srgbClr val="FFFFFF"/>
                    </a:solidFill>
                  </a:tcPr>
                </a:tc>
              </a:tr>
              <a:tr h="319831">
                <a:tc>
                  <a:txBody>
                    <a:bodyPr wrap="square"/>
                    <a:lstStyle/>
                    <a:p>
                      <a:r>
                        <a:rPr sz="1087" b="0">
                          <a:solidFill>
                            <a:srgbClr val="22252B"/>
                          </a:solidFill>
                          <a:latin typeface="Arial"/>
                        </a:rPr>
                        <a:t>Espagne</a:t>
                      </a:r>
                    </a:p>
                  </a:txBody>
                  <a:tcPr marL="76200" marR="76200" marT="57150" marB="57150">
                    <a:solidFill>
                      <a:srgbClr val="FFFFFF"/>
                    </a:solidFill>
                  </a:tcPr>
                </a:tc>
                <a:tc>
                  <a:txBody>
                    <a:bodyPr wrap="square"/>
                    <a:lstStyle/>
                    <a:p>
                      <a:pPr algn="r"/>
                      <a:r>
                        <a:rPr sz="1087" b="0">
                          <a:solidFill>
                            <a:srgbClr val="22252B"/>
                          </a:solidFill>
                          <a:latin typeface="Arial"/>
                        </a:rPr>
                        <a:t>0,2 TWh</a:t>
                      </a:r>
                    </a:p>
                  </a:txBody>
                  <a:tcPr marL="76200" marR="76200" marT="57150" marB="57150">
                    <a:solidFill>
                      <a:srgbClr val="FFFFFF"/>
                    </a:solidFill>
                  </a:tcPr>
                </a:tc>
                <a:tc>
                  <a:txBody>
                    <a:bodyPr wrap="square"/>
                    <a:lstStyle/>
                    <a:p>
                      <a:pPr algn="r"/>
                      <a:r>
                        <a:rPr sz="1087" b="0">
                          <a:solidFill>
                            <a:srgbClr val="22252B"/>
                          </a:solidFill>
                          <a:latin typeface="Arial"/>
                        </a:rPr>
                        <a:t>0,2 TWh</a:t>
                      </a:r>
                    </a:p>
                  </a:txBody>
                  <a:tcPr marL="76200" marR="76200" marT="57150" marB="57150">
                    <a:solidFill>
                      <a:srgbClr val="FFFFFF"/>
                    </a:solidFill>
                  </a:tcPr>
                </a:tc>
                <a:tc>
                  <a:txBody>
                    <a:bodyPr wrap="square"/>
                    <a:lstStyle/>
                    <a:p>
                      <a:pPr algn="r"/>
                      <a:r>
                        <a:rPr sz="1087" b="0">
                          <a:solidFill>
                            <a:srgbClr val="22252B"/>
                          </a:solidFill>
                          <a:latin typeface="Arial"/>
                        </a:rPr>
                        <a:t>367 M€</a:t>
                      </a:r>
                    </a:p>
                  </a:txBody>
                  <a:tcPr marL="76200" marR="76200" marT="57150" marB="57150">
                    <a:solidFill>
                      <a:srgbClr val="FFFFFF"/>
                    </a:solidFill>
                  </a:tcPr>
                </a:tc>
              </a:tr>
              <a:tr h="319831">
                <a:tc>
                  <a:txBody>
                    <a:bodyPr wrap="square"/>
                    <a:lstStyle/>
                    <a:p>
                      <a:r>
                        <a:rPr sz="1087" b="1">
                          <a:solidFill>
                            <a:srgbClr val="22252B"/>
                          </a:solidFill>
                          <a:latin typeface="Arial"/>
                        </a:rPr>
                        <a:t>Total</a:t>
                      </a:r>
                    </a:p>
                  </a:txBody>
                  <a:tcPr marL="76200" marR="76200" marT="57150" marB="57150">
                    <a:solidFill>
                      <a:srgbClr val="FFFFFF"/>
                    </a:solidFill>
                  </a:tcPr>
                </a:tc>
                <a:tc>
                  <a:txBody>
                    <a:bodyPr wrap="square"/>
                    <a:lstStyle/>
                    <a:p>
                      <a:pPr algn="r"/>
                      <a:r>
                        <a:rPr sz="1087" b="1">
                          <a:solidFill>
                            <a:srgbClr val="22252B"/>
                          </a:solidFill>
                          <a:latin typeface="Arial"/>
                        </a:rPr>
                        <a:t>92,5 TWh</a:t>
                      </a:r>
                    </a:p>
                  </a:txBody>
                  <a:tcPr marL="76200" marR="76200" marT="57150" marB="57150">
                    <a:solidFill>
                      <a:srgbClr val="FFFFFF"/>
                    </a:solidFill>
                  </a:tcPr>
                </a:tc>
                <a:tc>
                  <a:txBody>
                    <a:bodyPr wrap="square"/>
                    <a:lstStyle/>
                    <a:p>
                      <a:pPr algn="r"/>
                      <a:r>
                        <a:rPr sz="1087" b="1">
                          <a:solidFill>
                            <a:srgbClr val="22252B"/>
                          </a:solidFill>
                          <a:latin typeface="Arial"/>
                        </a:rPr>
                        <a:t>92,3 TWh</a:t>
                      </a:r>
                    </a:p>
                  </a:txBody>
                  <a:tcPr marL="76200" marR="76200" marT="57150" marB="57150">
                    <a:solidFill>
                      <a:srgbClr val="FFFFFF"/>
                    </a:solidFill>
                  </a:tcPr>
                </a:tc>
                <a:tc>
                  <a:txBody>
                    <a:bodyPr wrap="square"/>
                    <a:lstStyle/>
                    <a:p>
                      <a:pPr algn="r"/>
                      <a:r>
                        <a:rPr sz="1087" b="1">
                          <a:solidFill>
                            <a:srgbClr val="22252B"/>
                          </a:solidFill>
                          <a:latin typeface="Arial"/>
                        </a:rPr>
                        <a:t>4 520 M€</a:t>
                      </a:r>
                    </a:p>
                  </a:txBody>
                  <a:tcPr marL="76200" marR="76200" marT="57150" marB="57150">
                    <a:solidFill>
                      <a:srgbClr val="FFFFFF"/>
                    </a:solidFill>
                  </a:tcPr>
                </a:tc>
              </a:tr>
            </a:tbl>
          </a:graphicData>
        </a:graphic>
      </p:graphicFrame>
      <p:sp>
        <p:nvSpPr>
          <p:cNvPr id="5" name="TextBox 4"/>
          <p:cNvSpPr txBox="1"/>
          <p:nvPr/>
        </p:nvSpPr>
        <p:spPr>
          <a:xfrm>
            <a:off x="6369992" y="1101476"/>
            <a:ext cx="5250507" cy="2562225"/>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Rente = écart de prix × échange </a:t>
            </a:r>
            <a:r>
              <a:rPr sz="1162" b="1">
                <a:solidFill>
                  <a:srgbClr val="22252B"/>
                </a:solidFill>
                <a:latin typeface="Arial"/>
              </a:rPr>
              <a:t>commercial</a:t>
            </a:r>
            <a:r>
              <a:rPr sz="1162" b="0">
                <a:solidFill>
                  <a:srgbClr val="22252B"/>
                </a:solidFill>
                <a:latin typeface="Arial"/>
              </a:rPr>
              <a:t> programmé (ENTSO-E), au quart d’heure. On n’utilise pas les flux physiques, qui comptent des transits en boucle.</a:t>
            </a:r>
          </a:p>
          <a:p>
            <a:pPr marL="152400" indent="-133350">
              <a:spcAft>
                <a:spcPts val="500"/>
              </a:spcAft>
              <a:buChar char="•"/>
            </a:pPr>
            <a:r>
              <a:rPr sz="1162" b="0">
                <a:solidFill>
                  <a:srgbClr val="22252B"/>
                </a:solidFill>
                <a:latin typeface="Arial"/>
              </a:rPr>
              <a:t>Valeur des exports 2025 au prix français : </a:t>
            </a:r>
            <a:r>
              <a:rPr sz="1162" b="1">
                <a:solidFill>
                  <a:srgbClr val="22252B"/>
                </a:solidFill>
                <a:latin typeface="Arial"/>
              </a:rPr>
              <a:t>5,51 Md€</a:t>
            </a:r>
            <a:r>
              <a:rPr sz="1162" b="0">
                <a:solidFill>
                  <a:srgbClr val="22252B"/>
                </a:solidFill>
                <a:latin typeface="Arial"/>
              </a:rPr>
              <a:t> (RTE : 5,4 Md€) ; au prix des pays acheteurs : 10,0 Md€ (RTE : « de l’ordre de 9 Md€ »).</a:t>
            </a:r>
          </a:p>
          <a:p>
            <a:pPr marL="152400" indent="-133350">
              <a:spcAft>
                <a:spcPts val="500"/>
              </a:spcAft>
              <a:buChar char="•"/>
            </a:pPr>
            <a:r>
              <a:rPr sz="1162" b="0">
                <a:solidFill>
                  <a:srgbClr val="22252B"/>
                </a:solidFill>
                <a:latin typeface="Arial"/>
              </a:rPr>
              <a:t>CRE : recettes brutes de RTE sur les frontières UE 2025 = 2,05 Md€, enchères de long terme comprises, dont 0,80 Md€ reversés aux détenteurs de droits. Notre part française sur les mêmes frontières, day-ahead seul : 1,36 Md€. Même ordre de grandeur, périmètres différents.</a:t>
            </a:r>
          </a:p>
          <a:p>
            <a:pPr marL="152400" indent="-133350">
              <a:spcAft>
                <a:spcPts val="500"/>
              </a:spcAft>
              <a:buChar char="•"/>
            </a:pPr>
            <a:r>
              <a:rPr sz="1162" b="0">
                <a:solidFill>
                  <a:srgbClr val="22252B"/>
                </a:solidFill>
                <a:latin typeface="Arial"/>
              </a:rPr>
              <a:t>Italie, Suisse et Grande-Bretagne font l’essentiel de la rente : de grands écarts de prix avec la France presque toute l’année.</a:t>
            </a:r>
          </a:p>
        </p:txBody>
      </p:sp>
      <p:sp>
        <p:nvSpPr>
          <p:cNvPr id="6" name="TextBox 5"/>
          <p:cNvSpPr txBox="1"/>
          <p:nvPr/>
        </p:nvSpPr>
        <p:spPr>
          <a:xfrm>
            <a:off x="6369992" y="3720851"/>
            <a:ext cx="5250507" cy="359568"/>
          </a:xfrm>
          <a:prstGeom prst="rect">
            <a:avLst/>
          </a:prstGeom>
          <a:noFill/>
        </p:spPr>
        <p:txBody>
          <a:bodyPr wrap="square" lIns="0" rIns="0" tIns="0" bIns="0" anchor="t">
            <a:spAutoFit/>
          </a:bodyPr>
          <a:lstStyle/>
          <a:p>
            <a:r>
              <a:rPr sz="937" b="0">
                <a:solidFill>
                  <a:srgbClr val="8A8F98"/>
                </a:solidFill>
                <a:latin typeface="Arial"/>
              </a:rPr>
              <a:t>Sources : RTE, Bilan électrique 2025 ; CRE, rapport sur l’utilisation des recettes de congestion 2025 ; Energy-Charts (ENTSO-E) ;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BILAN</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Ce que les échanges évitent : pénuries l’hiver, écrêtement l’été</a:t>
            </a:r>
          </a:p>
        </p:txBody>
      </p:sp>
      <p:graphicFrame>
        <p:nvGraphicFramePr>
          <p:cNvPr id="4" name="Table 3"/>
          <p:cNvGraphicFramePr>
            <a:graphicFrameLocks noGrp="1"/>
          </p:cNvGraphicFramePr>
          <p:nvPr/>
        </p:nvGraphicFramePr>
        <p:xfrm>
          <a:off x="571500" y="1101476"/>
          <a:ext cx="5512741" cy="2945899"/>
        </p:xfrm>
        <a:graphic>
          <a:graphicData uri="http://schemas.openxmlformats.org/drawingml/2006/table">
            <a:tbl>
              <a:tblPr firstRow="0" bandRow="0">
                <a:tableStyleId>{5C22544A-7EE6-4342-B048-85BDC9FD1C3A}</a:tableStyleId>
              </a:tblPr>
              <a:tblGrid>
                <a:gridCol w="982563"/>
                <a:gridCol w="1122164"/>
                <a:gridCol w="1252537"/>
                <a:gridCol w="1078706"/>
                <a:gridCol w="1076771"/>
              </a:tblGrid>
              <a:tr h="511075">
                <a:tc>
                  <a:txBody>
                    <a:bodyPr wrap="square"/>
                    <a:lstStyle/>
                    <a:p>
                      <a:r>
                        <a:rPr sz="1087" b="1">
                          <a:solidFill>
                            <a:srgbClr val="22252B"/>
                          </a:solidFill>
                          <a:latin typeface="Arial"/>
                        </a:rPr>
                        <a:t>France isolée</a:t>
                      </a:r>
                    </a:p>
                  </a:txBody>
                  <a:tcPr marL="76200" marR="76200" marT="57150" marB="57150">
                    <a:solidFill>
                      <a:srgbClr val="F5F3FB"/>
                    </a:solidFill>
                  </a:tcPr>
                </a:tc>
                <a:tc>
                  <a:txBody>
                    <a:bodyPr wrap="square"/>
                    <a:lstStyle/>
                    <a:p>
                      <a:pPr algn="r"/>
                      <a:r>
                        <a:rPr sz="1087" b="1">
                          <a:solidFill>
                            <a:srgbClr val="22252B"/>
                          </a:solidFill>
                          <a:latin typeface="Arial"/>
                        </a:rPr>
                        <a:t>Heures de pénurie</a:t>
                      </a:r>
                    </a:p>
                  </a:txBody>
                  <a:tcPr marL="76200" marR="76200" marT="57150" marB="57150">
                    <a:solidFill>
                      <a:srgbClr val="F5F3FB"/>
                    </a:solidFill>
                  </a:tcPr>
                </a:tc>
                <a:tc>
                  <a:txBody>
                    <a:bodyPr wrap="square"/>
                    <a:lstStyle/>
                    <a:p>
                      <a:pPr algn="r"/>
                      <a:r>
                        <a:rPr sz="1087" b="1">
                          <a:solidFill>
                            <a:srgbClr val="22252B"/>
                          </a:solidFill>
                          <a:latin typeface="Arial"/>
                        </a:rPr>
                        <a:t>Énergie manquante</a:t>
                      </a:r>
                    </a:p>
                  </a:txBody>
                  <a:tcPr marL="76200" marR="76200" marT="57150" marB="57150">
                    <a:solidFill>
                      <a:srgbClr val="F5F3FB"/>
                    </a:solidFill>
                  </a:tcPr>
                </a:tc>
                <a:tc>
                  <a:txBody>
                    <a:bodyPr wrap="square"/>
                    <a:lstStyle/>
                    <a:p>
                      <a:pPr algn="r"/>
                      <a:r>
                        <a:rPr sz="1087" b="1">
                          <a:solidFill>
                            <a:srgbClr val="22252B"/>
                          </a:solidFill>
                          <a:latin typeface="Arial"/>
                        </a:rPr>
                        <a:t>Manque maximal</a:t>
                      </a:r>
                    </a:p>
                  </a:txBody>
                  <a:tcPr marL="76200" marR="76200" marT="57150" marB="57150">
                    <a:solidFill>
                      <a:srgbClr val="F5F3FB"/>
                    </a:solidFill>
                  </a:tcPr>
                </a:tc>
                <a:tc>
                  <a:txBody>
                    <a:bodyPr wrap="square"/>
                    <a:lstStyle/>
                    <a:p>
                      <a:pPr algn="r"/>
                      <a:r>
                        <a:rPr sz="1087" b="1">
                          <a:solidFill>
                            <a:srgbClr val="22252B"/>
                          </a:solidFill>
                          <a:latin typeface="Arial"/>
                        </a:rPr>
                        <a:t>Surplus à écrêter</a:t>
                      </a:r>
                    </a:p>
                  </a:txBody>
                  <a:tcPr marL="76200" marR="76200" marT="57150" marB="57150">
                    <a:solidFill>
                      <a:srgbClr val="F5F3FB"/>
                    </a:solidFill>
                  </a:tcPr>
                </a:tc>
              </a:tr>
              <a:tr h="319831">
                <a:tc>
                  <a:txBody>
                    <a:bodyPr wrap="square"/>
                    <a:lstStyle/>
                    <a:p>
                      <a:r>
                        <a:rPr sz="1087" b="0">
                          <a:solidFill>
                            <a:srgbClr val="22252B"/>
                          </a:solidFill>
                          <a:latin typeface="Arial"/>
                        </a:rPr>
                        <a:t>2020</a:t>
                      </a:r>
                    </a:p>
                  </a:txBody>
                  <a:tcPr marL="76200" marR="76200" marT="57150" marB="57150">
                    <a:solidFill>
                      <a:srgbClr val="FFFFFF"/>
                    </a:solidFill>
                  </a:tcPr>
                </a:tc>
                <a:tc>
                  <a:txBody>
                    <a:bodyPr wrap="square"/>
                    <a:lstStyle/>
                    <a:p>
                      <a:pPr algn="r"/>
                      <a:r>
                        <a:rPr sz="1087" b="0">
                          <a:solidFill>
                            <a:srgbClr val="22252B"/>
                          </a:solidFill>
                          <a:latin typeface="Arial"/>
                        </a:rPr>
                        <a:t>11</a:t>
                      </a:r>
                    </a:p>
                  </a:txBody>
                  <a:tcPr marL="76200" marR="76200" marT="57150" marB="57150">
                    <a:solidFill>
                      <a:srgbClr val="FFFFFF"/>
                    </a:solidFill>
                  </a:tcPr>
                </a:tc>
                <a:tc>
                  <a:txBody>
                    <a:bodyPr wrap="square"/>
                    <a:lstStyle/>
                    <a:p>
                      <a:pPr algn="r"/>
                      <a:r>
                        <a:rPr sz="1087" b="0">
                          <a:solidFill>
                            <a:srgbClr val="22252B"/>
                          </a:solidFill>
                          <a:latin typeface="Arial"/>
                        </a:rPr>
                        <a:t>10 GWh</a:t>
                      </a:r>
                    </a:p>
                  </a:txBody>
                  <a:tcPr marL="76200" marR="76200" marT="57150" marB="57150">
                    <a:solidFill>
                      <a:srgbClr val="FFFFFF"/>
                    </a:solidFill>
                  </a:tcPr>
                </a:tc>
                <a:tc>
                  <a:txBody>
                    <a:bodyPr wrap="square"/>
                    <a:lstStyle/>
                    <a:p>
                      <a:pPr algn="r"/>
                      <a:r>
                        <a:rPr sz="1087" b="0">
                          <a:solidFill>
                            <a:srgbClr val="22252B"/>
                          </a:solidFill>
                          <a:latin typeface="Arial"/>
                        </a:rPr>
                        <a:t>2,5 GW</a:t>
                      </a:r>
                    </a:p>
                  </a:txBody>
                  <a:tcPr marL="76200" marR="76200" marT="57150" marB="57150">
                    <a:solidFill>
                      <a:srgbClr val="FFFFFF"/>
                    </a:solidFill>
                  </a:tcPr>
                </a:tc>
                <a:tc>
                  <a:txBody>
                    <a:bodyPr wrap="square"/>
                    <a:lstStyle/>
                    <a:p>
                      <a:pPr algn="r"/>
                      <a:r>
                        <a:rPr sz="1087" b="0">
                          <a:solidFill>
                            <a:srgbClr val="22252B"/>
                          </a:solidFill>
                          <a:latin typeface="Arial"/>
                        </a:rPr>
                        <a:t>1,9 TWh</a:t>
                      </a:r>
                    </a:p>
                  </a:txBody>
                  <a:tcPr marL="76200" marR="76200" marT="57150" marB="57150">
                    <a:solidFill>
                      <a:srgbClr val="FFFFFF"/>
                    </a:solidFill>
                  </a:tcPr>
                </a:tc>
              </a:tr>
              <a:tr h="319831">
                <a:tc>
                  <a:txBody>
                    <a:bodyPr wrap="square"/>
                    <a:lstStyle/>
                    <a:p>
                      <a:r>
                        <a:rPr sz="1087" b="0">
                          <a:solidFill>
                            <a:srgbClr val="22252B"/>
                          </a:solidFill>
                          <a:latin typeface="Arial"/>
                        </a:rPr>
                        <a:t>2021</a:t>
                      </a:r>
                    </a:p>
                  </a:txBody>
                  <a:tcPr marL="76200" marR="76200" marT="57150" marB="57150">
                    <a:solidFill>
                      <a:srgbClr val="FFFFFF"/>
                    </a:solidFill>
                  </a:tcPr>
                </a:tc>
                <a:tc>
                  <a:txBody>
                    <a:bodyPr wrap="square"/>
                    <a:lstStyle/>
                    <a:p>
                      <a:pPr algn="r"/>
                      <a:r>
                        <a:rPr sz="1087" b="0">
                          <a:solidFill>
                            <a:srgbClr val="22252B"/>
                          </a:solidFill>
                          <a:latin typeface="Arial"/>
                        </a:rPr>
                        <a:t>65</a:t>
                      </a:r>
                    </a:p>
                  </a:txBody>
                  <a:tcPr marL="76200" marR="76200" marT="57150" marB="57150">
                    <a:solidFill>
                      <a:srgbClr val="FFFFFF"/>
                    </a:solidFill>
                  </a:tcPr>
                </a:tc>
                <a:tc>
                  <a:txBody>
                    <a:bodyPr wrap="square"/>
                    <a:lstStyle/>
                    <a:p>
                      <a:pPr algn="r"/>
                      <a:r>
                        <a:rPr sz="1087" b="0">
                          <a:solidFill>
                            <a:srgbClr val="22252B"/>
                          </a:solidFill>
                          <a:latin typeface="Arial"/>
                        </a:rPr>
                        <a:t>130 GWh</a:t>
                      </a:r>
                    </a:p>
                  </a:txBody>
                  <a:tcPr marL="76200" marR="76200" marT="57150" marB="57150">
                    <a:solidFill>
                      <a:srgbClr val="FFFFFF"/>
                    </a:solidFill>
                  </a:tcPr>
                </a:tc>
                <a:tc>
                  <a:txBody>
                    <a:bodyPr wrap="square"/>
                    <a:lstStyle/>
                    <a:p>
                      <a:pPr algn="r"/>
                      <a:r>
                        <a:rPr sz="1087" b="0">
                          <a:solidFill>
                            <a:srgbClr val="22252B"/>
                          </a:solidFill>
                          <a:latin typeface="Arial"/>
                        </a:rPr>
                        <a:t>6,3 GW</a:t>
                      </a:r>
                    </a:p>
                  </a:txBody>
                  <a:tcPr marL="76200" marR="76200" marT="57150" marB="57150">
                    <a:solidFill>
                      <a:srgbClr val="FFFFFF"/>
                    </a:solidFill>
                  </a:tcPr>
                </a:tc>
                <a:tc>
                  <a:txBody>
                    <a:bodyPr wrap="square"/>
                    <a:lstStyle/>
                    <a:p>
                      <a:pPr algn="r"/>
                      <a:r>
                        <a:rPr sz="1087" b="0">
                          <a:solidFill>
                            <a:srgbClr val="22252B"/>
                          </a:solidFill>
                          <a:latin typeface="Arial"/>
                        </a:rPr>
                        <a:t>9,7 TWh</a:t>
                      </a:r>
                    </a:p>
                  </a:txBody>
                  <a:tcPr marL="76200" marR="76200" marT="57150" marB="57150">
                    <a:solidFill>
                      <a:srgbClr val="FFFFFF"/>
                    </a:solidFill>
                  </a:tcPr>
                </a:tc>
              </a:tr>
              <a:tr h="319831">
                <a:tc>
                  <a:txBody>
                    <a:bodyPr wrap="square"/>
                    <a:lstStyle/>
                    <a:p>
                      <a:r>
                        <a:rPr sz="1087" b="0">
                          <a:solidFill>
                            <a:srgbClr val="22252B"/>
                          </a:solidFill>
                          <a:latin typeface="Arial"/>
                        </a:rPr>
                        <a:t>2022</a:t>
                      </a:r>
                    </a:p>
                  </a:txBody>
                  <a:tcPr marL="76200" marR="76200" marT="57150" marB="57150">
                    <a:solidFill>
                      <a:srgbClr val="FFFFFF"/>
                    </a:solidFill>
                  </a:tcPr>
                </a:tc>
                <a:tc>
                  <a:txBody>
                    <a:bodyPr wrap="square"/>
                    <a:lstStyle/>
                    <a:p>
                      <a:pPr algn="r"/>
                      <a:r>
                        <a:rPr sz="1087" b="0">
                          <a:solidFill>
                            <a:srgbClr val="22252B"/>
                          </a:solidFill>
                          <a:latin typeface="Arial"/>
                        </a:rPr>
                        <a:t>89</a:t>
                      </a:r>
                    </a:p>
                  </a:txBody>
                  <a:tcPr marL="76200" marR="76200" marT="57150" marB="57150">
                    <a:solidFill>
                      <a:srgbClr val="FFFFFF"/>
                    </a:solidFill>
                  </a:tcPr>
                </a:tc>
                <a:tc>
                  <a:txBody>
                    <a:bodyPr wrap="square"/>
                    <a:lstStyle/>
                    <a:p>
                      <a:pPr algn="r"/>
                      <a:r>
                        <a:rPr sz="1087" b="0">
                          <a:solidFill>
                            <a:srgbClr val="22252B"/>
                          </a:solidFill>
                          <a:latin typeface="Arial"/>
                        </a:rPr>
                        <a:t>190 GWh</a:t>
                      </a:r>
                    </a:p>
                  </a:txBody>
                  <a:tcPr marL="76200" marR="76200" marT="57150" marB="57150">
                    <a:solidFill>
                      <a:srgbClr val="FFFFFF"/>
                    </a:solidFill>
                  </a:tcPr>
                </a:tc>
                <a:tc>
                  <a:txBody>
                    <a:bodyPr wrap="square"/>
                    <a:lstStyle/>
                    <a:p>
                      <a:pPr algn="r"/>
                      <a:r>
                        <a:rPr sz="1087" b="0">
                          <a:solidFill>
                            <a:srgbClr val="22252B"/>
                          </a:solidFill>
                          <a:latin typeface="Arial"/>
                        </a:rPr>
                        <a:t>7,5 GW</a:t>
                      </a:r>
                    </a:p>
                  </a:txBody>
                  <a:tcPr marL="76200" marR="76200" marT="57150" marB="57150">
                    <a:solidFill>
                      <a:srgbClr val="FFFFFF"/>
                    </a:solidFill>
                  </a:tcPr>
                </a:tc>
                <a:tc>
                  <a:txBody>
                    <a:bodyPr wrap="square"/>
                    <a:lstStyle/>
                    <a:p>
                      <a:pPr algn="r"/>
                      <a:r>
                        <a:rPr sz="1087" b="0">
                          <a:solidFill>
                            <a:srgbClr val="22252B"/>
                          </a:solidFill>
                          <a:latin typeface="Arial"/>
                        </a:rPr>
                        <a:t>1,4 TWh</a:t>
                      </a:r>
                    </a:p>
                  </a:txBody>
                  <a:tcPr marL="76200" marR="76200" marT="57150" marB="57150">
                    <a:solidFill>
                      <a:srgbClr val="FFFFFF"/>
                    </a:solidFill>
                  </a:tcPr>
                </a:tc>
              </a:tr>
              <a:tr h="319831">
                <a:tc>
                  <a:txBody>
                    <a:bodyPr wrap="square"/>
                    <a:lstStyle/>
                    <a:p>
                      <a:r>
                        <a:rPr sz="1087" b="0">
                          <a:solidFill>
                            <a:srgbClr val="22252B"/>
                          </a:solidFill>
                          <a:latin typeface="Arial"/>
                        </a:rPr>
                        <a:t>2023</a:t>
                      </a:r>
                    </a:p>
                  </a:txBody>
                  <a:tcPr marL="76200" marR="76200" marT="57150" marB="57150">
                    <a:solidFill>
                      <a:srgbClr val="FFFFFF"/>
                    </a:solidFill>
                  </a:tcPr>
                </a:tc>
                <a:tc>
                  <a:txBody>
                    <a:bodyPr wrap="square"/>
                    <a:lstStyle/>
                    <a:p>
                      <a:pPr algn="r"/>
                      <a:r>
                        <a:rPr sz="1087" b="0">
                          <a:solidFill>
                            <a:srgbClr val="22252B"/>
                          </a:solidFill>
                          <a:latin typeface="Arial"/>
                        </a:rPr>
                        <a:t>38</a:t>
                      </a:r>
                    </a:p>
                  </a:txBody>
                  <a:tcPr marL="76200" marR="76200" marT="57150" marB="57150">
                    <a:solidFill>
                      <a:srgbClr val="FFFFFF"/>
                    </a:solidFill>
                  </a:tcPr>
                </a:tc>
                <a:tc>
                  <a:txBody>
                    <a:bodyPr wrap="square"/>
                    <a:lstStyle/>
                    <a:p>
                      <a:pPr algn="r"/>
                      <a:r>
                        <a:rPr sz="1087" b="0">
                          <a:solidFill>
                            <a:srgbClr val="22252B"/>
                          </a:solidFill>
                          <a:latin typeface="Arial"/>
                        </a:rPr>
                        <a:t>70 GWh</a:t>
                      </a:r>
                    </a:p>
                  </a:txBody>
                  <a:tcPr marL="76200" marR="76200" marT="57150" marB="57150">
                    <a:solidFill>
                      <a:srgbClr val="FFFFFF"/>
                    </a:solidFill>
                  </a:tcPr>
                </a:tc>
                <a:tc>
                  <a:txBody>
                    <a:bodyPr wrap="square"/>
                    <a:lstStyle/>
                    <a:p>
                      <a:pPr algn="r"/>
                      <a:r>
                        <a:rPr sz="1087" b="0">
                          <a:solidFill>
                            <a:srgbClr val="22252B"/>
                          </a:solidFill>
                          <a:latin typeface="Arial"/>
                        </a:rPr>
                        <a:t>6,1 GW</a:t>
                      </a:r>
                    </a:p>
                  </a:txBody>
                  <a:tcPr marL="76200" marR="76200" marT="57150" marB="57150">
                    <a:solidFill>
                      <a:srgbClr val="FFFFFF"/>
                    </a:solidFill>
                  </a:tcPr>
                </a:tc>
                <a:tc>
                  <a:txBody>
                    <a:bodyPr wrap="square"/>
                    <a:lstStyle/>
                    <a:p>
                      <a:pPr algn="r"/>
                      <a:r>
                        <a:rPr sz="1087" b="0">
                          <a:solidFill>
                            <a:srgbClr val="22252B"/>
                          </a:solidFill>
                          <a:latin typeface="Arial"/>
                        </a:rPr>
                        <a:t>6,4 TWh</a:t>
                      </a:r>
                    </a:p>
                  </a:txBody>
                  <a:tcPr marL="76200" marR="76200" marT="57150" marB="57150">
                    <a:solidFill>
                      <a:srgbClr val="FFFFFF"/>
                    </a:solidFill>
                  </a:tcPr>
                </a:tc>
              </a:tr>
              <a:tr h="319831">
                <a:tc>
                  <a:txBody>
                    <a:bodyPr wrap="square"/>
                    <a:lstStyle/>
                    <a:p>
                      <a:r>
                        <a:rPr sz="1087" b="0">
                          <a:solidFill>
                            <a:srgbClr val="22252B"/>
                          </a:solidFill>
                          <a:latin typeface="Arial"/>
                        </a:rPr>
                        <a:t>2024</a:t>
                      </a:r>
                    </a:p>
                  </a:txBody>
                  <a:tcPr marL="76200" marR="76200" marT="57150" marB="57150">
                    <a:solidFill>
                      <a:srgbClr val="FFFFFF"/>
                    </a:solidFill>
                  </a:tcPr>
                </a:tc>
                <a:tc>
                  <a:txBody>
                    <a:bodyPr wrap="square"/>
                    <a:lstStyle/>
                    <a:p>
                      <a:pPr algn="r"/>
                      <a:r>
                        <a:rPr sz="1087" b="0">
                          <a:solidFill>
                            <a:srgbClr val="22252B"/>
                          </a:solidFill>
                          <a:latin typeface="Arial"/>
                        </a:rPr>
                        <a:t>0</a:t>
                      </a:r>
                    </a:p>
                  </a:txBody>
                  <a:tcPr marL="76200" marR="76200" marT="57150" marB="57150">
                    <a:solidFill>
                      <a:srgbClr val="FFFFFF"/>
                    </a:solidFill>
                  </a:tcPr>
                </a:tc>
                <a:tc>
                  <a:txBody>
                    <a:bodyPr wrap="square"/>
                    <a:lstStyle/>
                    <a:p>
                      <a:pPr algn="r"/>
                      <a:r>
                        <a:rPr sz="1087" b="0">
                          <a:solidFill>
                            <a:srgbClr val="22252B"/>
                          </a:solidFill>
                          <a:latin typeface="Arial"/>
                        </a:rPr>
                        <a:t>0 GWh</a:t>
                      </a:r>
                    </a:p>
                  </a:txBody>
                  <a:tcPr marL="76200" marR="76200" marT="57150" marB="57150">
                    <a:solidFill>
                      <a:srgbClr val="FFFFFF"/>
                    </a:solidFill>
                  </a:tcPr>
                </a:tc>
                <a:tc>
                  <a:txBody>
                    <a:bodyPr wrap="square"/>
                    <a:lstStyle/>
                    <a:p>
                      <a:pPr algn="r"/>
                      <a:r>
                        <a:rPr sz="1087" b="0">
                          <a:solidFill>
                            <a:srgbClr val="22252B"/>
                          </a:solidFill>
                          <a:latin typeface="Arial"/>
                        </a:rPr>
                        <a:t>0,0 GW</a:t>
                      </a:r>
                    </a:p>
                  </a:txBody>
                  <a:tcPr marL="76200" marR="76200" marT="57150" marB="57150">
                    <a:solidFill>
                      <a:srgbClr val="FFFFFF"/>
                    </a:solidFill>
                  </a:tcPr>
                </a:tc>
                <a:tc>
                  <a:txBody>
                    <a:bodyPr wrap="square"/>
                    <a:lstStyle/>
                    <a:p>
                      <a:pPr algn="r"/>
                      <a:r>
                        <a:rPr sz="1087" b="0">
                          <a:solidFill>
                            <a:srgbClr val="22252B"/>
                          </a:solidFill>
                          <a:latin typeface="Arial"/>
                        </a:rPr>
                        <a:t>5,2 TWh</a:t>
                      </a:r>
                    </a:p>
                  </a:txBody>
                  <a:tcPr marL="76200" marR="76200" marT="57150" marB="57150">
                    <a:solidFill>
                      <a:srgbClr val="FFFFFF"/>
                    </a:solidFill>
                  </a:tcPr>
                </a:tc>
              </a:tr>
              <a:tr h="319831">
                <a:tc>
                  <a:txBody>
                    <a:bodyPr wrap="square"/>
                    <a:lstStyle/>
                    <a:p>
                      <a:r>
                        <a:rPr sz="1087" b="0">
                          <a:solidFill>
                            <a:srgbClr val="22252B"/>
                          </a:solidFill>
                          <a:latin typeface="Arial"/>
                        </a:rPr>
                        <a:t>2025</a:t>
                      </a:r>
                    </a:p>
                  </a:txBody>
                  <a:tcPr marL="76200" marR="76200" marT="57150" marB="57150">
                    <a:solidFill>
                      <a:srgbClr val="FFFFFF"/>
                    </a:solidFill>
                  </a:tcPr>
                </a:tc>
                <a:tc>
                  <a:txBody>
                    <a:bodyPr wrap="square"/>
                    <a:lstStyle/>
                    <a:p>
                      <a:pPr algn="r"/>
                      <a:r>
                        <a:rPr sz="1087" b="0">
                          <a:solidFill>
                            <a:srgbClr val="22252B"/>
                          </a:solidFill>
                          <a:latin typeface="Arial"/>
                        </a:rPr>
                        <a:t>0</a:t>
                      </a:r>
                    </a:p>
                  </a:txBody>
                  <a:tcPr marL="76200" marR="76200" marT="57150" marB="57150">
                    <a:solidFill>
                      <a:srgbClr val="FFFFFF"/>
                    </a:solidFill>
                  </a:tcPr>
                </a:tc>
                <a:tc>
                  <a:txBody>
                    <a:bodyPr wrap="square"/>
                    <a:lstStyle/>
                    <a:p>
                      <a:pPr algn="r"/>
                      <a:r>
                        <a:rPr sz="1087" b="0">
                          <a:solidFill>
                            <a:srgbClr val="22252B"/>
                          </a:solidFill>
                          <a:latin typeface="Arial"/>
                        </a:rPr>
                        <a:t>0 GWh</a:t>
                      </a:r>
                    </a:p>
                  </a:txBody>
                  <a:tcPr marL="76200" marR="76200" marT="57150" marB="57150">
                    <a:solidFill>
                      <a:srgbClr val="FFFFFF"/>
                    </a:solidFill>
                  </a:tcPr>
                </a:tc>
                <a:tc>
                  <a:txBody>
                    <a:bodyPr wrap="square"/>
                    <a:lstStyle/>
                    <a:p>
                      <a:pPr algn="r"/>
                      <a:r>
                        <a:rPr sz="1087" b="0">
                          <a:solidFill>
                            <a:srgbClr val="22252B"/>
                          </a:solidFill>
                          <a:latin typeface="Arial"/>
                        </a:rPr>
                        <a:t>0,0 GW</a:t>
                      </a:r>
                    </a:p>
                  </a:txBody>
                  <a:tcPr marL="76200" marR="76200" marT="57150" marB="57150">
                    <a:solidFill>
                      <a:srgbClr val="FFFFFF"/>
                    </a:solidFill>
                  </a:tcPr>
                </a:tc>
                <a:tc>
                  <a:txBody>
                    <a:bodyPr wrap="square"/>
                    <a:lstStyle/>
                    <a:p>
                      <a:pPr algn="r"/>
                      <a:r>
                        <a:rPr sz="1087" b="0">
                          <a:solidFill>
                            <a:srgbClr val="22252B"/>
                          </a:solidFill>
                          <a:latin typeface="Arial"/>
                        </a:rPr>
                        <a:t>8,9 TWh</a:t>
                      </a:r>
                    </a:p>
                  </a:txBody>
                  <a:tcPr marL="76200" marR="76200" marT="57150" marB="57150">
                    <a:solidFill>
                      <a:srgbClr val="FFFFFF"/>
                    </a:solidFill>
                  </a:tcPr>
                </a:tc>
              </a:tr>
              <a:tr h="515838">
                <a:tc>
                  <a:txBody>
                    <a:bodyPr wrap="square"/>
                    <a:lstStyle/>
                    <a:p>
                      <a:r>
                        <a:rPr sz="1087" b="0">
                          <a:solidFill>
                            <a:srgbClr val="22252B"/>
                          </a:solidFill>
                          <a:latin typeface="Arial"/>
                        </a:rPr>
                        <a:t>2026 (janv.–oct.)</a:t>
                      </a:r>
                    </a:p>
                  </a:txBody>
                  <a:tcPr marL="76200" marR="76200" marT="57150" marB="57150">
                    <a:solidFill>
                      <a:srgbClr val="FFFFFF"/>
                    </a:solidFill>
                  </a:tcPr>
                </a:tc>
                <a:tc>
                  <a:txBody>
                    <a:bodyPr wrap="square"/>
                    <a:lstStyle/>
                    <a:p>
                      <a:pPr algn="r"/>
                      <a:r>
                        <a:rPr sz="1087" b="0">
                          <a:solidFill>
                            <a:srgbClr val="22252B"/>
                          </a:solidFill>
                          <a:latin typeface="Arial"/>
                        </a:rPr>
                        <a:t>15</a:t>
                      </a:r>
                    </a:p>
                  </a:txBody>
                  <a:tcPr marL="76200" marR="76200" marT="57150" marB="57150">
                    <a:solidFill>
                      <a:srgbClr val="FFFFFF"/>
                    </a:solidFill>
                  </a:tcPr>
                </a:tc>
                <a:tc>
                  <a:txBody>
                    <a:bodyPr wrap="square"/>
                    <a:lstStyle/>
                    <a:p>
                      <a:pPr algn="r"/>
                      <a:r>
                        <a:rPr sz="1087" b="0">
                          <a:solidFill>
                            <a:srgbClr val="22252B"/>
                          </a:solidFill>
                          <a:latin typeface="Arial"/>
                        </a:rPr>
                        <a:t>50 GWh</a:t>
                      </a:r>
                    </a:p>
                  </a:txBody>
                  <a:tcPr marL="76200" marR="76200" marT="57150" marB="57150">
                    <a:solidFill>
                      <a:srgbClr val="FFFFFF"/>
                    </a:solidFill>
                  </a:tcPr>
                </a:tc>
                <a:tc>
                  <a:txBody>
                    <a:bodyPr wrap="square"/>
                    <a:lstStyle/>
                    <a:p>
                      <a:pPr algn="r"/>
                      <a:r>
                        <a:rPr sz="1087" b="0">
                          <a:solidFill>
                            <a:srgbClr val="22252B"/>
                          </a:solidFill>
                          <a:latin typeface="Arial"/>
                        </a:rPr>
                        <a:t>6,7 GW</a:t>
                      </a:r>
                    </a:p>
                  </a:txBody>
                  <a:tcPr marL="76200" marR="76200" marT="57150" marB="57150">
                    <a:solidFill>
                      <a:srgbClr val="FFFFFF"/>
                    </a:solidFill>
                  </a:tcPr>
                </a:tc>
                <a:tc>
                  <a:txBody>
                    <a:bodyPr wrap="square"/>
                    <a:lstStyle/>
                    <a:p>
                      <a:pPr algn="r"/>
                      <a:r>
                        <a:rPr sz="1087" b="0">
                          <a:solidFill>
                            <a:srgbClr val="22252B"/>
                          </a:solidFill>
                          <a:latin typeface="Arial"/>
                        </a:rPr>
                        <a:t>15,8 TWh</a:t>
                      </a:r>
                    </a:p>
                  </a:txBody>
                  <a:tcPr marL="76200" marR="76200" marT="57150" marB="57150">
                    <a:solidFill>
                      <a:srgbClr val="FFFFFF"/>
                    </a:solidFill>
                  </a:tcPr>
                </a:tc>
              </a:tr>
            </a:tbl>
          </a:graphicData>
        </a:graphic>
      </p:graphicFrame>
      <p:sp>
        <p:nvSpPr>
          <p:cNvPr id="5" name="TextBox 4"/>
          <p:cNvSpPr txBox="1"/>
          <p:nvPr/>
        </p:nvSpPr>
        <p:spPr>
          <a:xfrm>
            <a:off x="6369992" y="1101476"/>
            <a:ext cx="5250507" cy="2981325"/>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Pénurie</a:t>
            </a:r>
            <a:r>
              <a:rPr sz="1162" b="0">
                <a:solidFill>
                  <a:srgbClr val="22252B"/>
                </a:solidFill>
                <a:latin typeface="Arial"/>
              </a:rPr>
              <a:t> : heures où le nucléaire disponible, l’hydraulique, le gaz, le charbon et le fioul (à leurs records de l’année) n’auraient pas suffi. Ce sont des vagues de froid : janvier et fin 2021, 4 avril 2022, décembre 2022, début 2023, 5–6 janvier 2026.</a:t>
            </a:r>
          </a:p>
          <a:p>
            <a:pPr marL="152400" indent="-133350">
              <a:spcAft>
                <a:spcPts val="500"/>
              </a:spcAft>
              <a:buChar char="•"/>
            </a:pPr>
            <a:r>
              <a:rPr sz="1162" b="0">
                <a:solidFill>
                  <a:srgbClr val="22252B"/>
                </a:solidFill>
                <a:latin typeface="Arial"/>
              </a:rPr>
              <a:t>Dans ces heures, les imports ont comblé le manque. Le modèle ne compte pas les moyens d’urgence de RTE (interruptibilité, baisse de tension) : on ne peut pas en conclure qu’il y aurait eu ces coupures.</a:t>
            </a:r>
          </a:p>
          <a:p>
            <a:pPr marL="152400" indent="-133350">
              <a:spcAft>
                <a:spcPts val="500"/>
              </a:spcAft>
              <a:buChar char="•"/>
            </a:pPr>
            <a:r>
              <a:rPr sz="1162" b="0">
                <a:solidFill>
                  <a:srgbClr val="22252B"/>
                </a:solidFill>
                <a:latin typeface="Arial"/>
              </a:rPr>
              <a:t>Ces heures sont </a:t>
            </a:r>
            <a:r>
              <a:rPr sz="1162" b="1">
                <a:solidFill>
                  <a:srgbClr val="22252B"/>
                </a:solidFill>
                <a:latin typeface="Arial"/>
              </a:rPr>
              <a:t>sorties des moyennes</a:t>
            </a:r>
            <a:r>
              <a:rPr sz="1162" b="0">
                <a:solidFill>
                  <a:srgbClr val="22252B"/>
                </a:solidFill>
                <a:latin typeface="Arial"/>
              </a:rPr>
              <a:t> : leur prix (le plafond, 4 000 €/MWh) est une convention, et elles pèseraient plus que tout le reste de l’année.</a:t>
            </a:r>
          </a:p>
          <a:p>
            <a:pPr marL="152400" indent="-133350">
              <a:spcAft>
                <a:spcPts val="500"/>
              </a:spcAft>
              <a:buChar char="•"/>
            </a:pPr>
            <a:r>
              <a:rPr sz="1162" b="1">
                <a:solidFill>
                  <a:srgbClr val="22252B"/>
                </a:solidFill>
                <a:latin typeface="Arial"/>
              </a:rPr>
              <a:t>Écrêtement</a:t>
            </a:r>
            <a:r>
              <a:rPr sz="1162" b="0">
                <a:solidFill>
                  <a:srgbClr val="22252B"/>
                </a:solidFill>
                <a:latin typeface="Arial"/>
              </a:rPr>
              <a:t> : en 2025, une France isolée aurait eu 8,9 TWh de surplus sous son minimum nucléaire observé, à écrêter (éolien, solaire) ou à couper (tranches nucléaires arrêtées).</a:t>
            </a:r>
          </a:p>
        </p:txBody>
      </p:sp>
      <p:sp>
        <p:nvSpPr>
          <p:cNvPr id="6" name="TextBox 5"/>
          <p:cNvSpPr txBox="1"/>
          <p:nvPr/>
        </p:nvSpPr>
        <p:spPr>
          <a:xfrm>
            <a:off x="6369992" y="4139951"/>
            <a:ext cx="5250507" cy="198834"/>
          </a:xfrm>
          <a:prstGeom prst="rect">
            <a:avLst/>
          </a:prstGeom>
          <a:noFill/>
        </p:spPr>
        <p:txBody>
          <a:bodyPr wrap="square" lIns="0" rIns="0" tIns="0" bIns="0" anchor="t">
            <a:spAutoFit/>
          </a:bodyPr>
          <a:lstStyle/>
          <a:p>
            <a:r>
              <a:rPr sz="937" b="0">
                <a:solidFill>
                  <a:srgbClr val="8A8F98"/>
                </a:solidFill>
                <a:latin typeface="Arial"/>
              </a:rPr>
              <a:t>Calcul PowerKlock (RTE éCO2mix, ENTSO-E).</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CAUSES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Pourquoi la France s’est coupée de plus en plus</a:t>
            </a:r>
          </a:p>
        </p:txBody>
      </p:sp>
      <p:pic>
        <p:nvPicPr>
          <p:cNvPr id="4" name="Picture 3" descr="image.png"/>
          <p:cNvPicPr>
            <a:picLocks noChangeAspect="1"/>
          </p:cNvPicPr>
          <p:nvPr/>
        </p:nvPicPr>
        <p:blipFill>
          <a:blip r:embed="rId2"/>
          <a:stretch>
            <a:fillRect/>
          </a:stretch>
        </p:blipFill>
        <p:spPr>
          <a:xfrm>
            <a:off x="571500" y="1101476"/>
            <a:ext cx="5512742" cy="2957512"/>
          </a:xfrm>
          <a:prstGeom prst="rect">
            <a:avLst/>
          </a:prstGeom>
        </p:spPr>
      </p:pic>
      <p:sp>
        <p:nvSpPr>
          <p:cNvPr id="5" name="TextBox 4"/>
          <p:cNvSpPr txBox="1"/>
          <p:nvPr/>
        </p:nvSpPr>
        <p:spPr>
          <a:xfrm>
            <a:off x="6369992" y="1101476"/>
            <a:ext cx="5250507" cy="3676650"/>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Plus de surplus</a:t>
            </a:r>
            <a:r>
              <a:rPr sz="1162" b="0">
                <a:solidFill>
                  <a:srgbClr val="22252B"/>
                </a:solidFill>
                <a:latin typeface="Arial"/>
              </a:rPr>
              <a:t> : nucléaire disponible 33,8 GW en 2022 → 46,9 GW en 2025 ; éolien + solaire 6,5 → 9,4 GW en moyenne ; consommation basse (50,7 GW en moyenne en 2025), « en retrait par rapport aux niveaux d’avant-crise » (RTE).</a:t>
            </a:r>
          </a:p>
          <a:p>
            <a:pPr marL="152400" indent="-133350">
              <a:spcAft>
                <a:spcPts val="500"/>
              </a:spcAft>
              <a:buChar char="•"/>
            </a:pPr>
            <a:r>
              <a:rPr sz="1162" b="1">
                <a:solidFill>
                  <a:srgbClr val="22252B"/>
                </a:solidFill>
                <a:latin typeface="Arial"/>
              </a:rPr>
              <a:t>Moins de place sur les lignes Core</a:t>
            </a:r>
            <a:r>
              <a:rPr sz="1162" b="0">
                <a:solidFill>
                  <a:srgbClr val="22252B"/>
                </a:solidFill>
                <a:latin typeface="Arial"/>
              </a:rPr>
              <a:t> : la limite d’export de la France (JAO maxNetPos) passe de 9,2 GW (2023) à 7,7 (2024) puis 5,4 (2025). Elle sort du calcul flow-based (en place depuis le 8 juin 2022), qui tient compte des lignes les plus chargées de toute la zone.</a:t>
            </a:r>
          </a:p>
          <a:p>
            <a:pPr marL="152400" indent="-133350">
              <a:spcAft>
                <a:spcPts val="500"/>
              </a:spcAft>
              <a:buChar char="•"/>
            </a:pPr>
            <a:r>
              <a:rPr sz="1162" b="1">
                <a:solidFill>
                  <a:srgbClr val="22252B"/>
                </a:solidFill>
                <a:latin typeface="Arial"/>
              </a:rPr>
              <a:t>Des lignes Core sous-utilisées</a:t>
            </a:r>
            <a:r>
              <a:rPr sz="1162" b="0">
                <a:solidFill>
                  <a:srgbClr val="22252B"/>
                </a:solidFill>
                <a:latin typeface="Arial"/>
              </a:rPr>
              <a:t> : selon l’ACER, les gestionnaires de Core n’ont offert en 2024 que 54 % de la capacité de leurs lignes les plus congestionnées, contre 70 % exigés par le droit européen ; atteindre 70 % aurait rapporté au moins 580 M€.</a:t>
            </a:r>
          </a:p>
          <a:p>
            <a:pPr marL="152400" indent="-133350">
              <a:spcAft>
                <a:spcPts val="500"/>
              </a:spcAft>
              <a:buChar char="•"/>
            </a:pPr>
            <a:r>
              <a:rPr sz="1162" b="1">
                <a:solidFill>
                  <a:srgbClr val="22252B"/>
                </a:solidFill>
                <a:latin typeface="Arial"/>
              </a:rPr>
              <a:t>Le vent et le soleil allemands</a:t>
            </a:r>
            <a:r>
              <a:rPr sz="1162" b="0">
                <a:solidFill>
                  <a:srgbClr val="22252B"/>
                </a:solidFill>
                <a:latin typeface="Arial"/>
              </a:rPr>
              <a:t> : quand ils débordent, c’est l’Allemagne qui passe sous la France (page 18).</a:t>
            </a:r>
          </a:p>
          <a:p>
            <a:pPr marL="152400" indent="-133350">
              <a:spcAft>
                <a:spcPts val="500"/>
              </a:spcAft>
              <a:buChar char="•"/>
            </a:pPr>
            <a:r>
              <a:rPr sz="1162" b="0">
                <a:solidFill>
                  <a:srgbClr val="22252B"/>
                </a:solidFill>
                <a:latin typeface="Arial"/>
              </a:rPr>
              <a:t>RTE : exports « dans la limite des capacités d’interconnexion et des capacités de transit des réseaux nationaux ».</a:t>
            </a:r>
          </a:p>
        </p:txBody>
      </p:sp>
      <p:sp>
        <p:nvSpPr>
          <p:cNvPr id="6" name="TextBox 5"/>
          <p:cNvSpPr txBox="1"/>
          <p:nvPr/>
        </p:nvSpPr>
        <p:spPr>
          <a:xfrm>
            <a:off x="6369992" y="4835276"/>
            <a:ext cx="5250507" cy="520303"/>
          </a:xfrm>
          <a:prstGeom prst="rect">
            <a:avLst/>
          </a:prstGeom>
          <a:noFill/>
        </p:spPr>
        <p:txBody>
          <a:bodyPr wrap="square" lIns="0" rIns="0" tIns="0" bIns="0" anchor="t">
            <a:spAutoFit/>
          </a:bodyPr>
          <a:lstStyle/>
          <a:p>
            <a:r>
              <a:rPr sz="937" b="0">
                <a:solidFill>
                  <a:srgbClr val="8A8F98"/>
                </a:solidFill>
                <a:latin typeface="Arial"/>
              </a:rPr>
              <a:t>Nous n’avons pas trouvé de source publique qui chiffre la part de chaque cause dans la baisse de la limite JAO. Sources : RTE, Bilan électrique 2025 ; ACER, communiqué du 5 septembre 2025 ; JAO ; ENTSO-E ; calcul PowerKlock.</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L’HYPOTHÈSE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Et si la France était coupée 100 % du temps ?</a:t>
            </a:r>
          </a:p>
        </p:txBody>
      </p:sp>
      <p:sp>
        <p:nvSpPr>
          <p:cNvPr id="4" name="TextBox 3"/>
          <p:cNvSpPr txBox="1"/>
          <p:nvPr/>
        </p:nvSpPr>
        <p:spPr>
          <a:xfrm>
            <a:off x="571500" y="1101476"/>
            <a:ext cx="11049000" cy="2649140"/>
          </a:xfrm>
          <a:prstGeom prst="rect">
            <a:avLst/>
          </a:prstGeom>
          <a:noFill/>
        </p:spPr>
        <p:txBody>
          <a:bodyPr wrap="square" lIns="0" rIns="0" tIns="0" bIns="0" anchor="t">
            <a:spAutoFit/>
          </a:bodyPr>
          <a:lstStyle/>
          <a:p>
            <a:pPr marL="152400" indent="-133350">
              <a:spcAft>
                <a:spcPts val="500"/>
              </a:spcAft>
              <a:buChar char="•"/>
            </a:pPr>
            <a:r>
              <a:rPr sz="1500" b="1">
                <a:solidFill>
                  <a:srgbClr val="22252B"/>
                </a:solidFill>
                <a:latin typeface="Arial"/>
              </a:rPr>
              <a:t>Prix spot</a:t>
            </a:r>
            <a:r>
              <a:rPr sz="1500" b="0">
                <a:solidFill>
                  <a:srgbClr val="22252B"/>
                </a:solidFill>
                <a:latin typeface="Arial"/>
              </a:rPr>
              <a:t> : 23 €/MWh au lieu de 61 en 2025, 19 au lieu de 58 en 2024 (modèle). Bien plus bas que pendant nos heures « coupées » (51 €), où la France exporte encore à pleine ligne.</a:t>
            </a:r>
          </a:p>
          <a:p>
            <a:pPr marL="152400" indent="-133350">
              <a:spcAft>
                <a:spcPts val="500"/>
              </a:spcAft>
              <a:buChar char="•"/>
            </a:pPr>
            <a:r>
              <a:rPr sz="1500" b="1">
                <a:solidFill>
                  <a:srgbClr val="22252B"/>
                </a:solidFill>
                <a:latin typeface="Arial"/>
              </a:rPr>
              <a:t>Quand elle manque</a:t>
            </a:r>
            <a:r>
              <a:rPr sz="1500" b="0">
                <a:solidFill>
                  <a:srgbClr val="22252B"/>
                </a:solidFill>
                <a:latin typeface="Arial"/>
              </a:rPr>
              <a:t> (froid, nucléaire indisponible) : prix beaucoup plus hauts, +22 €/MWh en moyenne en 2022, et des heures de pénurie (89 h en 2022).</a:t>
            </a:r>
          </a:p>
          <a:p>
            <a:pPr marL="152400" indent="-133350">
              <a:spcAft>
                <a:spcPts val="500"/>
              </a:spcAft>
              <a:buChar char="•"/>
            </a:pPr>
            <a:r>
              <a:rPr sz="1500" b="1">
                <a:solidFill>
                  <a:srgbClr val="22252B"/>
                </a:solidFill>
                <a:latin typeface="Arial"/>
              </a:rPr>
              <a:t>Les producteurs</a:t>
            </a:r>
            <a:r>
              <a:rPr sz="1500" b="0">
                <a:solidFill>
                  <a:srgbClr val="22252B"/>
                </a:solidFill>
                <a:latin typeface="Arial"/>
              </a:rPr>
              <a:t> encaisseraient 22,9 Md€ de moins en 2025 (dont 16,2 pour le nucléaire) ; le surplus serait perdu : nucléaire au minimum, et 8,9 TWh écrêtés.</a:t>
            </a:r>
          </a:p>
          <a:p>
            <a:pPr marL="152400" indent="-133350">
              <a:spcAft>
                <a:spcPts val="500"/>
              </a:spcAft>
              <a:buChar char="•"/>
            </a:pPr>
            <a:r>
              <a:rPr sz="1500" b="1">
                <a:solidFill>
                  <a:srgbClr val="22252B"/>
                </a:solidFill>
                <a:latin typeface="Arial"/>
              </a:rPr>
              <a:t>À long terme, ce monde serait différent</a:t>
            </a:r>
            <a:r>
              <a:rPr sz="1500" b="0">
                <a:solidFill>
                  <a:srgbClr val="22252B"/>
                </a:solidFill>
                <a:latin typeface="Arial"/>
              </a:rPr>
              <a:t> : EDF planifierait autrement ses arrêts, on investirait autrement. Notre calcul garde le parc réel : c’est un « isolement pour une heure », pas un autre système électrique.</a:t>
            </a:r>
          </a:p>
        </p:txBody>
      </p:sp>
      <p:sp>
        <p:nvSpPr>
          <p:cNvPr id="5" name="TextBox 4"/>
          <p:cNvSpPr txBox="1"/>
          <p:nvPr/>
        </p:nvSpPr>
        <p:spPr>
          <a:xfrm>
            <a:off x="571500" y="3836342"/>
            <a:ext cx="11049000" cy="198834"/>
          </a:xfrm>
          <a:prstGeom prst="rect">
            <a:avLst/>
          </a:prstGeom>
          <a:noFill/>
        </p:spPr>
        <p:txBody>
          <a:bodyPr wrap="square" lIns="0" rIns="0" tIns="0" bIns="0" anchor="t">
            <a:spAutoFit/>
          </a:bodyPr>
          <a:lstStyle/>
          <a:p>
            <a:r>
              <a:rPr sz="937" b="0">
                <a:solidFill>
                  <a:srgbClr val="8A8F98"/>
                </a:solidFill>
                <a:latin typeface="Arial"/>
              </a:rPr>
              <a:t>France isolée : estimation de modèle, jamais observée ; erreur ± 15 à 20 €/MWh sur une heure, biais annuel +0,6 à +2,6 €/MWh en 2020–2025, +8 € en 2026 (page 14).</a:t>
            </a:r>
          </a:p>
        </p:txBody>
      </p:sp>
      <p:sp>
        <p:nvSpPr>
          <p:cNvPr id="6" name="TextBox 5"/>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LA FACTURE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La facture des ménages n’est pas le prix spot</a:t>
            </a:r>
          </a:p>
        </p:txBody>
      </p:sp>
      <p:sp>
        <p:nvSpPr>
          <p:cNvPr id="4" name="TextBox 3"/>
          <p:cNvSpPr txBox="1"/>
          <p:nvPr/>
        </p:nvSpPr>
        <p:spPr>
          <a:xfrm>
            <a:off x="571500" y="1101476"/>
            <a:ext cx="11049000" cy="3189982"/>
          </a:xfrm>
          <a:prstGeom prst="rect">
            <a:avLst/>
          </a:prstGeom>
          <a:noFill/>
        </p:spPr>
        <p:txBody>
          <a:bodyPr wrap="square" lIns="0" rIns="0" tIns="0" bIns="0" anchor="t">
            <a:spAutoFit/>
          </a:bodyPr>
          <a:lstStyle/>
          <a:p>
            <a:pPr marL="152400" indent="-133350">
              <a:spcAft>
                <a:spcPts val="500"/>
              </a:spcAft>
              <a:buChar char="•"/>
            </a:pPr>
            <a:r>
              <a:rPr sz="1500" b="1">
                <a:solidFill>
                  <a:srgbClr val="22252B"/>
                </a:solidFill>
                <a:latin typeface="Arial"/>
              </a:rPr>
              <a:t>Jusqu’à fin 2025 : l’ARENH.</a:t>
            </a:r>
            <a:r>
              <a:rPr sz="1500" b="0">
                <a:solidFill>
                  <a:srgbClr val="22252B"/>
                </a:solidFill>
                <a:latin typeface="Arial"/>
              </a:rPr>
              <a:t> « En 2025, l’ARENH couvrait 43,8 % de la consommation d’un consommateur aux TRVE au prix de 42 €/MWh inchangé depuis 2012 » (CRE). Cette part de la facture ne dépendait pas du marché.</a:t>
            </a:r>
          </a:p>
          <a:p>
            <a:pPr marL="152400" indent="-133350">
              <a:spcAft>
                <a:spcPts val="500"/>
              </a:spcAft>
              <a:buChar char="•"/>
            </a:pPr>
            <a:r>
              <a:rPr sz="1500" b="1">
                <a:solidFill>
                  <a:srgbClr val="22252B"/>
                </a:solidFill>
                <a:latin typeface="Arial"/>
              </a:rPr>
              <a:t>Depuis le 1er janvier 2026</a:t>
            </a:r>
            <a:r>
              <a:rPr sz="1500" b="0">
                <a:solidFill>
                  <a:srgbClr val="22252B"/>
                </a:solidFill>
                <a:latin typeface="Arial"/>
              </a:rPr>
              <a:t>, l’ARENH a pris fin. Le tarif réglementé (TRVE) achète toute son énergie sur le marché, « lissé de manière régulière sur deux ans » en produits annuels base et pointe : 63,9 €/MWh en moyenne pour 2026, contre 103,0 pour 2025 (CRE).</a:t>
            </a:r>
          </a:p>
          <a:p>
            <a:pPr marL="152400" indent="-133350">
              <a:spcAft>
                <a:spcPts val="500"/>
              </a:spcAft>
              <a:buChar char="•"/>
            </a:pPr>
            <a:r>
              <a:rPr sz="1500" b="1">
                <a:solidFill>
                  <a:srgbClr val="22252B"/>
                </a:solidFill>
                <a:latin typeface="Arial"/>
              </a:rPr>
              <a:t>Le versement nucléaire universel (VNU)</a:t>
            </a:r>
            <a:r>
              <a:rPr sz="1500" b="0">
                <a:solidFill>
                  <a:srgbClr val="22252B"/>
                </a:solidFill>
                <a:latin typeface="Arial"/>
              </a:rPr>
              <a:t> remplace l’ARENH : l’État taxe les revenus nucléaires d’EDF au-dessus de 78 €/MWh, plus fortement au-dessus de 110 €/MWh, et reverse aux consommateurs. En 2026, le revenu estimé est de 66,08 €/MWh : </a:t>
            </a:r>
            <a:r>
              <a:rPr sz="1500" b="1">
                <a:solidFill>
                  <a:srgbClr val="22252B"/>
                </a:solidFill>
                <a:latin typeface="Arial"/>
              </a:rPr>
              <a:t>rien à reverser</a:t>
            </a:r>
            <a:r>
              <a:rPr sz="1500" b="0">
                <a:solidFill>
                  <a:srgbClr val="22252B"/>
                </a:solidFill>
                <a:latin typeface="Arial"/>
              </a:rPr>
              <a:t> (CRE).</a:t>
            </a:r>
          </a:p>
          <a:p>
            <a:pPr marL="152400" indent="-133350">
              <a:spcAft>
                <a:spcPts val="500"/>
              </a:spcAft>
              <a:buChar char="•"/>
            </a:pPr>
            <a:r>
              <a:rPr sz="1500" b="0">
                <a:solidFill>
                  <a:srgbClr val="22252B"/>
                </a:solidFill>
                <a:latin typeface="Arial"/>
              </a:rPr>
              <a:t>Donc le couplage atteint la facture </a:t>
            </a:r>
            <a:r>
              <a:rPr sz="1500" b="1">
                <a:solidFill>
                  <a:srgbClr val="22252B"/>
                </a:solidFill>
                <a:latin typeface="Arial"/>
              </a:rPr>
              <a:t>avec deux ans de lissage</a:t>
            </a:r>
            <a:r>
              <a:rPr sz="1500" b="0">
                <a:solidFill>
                  <a:srgbClr val="22252B"/>
                </a:solidFill>
                <a:latin typeface="Arial"/>
              </a:rPr>
              <a:t>, via les prix à terme. Les chiffres de ce dossier sont des </a:t>
            </a:r>
            <a:r>
              <a:rPr sz="1500" b="1">
                <a:solidFill>
                  <a:srgbClr val="22252B"/>
                </a:solidFill>
                <a:latin typeface="Arial"/>
              </a:rPr>
              <a:t>équivalents au prix spot</a:t>
            </a:r>
            <a:r>
              <a:rPr sz="1500" b="0">
                <a:solidFill>
                  <a:srgbClr val="22252B"/>
                </a:solidFill>
                <a:latin typeface="Arial"/>
              </a:rPr>
              <a:t>, pas des factures.</a:t>
            </a:r>
          </a:p>
        </p:txBody>
      </p:sp>
      <p:sp>
        <p:nvSpPr>
          <p:cNvPr id="5" name="TextBox 4"/>
          <p:cNvSpPr txBox="1"/>
          <p:nvPr/>
        </p:nvSpPr>
        <p:spPr>
          <a:xfrm>
            <a:off x="571500" y="4377183"/>
            <a:ext cx="11049000" cy="198834"/>
          </a:xfrm>
          <a:prstGeom prst="rect">
            <a:avLst/>
          </a:prstGeom>
          <a:noFill/>
        </p:spPr>
        <p:txBody>
          <a:bodyPr wrap="square" lIns="0" rIns="0" tIns="0" bIns="0" anchor="t">
            <a:spAutoFit/>
          </a:bodyPr>
          <a:lstStyle/>
          <a:p>
            <a:r>
              <a:rPr sz="937" b="0">
                <a:solidFill>
                  <a:srgbClr val="8A8F98"/>
                </a:solidFill>
                <a:latin typeface="Arial"/>
              </a:rPr>
              <a:t>Sources : CRE, délibération TRVE 2026-06 du 14 janvier 2026 ; CRE, délibération 2026-52 (VNU) ; loi de finances 2025, art. 17. La part de l’énergie dans la facture d’un ménage : pas de chiffre officiel trouvé.</a:t>
            </a:r>
          </a:p>
        </p:txBody>
      </p:sp>
      <p:sp>
        <p:nvSpPr>
          <p:cNvPr id="6" name="TextBox 5"/>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LA FACTURE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Du spot au forward : comment le couplage atteint (ou pas) la facture</a:t>
            </a:r>
          </a:p>
        </p:txBody>
      </p:sp>
      <p:graphicFrame>
        <p:nvGraphicFramePr>
          <p:cNvPr id="4" name="Table 3"/>
          <p:cNvGraphicFramePr>
            <a:graphicFrameLocks noGrp="1"/>
          </p:cNvGraphicFramePr>
          <p:nvPr/>
        </p:nvGraphicFramePr>
        <p:xfrm>
          <a:off x="571500" y="1101476"/>
          <a:ext cx="5512740" cy="2383331"/>
        </p:xfrm>
        <a:graphic>
          <a:graphicData uri="http://schemas.openxmlformats.org/drawingml/2006/table">
            <a:tbl>
              <a:tblPr firstRow="0" bandRow="0">
                <a:tableStyleId>{5C22544A-7EE6-4342-B048-85BDC9FD1C3A}</a:tableStyleId>
              </a:tblPr>
              <a:tblGrid>
                <a:gridCol w="900707"/>
                <a:gridCol w="877044"/>
                <a:gridCol w="657225"/>
                <a:gridCol w="850999"/>
                <a:gridCol w="850999"/>
                <a:gridCol w="687734"/>
                <a:gridCol w="688032"/>
              </a:tblGrid>
              <a:tr h="908000">
                <a:tc>
                  <a:txBody>
                    <a:bodyPr wrap="square"/>
                    <a:lstStyle/>
                    <a:p>
                      <a:r>
                        <a:rPr sz="1087" b="1">
                          <a:solidFill>
                            <a:srgbClr val="22252B"/>
                          </a:solidFill>
                          <a:latin typeface="Arial"/>
                        </a:rPr>
                        <a:t>Livraison</a:t>
                      </a:r>
                    </a:p>
                  </a:txBody>
                  <a:tcPr marL="76200" marR="76200" marT="57150" marB="57150">
                    <a:solidFill>
                      <a:srgbClr val="F5F3FB"/>
                    </a:solidFill>
                  </a:tcPr>
                </a:tc>
                <a:tc>
                  <a:txBody>
                    <a:bodyPr wrap="square"/>
                    <a:lstStyle/>
                    <a:p>
                      <a:pPr algn="r"/>
                      <a:r>
                        <a:rPr sz="1087" b="1">
                          <a:solidFill>
                            <a:srgbClr val="22252B"/>
                          </a:solidFill>
                          <a:latin typeface="Arial"/>
                        </a:rPr>
                        <a:t>France</a:t>
                      </a:r>
                    </a:p>
                    <a:p>
                      <a:pPr algn="r"/>
                      <a:r>
                        <a:rPr sz="937" b="0">
                          <a:solidFill>
                            <a:srgbClr val="777777"/>
                          </a:solidFill>
                          <a:latin typeface="Arial"/>
                        </a:rPr>
                        <a:t>Cal coté l’année d’avant</a:t>
                      </a:r>
                    </a:p>
                  </a:txBody>
                  <a:tcPr marL="76200" marR="76200" marT="57150" marB="57150">
                    <a:solidFill>
                      <a:srgbClr val="F5F3FB"/>
                    </a:solidFill>
                  </a:tcPr>
                </a:tc>
                <a:tc>
                  <a:txBody>
                    <a:bodyPr wrap="square"/>
                    <a:lstStyle/>
                    <a:p>
                      <a:pPr algn="r"/>
                      <a:r>
                        <a:rPr sz="1087" b="1">
                          <a:solidFill>
                            <a:srgbClr val="22252B"/>
                          </a:solidFill>
                          <a:latin typeface="Arial"/>
                        </a:rPr>
                        <a:t>France</a:t>
                      </a:r>
                    </a:p>
                    <a:p>
                      <a:pPr algn="r"/>
                      <a:r>
                        <a:rPr sz="937" b="0">
                          <a:solidFill>
                            <a:srgbClr val="777777"/>
                          </a:solidFill>
                          <a:latin typeface="Arial"/>
                        </a:rPr>
                        <a:t>spot réalisé</a:t>
                      </a:r>
                    </a:p>
                  </a:txBody>
                  <a:tcPr marL="76200" marR="76200" marT="57150" marB="57150">
                    <a:solidFill>
                      <a:srgbClr val="F5F3FB"/>
                    </a:solidFill>
                  </a:tcPr>
                </a:tc>
                <a:tc>
                  <a:txBody>
                    <a:bodyPr wrap="square"/>
                    <a:lstStyle/>
                    <a:p>
                      <a:pPr algn="r"/>
                      <a:r>
                        <a:rPr sz="1087" b="1">
                          <a:solidFill>
                            <a:srgbClr val="22252B"/>
                          </a:solidFill>
                          <a:latin typeface="Arial"/>
                        </a:rPr>
                        <a:t>Allemagne</a:t>
                      </a:r>
                    </a:p>
                    <a:p>
                      <a:pPr algn="r"/>
                      <a:r>
                        <a:rPr sz="937" b="0">
                          <a:solidFill>
                            <a:srgbClr val="777777"/>
                          </a:solidFill>
                          <a:latin typeface="Arial"/>
                        </a:rPr>
                        <a:t>Cal</a:t>
                      </a:r>
                    </a:p>
                  </a:txBody>
                  <a:tcPr marL="76200" marR="76200" marT="57150" marB="57150">
                    <a:solidFill>
                      <a:srgbClr val="F5F3FB"/>
                    </a:solidFill>
                  </a:tcPr>
                </a:tc>
                <a:tc>
                  <a:txBody>
                    <a:bodyPr wrap="square"/>
                    <a:lstStyle/>
                    <a:p>
                      <a:pPr algn="r"/>
                      <a:r>
                        <a:rPr sz="1087" b="1">
                          <a:solidFill>
                            <a:srgbClr val="22252B"/>
                          </a:solidFill>
                          <a:latin typeface="Arial"/>
                        </a:rPr>
                        <a:t>Allemagne</a:t>
                      </a:r>
                    </a:p>
                    <a:p>
                      <a:pPr algn="r"/>
                      <a:r>
                        <a:rPr sz="937" b="0">
                          <a:solidFill>
                            <a:srgbClr val="777777"/>
                          </a:solidFill>
                          <a:latin typeface="Arial"/>
                        </a:rPr>
                        <a:t>spot</a:t>
                      </a:r>
                    </a:p>
                  </a:txBody>
                  <a:tcPr marL="76200" marR="76200" marT="57150" marB="57150">
                    <a:solidFill>
                      <a:srgbClr val="F5F3FB"/>
                    </a:solidFill>
                  </a:tcPr>
                </a:tc>
                <a:tc>
                  <a:txBody>
                    <a:bodyPr wrap="square"/>
                    <a:lstStyle/>
                    <a:p>
                      <a:pPr algn="r"/>
                      <a:r>
                        <a:rPr sz="1087" b="1">
                          <a:solidFill>
                            <a:srgbClr val="22252B"/>
                          </a:solidFill>
                          <a:latin typeface="Arial"/>
                        </a:rPr>
                        <a:t>Écart FR − DE</a:t>
                      </a:r>
                    </a:p>
                    <a:p>
                      <a:pPr algn="r"/>
                      <a:r>
                        <a:rPr sz="937" b="0">
                          <a:solidFill>
                            <a:srgbClr val="777777"/>
                          </a:solidFill>
                          <a:latin typeface="Arial"/>
                        </a:rPr>
                        <a:t>Cal</a:t>
                      </a:r>
                    </a:p>
                  </a:txBody>
                  <a:tcPr marL="76200" marR="76200" marT="57150" marB="57150">
                    <a:solidFill>
                      <a:srgbClr val="F5F3FB"/>
                    </a:solidFill>
                  </a:tcPr>
                </a:tc>
                <a:tc>
                  <a:txBody>
                    <a:bodyPr wrap="square"/>
                    <a:lstStyle/>
                    <a:p>
                      <a:pPr algn="r"/>
                      <a:r>
                        <a:rPr sz="1087" b="1">
                          <a:solidFill>
                            <a:srgbClr val="22252B"/>
                          </a:solidFill>
                          <a:latin typeface="Arial"/>
                        </a:rPr>
                        <a:t>Écart FR − DE</a:t>
                      </a:r>
                    </a:p>
                    <a:p>
                      <a:pPr algn="r"/>
                      <a:r>
                        <a:rPr sz="937" b="0">
                          <a:solidFill>
                            <a:srgbClr val="777777"/>
                          </a:solidFill>
                          <a:latin typeface="Arial"/>
                        </a:rPr>
                        <a:t>spot</a:t>
                      </a:r>
                    </a:p>
                  </a:txBody>
                  <a:tcPr marL="76200" marR="76200" marT="57150" marB="57150">
                    <a:solidFill>
                      <a:srgbClr val="F5F3FB"/>
                    </a:solidFill>
                  </a:tcPr>
                </a:tc>
              </a:tr>
              <a:tr h="319831">
                <a:tc>
                  <a:txBody>
                    <a:bodyPr wrap="square"/>
                    <a:lstStyle/>
                    <a:p>
                      <a:r>
                        <a:rPr sz="1087" b="0">
                          <a:solidFill>
                            <a:srgbClr val="22252B"/>
                          </a:solidFill>
                          <a:latin typeface="Arial"/>
                        </a:rPr>
                        <a:t>2024</a:t>
                      </a:r>
                    </a:p>
                  </a:txBody>
                  <a:tcPr marL="76200" marR="76200" marT="57150" marB="57150">
                    <a:solidFill>
                      <a:srgbClr val="FFFFFF"/>
                    </a:solidFill>
                  </a:tcPr>
                </a:tc>
                <a:tc>
                  <a:txBody>
                    <a:bodyPr wrap="square"/>
                    <a:lstStyle/>
                    <a:p>
                      <a:pPr algn="r"/>
                      <a:r>
                        <a:rPr sz="1087" b="0">
                          <a:solidFill>
                            <a:srgbClr val="22252B"/>
                          </a:solidFill>
                          <a:latin typeface="Arial"/>
                        </a:rPr>
                        <a:t>99,8</a:t>
                      </a:r>
                    </a:p>
                  </a:txBody>
                  <a:tcPr marL="76200" marR="76200" marT="57150" marB="57150">
                    <a:solidFill>
                      <a:srgbClr val="FFFFFF"/>
                    </a:solidFill>
                  </a:tcPr>
                </a:tc>
                <a:tc>
                  <a:txBody>
                    <a:bodyPr wrap="square"/>
                    <a:lstStyle/>
                    <a:p>
                      <a:pPr algn="r"/>
                      <a:r>
                        <a:rPr sz="1087" b="0">
                          <a:solidFill>
                            <a:srgbClr val="22252B"/>
                          </a:solidFill>
                          <a:latin typeface="Arial"/>
                        </a:rPr>
                        <a:t>58,0</a:t>
                      </a:r>
                    </a:p>
                  </a:txBody>
                  <a:tcPr marL="76200" marR="76200" marT="57150" marB="57150">
                    <a:solidFill>
                      <a:srgbClr val="FFFFFF"/>
                    </a:solidFill>
                  </a:tcPr>
                </a:tc>
                <a:tc>
                  <a:txBody>
                    <a:bodyPr wrap="square"/>
                    <a:lstStyle/>
                    <a:p>
                      <a:pPr algn="r"/>
                      <a:r>
                        <a:rPr sz="1087" b="0">
                          <a:solidFill>
                            <a:srgbClr val="22252B"/>
                          </a:solidFill>
                          <a:latin typeface="Arial"/>
                        </a:rPr>
                        <a:t>96,8</a:t>
                      </a:r>
                    </a:p>
                  </a:txBody>
                  <a:tcPr marL="76200" marR="76200" marT="57150" marB="57150">
                    <a:solidFill>
                      <a:srgbClr val="FFFFFF"/>
                    </a:solidFill>
                  </a:tcPr>
                </a:tc>
                <a:tc>
                  <a:txBody>
                    <a:bodyPr wrap="square"/>
                    <a:lstStyle/>
                    <a:p>
                      <a:pPr algn="r"/>
                      <a:r>
                        <a:rPr sz="1087" b="0">
                          <a:solidFill>
                            <a:srgbClr val="22252B"/>
                          </a:solidFill>
                          <a:latin typeface="Arial"/>
                        </a:rPr>
                        <a:t>78,5</a:t>
                      </a:r>
                    </a:p>
                  </a:txBody>
                  <a:tcPr marL="76200" marR="76200" marT="57150" marB="57150">
                    <a:solidFill>
                      <a:srgbClr val="FFFFFF"/>
                    </a:solidFill>
                  </a:tcPr>
                </a:tc>
                <a:tc>
                  <a:txBody>
                    <a:bodyPr wrap="square"/>
                    <a:lstStyle/>
                    <a:p>
                      <a:pPr algn="r"/>
                      <a:r>
                        <a:rPr sz="1087" b="1">
                          <a:solidFill>
                            <a:srgbClr val="22252B"/>
                          </a:solidFill>
                          <a:latin typeface="Arial"/>
                        </a:rPr>
                        <a:t>+3</a:t>
                      </a:r>
                    </a:p>
                  </a:txBody>
                  <a:tcPr marL="76200" marR="76200" marT="57150" marB="57150">
                    <a:solidFill>
                      <a:srgbClr val="FFFFFF"/>
                    </a:solidFill>
                  </a:tcPr>
                </a:tc>
                <a:tc>
                  <a:txBody>
                    <a:bodyPr wrap="square"/>
                    <a:lstStyle/>
                    <a:p>
                      <a:pPr algn="r"/>
                      <a:r>
                        <a:rPr sz="1087" b="0">
                          <a:solidFill>
                            <a:srgbClr val="22252B"/>
                          </a:solidFill>
                          <a:latin typeface="Arial"/>
                        </a:rPr>
                        <a:t>-20</a:t>
                      </a:r>
                    </a:p>
                  </a:txBody>
                  <a:tcPr marL="76200" marR="76200" marT="57150" marB="57150">
                    <a:solidFill>
                      <a:srgbClr val="FFFFFF"/>
                    </a:solidFill>
                  </a:tcPr>
                </a:tc>
              </a:tr>
              <a:tr h="319831">
                <a:tc>
                  <a:txBody>
                    <a:bodyPr wrap="square"/>
                    <a:lstStyle/>
                    <a:p>
                      <a:r>
                        <a:rPr sz="1087" b="0">
                          <a:solidFill>
                            <a:srgbClr val="22252B"/>
                          </a:solidFill>
                          <a:latin typeface="Arial"/>
                        </a:rPr>
                        <a:t>2025</a:t>
                      </a:r>
                    </a:p>
                  </a:txBody>
                  <a:tcPr marL="76200" marR="76200" marT="57150" marB="57150">
                    <a:solidFill>
                      <a:srgbClr val="FFFFFF"/>
                    </a:solidFill>
                  </a:tcPr>
                </a:tc>
                <a:tc>
                  <a:txBody>
                    <a:bodyPr wrap="square"/>
                    <a:lstStyle/>
                    <a:p>
                      <a:pPr algn="r"/>
                      <a:r>
                        <a:rPr sz="1087" b="0">
                          <a:solidFill>
                            <a:srgbClr val="22252B"/>
                          </a:solidFill>
                          <a:latin typeface="Arial"/>
                        </a:rPr>
                        <a:t>63,8</a:t>
                      </a:r>
                    </a:p>
                  </a:txBody>
                  <a:tcPr marL="76200" marR="76200" marT="57150" marB="57150">
                    <a:solidFill>
                      <a:srgbClr val="FFFFFF"/>
                    </a:solidFill>
                  </a:tcPr>
                </a:tc>
                <a:tc>
                  <a:txBody>
                    <a:bodyPr wrap="square"/>
                    <a:lstStyle/>
                    <a:p>
                      <a:pPr algn="r"/>
                      <a:r>
                        <a:rPr sz="1087" b="0">
                          <a:solidFill>
                            <a:srgbClr val="22252B"/>
                          </a:solidFill>
                          <a:latin typeface="Arial"/>
                        </a:rPr>
                        <a:t>61,1</a:t>
                      </a:r>
                    </a:p>
                  </a:txBody>
                  <a:tcPr marL="76200" marR="76200" marT="57150" marB="57150">
                    <a:solidFill>
                      <a:srgbClr val="FFFFFF"/>
                    </a:solidFill>
                  </a:tcPr>
                </a:tc>
                <a:tc>
                  <a:txBody>
                    <a:bodyPr wrap="square"/>
                    <a:lstStyle/>
                    <a:p>
                      <a:pPr algn="r"/>
                      <a:r>
                        <a:rPr sz="1087" b="0">
                          <a:solidFill>
                            <a:srgbClr val="22252B"/>
                          </a:solidFill>
                          <a:latin typeface="Arial"/>
                        </a:rPr>
                        <a:t>73,4</a:t>
                      </a:r>
                    </a:p>
                  </a:txBody>
                  <a:tcPr marL="76200" marR="76200" marT="57150" marB="57150">
                    <a:solidFill>
                      <a:srgbClr val="FFFFFF"/>
                    </a:solidFill>
                  </a:tcPr>
                </a:tc>
                <a:tc>
                  <a:txBody>
                    <a:bodyPr wrap="square"/>
                    <a:lstStyle/>
                    <a:p>
                      <a:pPr algn="r"/>
                      <a:r>
                        <a:rPr sz="1087" b="0">
                          <a:solidFill>
                            <a:srgbClr val="22252B"/>
                          </a:solidFill>
                          <a:latin typeface="Arial"/>
                        </a:rPr>
                        <a:t>89,3</a:t>
                      </a:r>
                    </a:p>
                  </a:txBody>
                  <a:tcPr marL="76200" marR="76200" marT="57150" marB="57150">
                    <a:solidFill>
                      <a:srgbClr val="FFFFFF"/>
                    </a:solidFill>
                  </a:tcPr>
                </a:tc>
                <a:tc>
                  <a:txBody>
                    <a:bodyPr wrap="square"/>
                    <a:lstStyle/>
                    <a:p>
                      <a:pPr algn="r"/>
                      <a:r>
                        <a:rPr sz="1087" b="1">
                          <a:solidFill>
                            <a:srgbClr val="22252B"/>
                          </a:solidFill>
                          <a:latin typeface="Arial"/>
                        </a:rPr>
                        <a:t>-10</a:t>
                      </a:r>
                    </a:p>
                  </a:txBody>
                  <a:tcPr marL="76200" marR="76200" marT="57150" marB="57150">
                    <a:solidFill>
                      <a:srgbClr val="FFFFFF"/>
                    </a:solidFill>
                  </a:tcPr>
                </a:tc>
                <a:tc>
                  <a:txBody>
                    <a:bodyPr wrap="square"/>
                    <a:lstStyle/>
                    <a:p>
                      <a:pPr algn="r"/>
                      <a:r>
                        <a:rPr sz="1087" b="0">
                          <a:solidFill>
                            <a:srgbClr val="22252B"/>
                          </a:solidFill>
                          <a:latin typeface="Arial"/>
                        </a:rPr>
                        <a:t>-28</a:t>
                      </a:r>
                    </a:p>
                  </a:txBody>
                  <a:tcPr marL="76200" marR="76200" marT="57150" marB="57150">
                    <a:solidFill>
                      <a:srgbClr val="FFFFFF"/>
                    </a:solidFill>
                  </a:tcPr>
                </a:tc>
              </a:tr>
              <a:tr h="515838">
                <a:tc>
                  <a:txBody>
                    <a:bodyPr wrap="square"/>
                    <a:lstStyle/>
                    <a:p>
                      <a:r>
                        <a:rPr sz="1087" b="0">
                          <a:solidFill>
                            <a:srgbClr val="22252B"/>
                          </a:solidFill>
                          <a:latin typeface="Arial"/>
                        </a:rPr>
                        <a:t>2026 (janv.–oct.)</a:t>
                      </a:r>
                    </a:p>
                  </a:txBody>
                  <a:tcPr marL="76200" marR="76200" marT="57150" marB="57150">
                    <a:solidFill>
                      <a:srgbClr val="FFFFFF"/>
                    </a:solidFill>
                  </a:tcPr>
                </a:tc>
                <a:tc>
                  <a:txBody>
                    <a:bodyPr wrap="square"/>
                    <a:lstStyle/>
                    <a:p>
                      <a:pPr algn="r"/>
                      <a:r>
                        <a:rPr sz="1087" b="0">
                          <a:solidFill>
                            <a:srgbClr val="22252B"/>
                          </a:solidFill>
                          <a:latin typeface="Arial"/>
                        </a:rPr>
                        <a:t>59,5</a:t>
                      </a:r>
                    </a:p>
                  </a:txBody>
                  <a:tcPr marL="76200" marR="76200" marT="57150" marB="57150">
                    <a:solidFill>
                      <a:srgbClr val="FFFFFF"/>
                    </a:solidFill>
                  </a:tcPr>
                </a:tc>
                <a:tc>
                  <a:txBody>
                    <a:bodyPr wrap="square"/>
                    <a:lstStyle/>
                    <a:p>
                      <a:pPr algn="r"/>
                      <a:r>
                        <a:rPr sz="1087" b="0">
                          <a:solidFill>
                            <a:srgbClr val="22252B"/>
                          </a:solidFill>
                          <a:latin typeface="Arial"/>
                        </a:rPr>
                        <a:t>90,1</a:t>
                      </a:r>
                    </a:p>
                  </a:txBody>
                  <a:tcPr marL="76200" marR="76200" marT="57150" marB="57150">
                    <a:solidFill>
                      <a:srgbClr val="FFFFFF"/>
                    </a:solidFill>
                  </a:tcPr>
                </a:tc>
                <a:tc>
                  <a:txBody>
                    <a:bodyPr wrap="square"/>
                    <a:lstStyle/>
                    <a:p>
                      <a:pPr algn="r"/>
                      <a:r>
                        <a:rPr sz="1087" b="0">
                          <a:solidFill>
                            <a:srgbClr val="22252B"/>
                          </a:solidFill>
                          <a:latin typeface="Arial"/>
                        </a:rPr>
                        <a:t>81,0</a:t>
                      </a:r>
                    </a:p>
                  </a:txBody>
                  <a:tcPr marL="76200" marR="76200" marT="57150" marB="57150">
                    <a:solidFill>
                      <a:srgbClr val="FFFFFF"/>
                    </a:solidFill>
                  </a:tcPr>
                </a:tc>
                <a:tc>
                  <a:txBody>
                    <a:bodyPr wrap="square"/>
                    <a:lstStyle/>
                    <a:p>
                      <a:pPr algn="r"/>
                      <a:r>
                        <a:rPr sz="1087" b="0">
                          <a:solidFill>
                            <a:srgbClr val="22252B"/>
                          </a:solidFill>
                          <a:latin typeface="Arial"/>
                        </a:rPr>
                        <a:t>114,0</a:t>
                      </a:r>
                    </a:p>
                  </a:txBody>
                  <a:tcPr marL="76200" marR="76200" marT="57150" marB="57150">
                    <a:solidFill>
                      <a:srgbClr val="FFFFFF"/>
                    </a:solidFill>
                  </a:tcPr>
                </a:tc>
                <a:tc>
                  <a:txBody>
                    <a:bodyPr wrap="square"/>
                    <a:lstStyle/>
                    <a:p>
                      <a:pPr algn="r"/>
                      <a:r>
                        <a:rPr sz="1087" b="1">
                          <a:solidFill>
                            <a:srgbClr val="22252B"/>
                          </a:solidFill>
                          <a:latin typeface="Arial"/>
                        </a:rPr>
                        <a:t>-22</a:t>
                      </a:r>
                    </a:p>
                  </a:txBody>
                  <a:tcPr marL="76200" marR="76200" marT="57150" marB="57150">
                    <a:solidFill>
                      <a:srgbClr val="FFFFFF"/>
                    </a:solidFill>
                  </a:tcPr>
                </a:tc>
                <a:tc>
                  <a:txBody>
                    <a:bodyPr wrap="square"/>
                    <a:lstStyle/>
                    <a:p>
                      <a:pPr algn="r"/>
                      <a:r>
                        <a:rPr sz="1087" b="0">
                          <a:solidFill>
                            <a:srgbClr val="22252B"/>
                          </a:solidFill>
                          <a:latin typeface="Arial"/>
                        </a:rPr>
                        <a:t>-24</a:t>
                      </a:r>
                    </a:p>
                  </a:txBody>
                  <a:tcPr marL="76200" marR="76200" marT="57150" marB="57150">
                    <a:solidFill>
                      <a:srgbClr val="FFFFFF"/>
                    </a:solidFill>
                  </a:tcPr>
                </a:tc>
              </a:tr>
              <a:tr h="319831">
                <a:tc>
                  <a:txBody>
                    <a:bodyPr wrap="square"/>
                    <a:lstStyle/>
                    <a:p>
                      <a:r>
                        <a:rPr sz="1087" b="0">
                          <a:solidFill>
                            <a:srgbClr val="22252B"/>
                          </a:solidFill>
                          <a:latin typeface="Arial"/>
                        </a:rPr>
                        <a:t>2027</a:t>
                      </a:r>
                    </a:p>
                  </a:txBody>
                  <a:tcPr marL="76200" marR="76200" marT="57150" marB="57150">
                    <a:solidFill>
                      <a:srgbClr val="FFFFFF"/>
                    </a:solidFill>
                  </a:tcPr>
                </a:tc>
                <a:tc>
                  <a:txBody>
                    <a:bodyPr wrap="square"/>
                    <a:lstStyle/>
                    <a:p>
                      <a:pPr algn="r"/>
                      <a:r>
                        <a:rPr sz="1087" b="0">
                          <a:solidFill>
                            <a:srgbClr val="22252B"/>
                          </a:solidFill>
                          <a:latin typeface="Arial"/>
                        </a:rPr>
                        <a:t>64,8</a:t>
                      </a:r>
                    </a:p>
                  </a:txBody>
                  <a:tcPr marL="76200" marR="76200" marT="57150" marB="57150">
                    <a:solidFill>
                      <a:srgbClr val="FFFFFF"/>
                    </a:solidFill>
                  </a:tcPr>
                </a:tc>
                <a:tc>
                  <a:txBody>
                    <a:bodyPr wrap="square"/>
                    <a:lstStyle/>
                    <a:p>
                      <a:pPr algn="r"/>
                      <a:r>
                        <a:rPr sz="1087" b="0">
                          <a:solidFill>
                            <a:srgbClr val="22252B"/>
                          </a:solidFill>
                          <a:latin typeface="Arial"/>
                        </a:rPr>
                        <a:t>–</a:t>
                      </a:r>
                    </a:p>
                  </a:txBody>
                  <a:tcPr marL="76200" marR="76200" marT="57150" marB="57150">
                    <a:solidFill>
                      <a:srgbClr val="FFFFFF"/>
                    </a:solidFill>
                  </a:tcPr>
                </a:tc>
                <a:tc>
                  <a:txBody>
                    <a:bodyPr wrap="square"/>
                    <a:lstStyle/>
                    <a:p>
                      <a:pPr algn="r"/>
                      <a:r>
                        <a:rPr sz="1087" b="0">
                          <a:solidFill>
                            <a:srgbClr val="22252B"/>
                          </a:solidFill>
                          <a:latin typeface="Arial"/>
                        </a:rPr>
                        <a:t>102,1</a:t>
                      </a:r>
                    </a:p>
                  </a:txBody>
                  <a:tcPr marL="76200" marR="76200" marT="57150" marB="57150">
                    <a:solidFill>
                      <a:srgbClr val="FFFFFF"/>
                    </a:solidFill>
                  </a:tcPr>
                </a:tc>
                <a:tc>
                  <a:txBody>
                    <a:bodyPr wrap="square"/>
                    <a:lstStyle/>
                    <a:p>
                      <a:pPr algn="r"/>
                      <a:r>
                        <a:rPr sz="1087" b="0">
                          <a:solidFill>
                            <a:srgbClr val="22252B"/>
                          </a:solidFill>
                          <a:latin typeface="Arial"/>
                        </a:rPr>
                        <a:t>–</a:t>
                      </a:r>
                    </a:p>
                  </a:txBody>
                  <a:tcPr marL="76200" marR="76200" marT="57150" marB="57150">
                    <a:solidFill>
                      <a:srgbClr val="FFFFFF"/>
                    </a:solidFill>
                  </a:tcPr>
                </a:tc>
                <a:tc>
                  <a:txBody>
                    <a:bodyPr wrap="square"/>
                    <a:lstStyle/>
                    <a:p>
                      <a:pPr algn="r"/>
                      <a:r>
                        <a:rPr sz="1087" b="1">
                          <a:solidFill>
                            <a:srgbClr val="22252B"/>
                          </a:solidFill>
                          <a:latin typeface="Arial"/>
                        </a:rPr>
                        <a:t>-37</a:t>
                      </a:r>
                    </a:p>
                  </a:txBody>
                  <a:tcPr marL="76200" marR="76200" marT="57150" marB="57150">
                    <a:solidFill>
                      <a:srgbClr val="FFFFFF"/>
                    </a:solidFill>
                  </a:tcPr>
                </a:tc>
                <a:tc>
                  <a:txBody>
                    <a:bodyPr wrap="square"/>
                    <a:lstStyle/>
                    <a:p>
                      <a:pPr algn="r"/>
                      <a:r>
                        <a:rPr sz="1087" b="0">
                          <a:solidFill>
                            <a:srgbClr val="22252B"/>
                          </a:solidFill>
                          <a:latin typeface="Arial"/>
                        </a:rPr>
                        <a:t>–</a:t>
                      </a:r>
                    </a:p>
                  </a:txBody>
                  <a:tcPr marL="76200" marR="76200" marT="57150" marB="57150">
                    <a:solidFill>
                      <a:srgbClr val="FFFFFF"/>
                    </a:solidFill>
                  </a:tcPr>
                </a:tc>
              </a:tr>
            </a:tbl>
          </a:graphicData>
        </a:graphic>
      </p:graphicFrame>
      <p:sp>
        <p:nvSpPr>
          <p:cNvPr id="5" name="TextBox 4"/>
          <p:cNvSpPr txBox="1"/>
          <p:nvPr/>
        </p:nvSpPr>
        <p:spPr>
          <a:xfrm>
            <a:off x="571500" y="3603873"/>
            <a:ext cx="5512742" cy="359568"/>
          </a:xfrm>
          <a:prstGeom prst="rect">
            <a:avLst/>
          </a:prstGeom>
          <a:noFill/>
        </p:spPr>
        <p:txBody>
          <a:bodyPr wrap="square" lIns="0" rIns="0" tIns="0" bIns="0" anchor="t">
            <a:spAutoFit/>
          </a:bodyPr>
          <a:lstStyle/>
          <a:p>
            <a:r>
              <a:rPr sz="937" b="0">
                <a:solidFill>
                  <a:srgbClr val="8A8F98"/>
                </a:solidFill>
                <a:latin typeface="Arial"/>
              </a:rPr>
              <a:t>€/MWh. Cal = contrat annuel base, moyenne des cotations de l’année précédant la livraison (le Cal 2027 : coté du 2 janvier au 29 octobre 2026). Sources : SEFE (base PowerKlock), ENTSO-E.</a:t>
            </a:r>
          </a:p>
        </p:txBody>
      </p:sp>
      <p:sp>
        <p:nvSpPr>
          <p:cNvPr id="6" name="TextBox 5"/>
          <p:cNvSpPr txBox="1"/>
          <p:nvPr/>
        </p:nvSpPr>
        <p:spPr>
          <a:xfrm>
            <a:off x="6369992" y="1101476"/>
            <a:ext cx="5250507" cy="2771775"/>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Les clients ne paient pas le spot</a:t>
            </a:r>
            <a:r>
              <a:rPr sz="1162" b="0">
                <a:solidFill>
                  <a:srgbClr val="22252B"/>
                </a:solidFill>
                <a:latin typeface="Arial"/>
              </a:rPr>
              <a:t> : le tarif réglementé achète depuis 2026 des produits annuels lissés sur deux ans (63,9 €/MWh pour 2026, CRE) ; les offres de marché suivent les mêmes prix à terme.</a:t>
            </a:r>
          </a:p>
          <a:p>
            <a:pPr marL="152400" indent="-133350">
              <a:spcAft>
                <a:spcPts val="500"/>
              </a:spcAft>
              <a:buChar char="•"/>
            </a:pPr>
            <a:r>
              <a:rPr sz="1162" b="1">
                <a:solidFill>
                  <a:srgbClr val="22252B"/>
                </a:solidFill>
                <a:latin typeface="Arial"/>
              </a:rPr>
              <a:t>Le forward anticipe le spot couplé</a:t>
            </a:r>
            <a:r>
              <a:rPr sz="1162" b="0">
                <a:solidFill>
                  <a:srgbClr val="22252B"/>
                </a:solidFill>
                <a:latin typeface="Arial"/>
              </a:rPr>
              <a:t> : il a intégré le découplage avec l’Allemagne année après année (écart +3 € pour 2024, −37 € pour 2027).</a:t>
            </a:r>
          </a:p>
          <a:p>
            <a:pPr marL="152400" indent="-133350">
              <a:spcAft>
                <a:spcPts val="500"/>
              </a:spcAft>
              <a:buChar char="•"/>
            </a:pPr>
            <a:r>
              <a:rPr sz="1162" b="1">
                <a:solidFill>
                  <a:srgbClr val="22252B"/>
                </a:solidFill>
                <a:latin typeface="Arial"/>
              </a:rPr>
              <a:t>Il se trompe dans les deux sens</a:t>
            </a:r>
            <a:r>
              <a:rPr sz="1162" b="0">
                <a:solidFill>
                  <a:srgbClr val="22252B"/>
                </a:solidFill>
                <a:latin typeface="Arial"/>
              </a:rPr>
              <a:t> (2024 : 100 € coté, 58 € réalisé ; 2026 : 60 € coté, 90 € réalisé) : pas d’écart systématique avec le spot.</a:t>
            </a:r>
          </a:p>
          <a:p>
            <a:pPr marL="152400" indent="-133350">
              <a:spcAft>
                <a:spcPts val="500"/>
              </a:spcAft>
              <a:buChar char="•"/>
            </a:pPr>
            <a:r>
              <a:rPr sz="1162" b="1">
                <a:solidFill>
                  <a:srgbClr val="22252B"/>
                </a:solidFill>
                <a:latin typeface="Arial"/>
              </a:rPr>
              <a:t>Ce qu’on ne peut pas mesurer</a:t>
            </a:r>
            <a:r>
              <a:rPr sz="1162" b="0">
                <a:solidFill>
                  <a:srgbClr val="22252B"/>
                </a:solidFill>
                <a:latin typeface="Arial"/>
              </a:rPr>
              <a:t> : le forward d’une France isolée n’a jamais existé. On sait que le prix spot couplé passe dans le forward, avec un à deux ans de décalage ; on ne sait pas chiffrer l’effet sur la facture. Jusqu’en 2025, l’ARENH à 42 € couvrait en plus 43,8 % de la consommation au tarif réglementé (CRE).</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LA QUESTION</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 L’Europe a fait monter le prix de l’électricité en France » : vrai ?</a:t>
            </a:r>
          </a:p>
        </p:txBody>
      </p:sp>
      <p:sp>
        <p:nvSpPr>
          <p:cNvPr id="4" name="TextBox 3"/>
          <p:cNvSpPr txBox="1"/>
          <p:nvPr/>
        </p:nvSpPr>
        <p:spPr>
          <a:xfrm>
            <a:off x="571500" y="1101476"/>
            <a:ext cx="11049000" cy="741164"/>
          </a:xfrm>
          <a:prstGeom prst="rect">
            <a:avLst/>
          </a:prstGeom>
          <a:noFill/>
        </p:spPr>
        <p:txBody>
          <a:bodyPr wrap="square" lIns="0" rIns="0" tIns="0" bIns="0" anchor="t">
            <a:spAutoFit/>
          </a:bodyPr>
          <a:lstStyle/>
          <a:p>
            <a:r>
              <a:rPr sz="1950" b="1">
                <a:solidFill>
                  <a:srgbClr val="7A5CC7"/>
                </a:solidFill>
                <a:latin typeface="Arial"/>
              </a:rPr>
              <a:t>Probablement oui pour le prix spot, quand la France exporte. Mais l’argent reste en grande partie en France.</a:t>
            </a:r>
          </a:p>
        </p:txBody>
      </p:sp>
      <p:sp>
        <p:nvSpPr>
          <p:cNvPr id="5" name="TextBox 4"/>
          <p:cNvSpPr txBox="1"/>
          <p:nvPr/>
        </p:nvSpPr>
        <p:spPr>
          <a:xfrm>
            <a:off x="571500" y="1956941"/>
            <a:ext cx="11049000" cy="3332857"/>
          </a:xfrm>
          <a:prstGeom prst="rect">
            <a:avLst/>
          </a:prstGeom>
          <a:noFill/>
        </p:spPr>
        <p:txBody>
          <a:bodyPr wrap="square" lIns="0" rIns="0" tIns="0" bIns="0" anchor="t">
            <a:spAutoFit/>
          </a:bodyPr>
          <a:lstStyle/>
          <a:p>
            <a:pPr marL="152400" indent="-133350">
              <a:spcAft>
                <a:spcPts val="500"/>
              </a:spcAft>
              <a:buChar char="•"/>
            </a:pPr>
            <a:r>
              <a:rPr sz="1500" b="1">
                <a:solidFill>
                  <a:srgbClr val="22252B"/>
                </a:solidFill>
                <a:latin typeface="Arial"/>
              </a:rPr>
              <a:t>Le sens de l’effet est solide</a:t>
            </a:r>
            <a:r>
              <a:rPr sz="1500" b="0">
                <a:solidFill>
                  <a:srgbClr val="22252B"/>
                </a:solidFill>
                <a:latin typeface="Arial"/>
              </a:rPr>
              <a:t> : un pays qui exporte voit son prix tiré vers celui de ses acheteurs (théorie du commerce ; la CRE écrit qu’un prix français baissé artificiellement « aurait conduit à des exports massifs vers les pays voisins »).</a:t>
            </a:r>
          </a:p>
          <a:p>
            <a:pPr marL="152400" indent="-133350">
              <a:spcAft>
                <a:spcPts val="500"/>
              </a:spcAft>
              <a:buChar char="•"/>
            </a:pPr>
            <a:r>
              <a:rPr sz="1500" b="1">
                <a:solidFill>
                  <a:srgbClr val="22252B"/>
                </a:solidFill>
                <a:latin typeface="Arial"/>
              </a:rPr>
              <a:t>L’ordre de grandeur est une estimation de modèle</a:t>
            </a:r>
            <a:r>
              <a:rPr sz="1500" b="0">
                <a:solidFill>
                  <a:srgbClr val="22252B"/>
                </a:solidFill>
                <a:latin typeface="Arial"/>
              </a:rPr>
              <a:t> : +30 à +40 €/MWh en 2023–2025, +51 € en 2026, −22 € en 2022. Aucune étude publiée ne le confirme ni ne le contredit pour la France.</a:t>
            </a:r>
          </a:p>
          <a:p>
            <a:pPr marL="152400" indent="-133350">
              <a:spcAft>
                <a:spcPts val="500"/>
              </a:spcAft>
              <a:buChar char="•"/>
            </a:pPr>
            <a:r>
              <a:rPr sz="1500" b="1">
                <a:solidFill>
                  <a:srgbClr val="22252B"/>
                </a:solidFill>
                <a:latin typeface="Arial"/>
              </a:rPr>
              <a:t>Pour le client, c’est indirect</a:t>
            </a:r>
            <a:r>
              <a:rPr sz="1500" b="0">
                <a:solidFill>
                  <a:srgbClr val="22252B"/>
                </a:solidFill>
                <a:latin typeface="Arial"/>
              </a:rPr>
              <a:t> : il paie des prix à terme, qui anticipent ce spot couplé ; l’effet sur la facture n’est pas mesurable directement (page 26).</a:t>
            </a:r>
          </a:p>
          <a:p>
            <a:pPr marL="152400" indent="-133350">
              <a:spcAft>
                <a:spcPts val="500"/>
              </a:spcAft>
              <a:buChar char="•"/>
            </a:pPr>
            <a:r>
              <a:rPr sz="1500" b="1">
                <a:solidFill>
                  <a:srgbClr val="22252B"/>
                </a:solidFill>
                <a:latin typeface="Arial"/>
              </a:rPr>
              <a:t>L’argent ne disparaît pas</a:t>
            </a:r>
            <a:r>
              <a:rPr sz="1500" b="0">
                <a:solidFill>
                  <a:srgbClr val="22252B"/>
                </a:solidFill>
                <a:latin typeface="Arial"/>
              </a:rPr>
              <a:t> : il va surtout à EDF (État actionnaire unique), allège le soutien public aux renouvelables, et la rente de RTE baisse le TURPE. Les acheteurs étrangers paient en plus ~10 Md€ par an.</a:t>
            </a:r>
          </a:p>
          <a:p>
            <a:pPr marL="152400" indent="-133350">
              <a:spcAft>
                <a:spcPts val="500"/>
              </a:spcAft>
              <a:buChar char="•"/>
            </a:pPr>
            <a:r>
              <a:rPr sz="1500" b="1">
                <a:solidFill>
                  <a:srgbClr val="22252B"/>
                </a:solidFill>
                <a:latin typeface="Arial"/>
              </a:rPr>
              <a:t>Ce n’est pas « de moins en moins vrai »</a:t>
            </a:r>
            <a:r>
              <a:rPr sz="1500" b="0">
                <a:solidFill>
                  <a:srgbClr val="22252B"/>
                </a:solidFill>
                <a:latin typeface="Arial"/>
              </a:rPr>
              <a:t> (version précédente, corrigée) : plus souvent coupée de l’Allemagne, la France exporte plus que jamais, et son prix reste au-dessus de celui d’une France isolée.</a:t>
            </a:r>
          </a:p>
        </p:txBody>
      </p:sp>
      <p:sp>
        <p:nvSpPr>
          <p:cNvPr id="6" name="TextBox 5"/>
          <p:cNvSpPr txBox="1"/>
          <p:nvPr/>
        </p:nvSpPr>
        <p:spPr>
          <a:xfrm>
            <a:off x="571500" y="5375523"/>
            <a:ext cx="11049000" cy="198834"/>
          </a:xfrm>
          <a:prstGeom prst="rect">
            <a:avLst/>
          </a:prstGeom>
          <a:noFill/>
        </p:spPr>
        <p:txBody>
          <a:bodyPr wrap="square" lIns="0" rIns="0" tIns="0" bIns="0" anchor="t">
            <a:spAutoFit/>
          </a:bodyPr>
          <a:lstStyle/>
          <a:p>
            <a:r>
              <a:rPr sz="937" b="0">
                <a:solidFill>
                  <a:srgbClr val="8A8F98"/>
                </a:solidFill>
                <a:latin typeface="Arial"/>
              </a:rPr>
              <a:t>France isolée : estimation de modèle, jamais observée ; erreur ± 15 à 20 €/MWh sur une heure, biais annuel +0,6 à +2,6 €/MWh en 2020–2025, +8 € en 2026 (page 14).</a:t>
            </a:r>
          </a:p>
        </p:txBody>
      </p:sp>
      <p:sp>
        <p:nvSpPr>
          <p:cNvPr id="7" name="TextBox 6"/>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LA QUESTION</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Ce que disent les autres</a:t>
            </a:r>
          </a:p>
        </p:txBody>
      </p:sp>
      <p:sp>
        <p:nvSpPr>
          <p:cNvPr id="4" name="TextBox 3"/>
          <p:cNvSpPr txBox="1"/>
          <p:nvPr/>
        </p:nvSpPr>
        <p:spPr>
          <a:xfrm>
            <a:off x="571500" y="1101476"/>
            <a:ext cx="11049000" cy="3332857"/>
          </a:xfrm>
          <a:prstGeom prst="rect">
            <a:avLst/>
          </a:prstGeom>
          <a:noFill/>
        </p:spPr>
        <p:txBody>
          <a:bodyPr wrap="square" lIns="0" rIns="0" tIns="0" bIns="0" anchor="t">
            <a:spAutoFit/>
          </a:bodyPr>
          <a:lstStyle/>
          <a:p>
            <a:pPr marL="152400" indent="-133350">
              <a:spcAft>
                <a:spcPts val="500"/>
              </a:spcAft>
              <a:buChar char="•"/>
            </a:pPr>
            <a:r>
              <a:rPr sz="1500" b="1">
                <a:solidFill>
                  <a:srgbClr val="22252B"/>
                </a:solidFill>
                <a:latin typeface="Arial"/>
              </a:rPr>
              <a:t>CRE</a:t>
            </a:r>
            <a:r>
              <a:rPr sz="1500" b="0">
                <a:solidFill>
                  <a:srgbClr val="22252B"/>
                </a:solidFill>
                <a:latin typeface="Arial"/>
              </a:rPr>
              <a:t> (rapport sur les interconnexions, 2024, p. 6) : l’intégration a permis « de limiter les différentiels de prix entre la France et les pays limitrophes au bénéfice des consommateurs français ». Cela vaut pour les années d’import (2022) et via la rente reversée au TURPE ; la CRE ne chiffre pas l’effet sur le prix spot les années d’export.</a:t>
            </a:r>
          </a:p>
          <a:p>
            <a:pPr marL="152400" indent="-133350">
              <a:spcAft>
                <a:spcPts val="500"/>
              </a:spcAft>
              <a:buChar char="•"/>
            </a:pPr>
            <a:r>
              <a:rPr sz="1500" b="1">
                <a:solidFill>
                  <a:srgbClr val="22252B"/>
                </a:solidFill>
                <a:latin typeface="Arial"/>
              </a:rPr>
              <a:t>CRE</a:t>
            </a:r>
            <a:r>
              <a:rPr sz="1500" b="0">
                <a:solidFill>
                  <a:srgbClr val="22252B"/>
                </a:solidFill>
                <a:latin typeface="Arial"/>
              </a:rPr>
              <a:t> (même rapport, p. 41) : le mécanisme ibérique n’aurait pas été viable en France seule, car « un prix de gros de l’électricité français artificiellement baissé aurait conduit à des exports massifs vers les pays voisins ».</a:t>
            </a:r>
          </a:p>
          <a:p>
            <a:pPr marL="152400" indent="-133350">
              <a:spcAft>
                <a:spcPts val="500"/>
              </a:spcAft>
              <a:buChar char="•"/>
            </a:pPr>
            <a:r>
              <a:rPr sz="1500" b="1">
                <a:solidFill>
                  <a:srgbClr val="22252B"/>
                </a:solidFill>
                <a:latin typeface="Arial"/>
              </a:rPr>
              <a:t>Ambec et Crampes</a:t>
            </a:r>
            <a:r>
              <a:rPr sz="1500" b="0">
                <a:solidFill>
                  <a:srgbClr val="22252B"/>
                </a:solidFill>
                <a:latin typeface="Arial"/>
              </a:rPr>
              <a:t> (Toulouse School of Economics) : « France has benefited amply from the market ».</a:t>
            </a:r>
          </a:p>
          <a:p>
            <a:pPr marL="152400" indent="-133350">
              <a:spcAft>
                <a:spcPts val="500"/>
              </a:spcAft>
              <a:buChar char="•"/>
            </a:pPr>
            <a:r>
              <a:rPr sz="1500" b="1">
                <a:solidFill>
                  <a:srgbClr val="22252B"/>
                </a:solidFill>
                <a:latin typeface="Arial"/>
              </a:rPr>
              <a:t>ACER</a:t>
            </a:r>
            <a:r>
              <a:rPr sz="1500" b="0">
                <a:solidFill>
                  <a:srgbClr val="22252B"/>
                </a:solidFill>
                <a:latin typeface="Arial"/>
              </a:rPr>
              <a:t> (2022) : les échanges transfrontaliers ont rapporté environ 34 Md€ à l’Europe en 2021, comparé à un monde sans interconnexions.</a:t>
            </a:r>
          </a:p>
          <a:p>
            <a:pPr marL="152400" indent="-133350">
              <a:spcAft>
                <a:spcPts val="500"/>
              </a:spcAft>
              <a:buChar char="•"/>
            </a:pPr>
            <a:r>
              <a:rPr sz="1500" b="1">
                <a:solidFill>
                  <a:srgbClr val="22252B"/>
                </a:solidFill>
                <a:latin typeface="Arial"/>
              </a:rPr>
              <a:t>Aucune estimation publiée</a:t>
            </a:r>
            <a:r>
              <a:rPr sz="1500" b="0">
                <a:solidFill>
                  <a:srgbClr val="22252B"/>
                </a:solidFill>
                <a:latin typeface="Arial"/>
              </a:rPr>
              <a:t> de l’effet du couplage sur le prix français, ni du partage entre consommateurs, producteurs et État, n’a été trouvée : nos montants sont les seuls de ce dossier à ne pas pouvoir être recoupés.</a:t>
            </a:r>
          </a:p>
        </p:txBody>
      </p:sp>
      <p:sp>
        <p:nvSpPr>
          <p:cNvPr id="5" name="TextBox 4"/>
          <p:cNvSpPr txBox="1"/>
          <p:nvPr/>
        </p:nvSpPr>
        <p:spPr>
          <a:xfrm>
            <a:off x="571500" y="4520058"/>
            <a:ext cx="11049000" cy="359568"/>
          </a:xfrm>
          <a:prstGeom prst="rect">
            <a:avLst/>
          </a:prstGeom>
          <a:noFill/>
        </p:spPr>
        <p:txBody>
          <a:bodyPr wrap="square" lIns="0" rIns="0" tIns="0" bIns="0" anchor="t">
            <a:spAutoFit/>
          </a:bodyPr>
          <a:lstStyle/>
          <a:p>
            <a:r>
              <a:rPr sz="937" b="0">
                <a:solidFill>
                  <a:srgbClr val="8A8F98"/>
                </a:solidFill>
                <a:latin typeface="Arial"/>
              </a:rPr>
              <a:t>Sources : CRE, Rapport sur les interconnexions électriques et gazières (2024), cre.fr ; TSE, « France and the European electricity market », tse-fr.eu ; ACER, Final Assessment of the EU Wholesale Electricity Market Design (avril 2022), p. 21.</a:t>
            </a:r>
          </a:p>
        </p:txBody>
      </p:sp>
      <p:sp>
        <p:nvSpPr>
          <p:cNvPr id="6" name="TextBox 5"/>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POUR LE PPA</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Ce que ça change pour le vent et le solaire</a:t>
            </a:r>
          </a:p>
        </p:txBody>
      </p:sp>
      <p:sp>
        <p:nvSpPr>
          <p:cNvPr id="4" name="TextBox 3"/>
          <p:cNvSpPr txBox="1"/>
          <p:nvPr/>
        </p:nvSpPr>
        <p:spPr>
          <a:xfrm>
            <a:off x="571500" y="1101476"/>
            <a:ext cx="11049000" cy="2378719"/>
          </a:xfrm>
          <a:prstGeom prst="rect">
            <a:avLst/>
          </a:prstGeom>
          <a:noFill/>
        </p:spPr>
        <p:txBody>
          <a:bodyPr wrap="square" lIns="0" rIns="0" tIns="0" bIns="0" anchor="t">
            <a:spAutoFit/>
          </a:bodyPr>
          <a:lstStyle/>
          <a:p>
            <a:pPr marL="152400" indent="-133350">
              <a:spcAft>
                <a:spcPts val="500"/>
              </a:spcAft>
              <a:buChar char="•"/>
            </a:pPr>
            <a:r>
              <a:rPr sz="1500" b="0">
                <a:solidFill>
                  <a:srgbClr val="22252B"/>
                </a:solidFill>
                <a:latin typeface="Arial"/>
              </a:rPr>
              <a:t>Un MWh éolien vaut le prix de la zone quand la ligne a de la place, et </a:t>
            </a:r>
            <a:r>
              <a:rPr sz="1500" b="1">
                <a:solidFill>
                  <a:srgbClr val="22252B"/>
                </a:solidFill>
                <a:latin typeface="Arial"/>
              </a:rPr>
              <a:t>seulement le prix français quand elle est pleine</a:t>
            </a:r>
            <a:r>
              <a:rPr sz="1500" b="0">
                <a:solidFill>
                  <a:srgbClr val="22252B"/>
                </a:solidFill>
                <a:latin typeface="Arial"/>
              </a:rPr>
              <a:t>.</a:t>
            </a:r>
          </a:p>
          <a:p>
            <a:pPr marL="152400" indent="-133350">
              <a:spcAft>
                <a:spcPts val="500"/>
              </a:spcAft>
              <a:buChar char="•"/>
            </a:pPr>
            <a:r>
              <a:rPr sz="1500" b="0">
                <a:solidFill>
                  <a:srgbClr val="22252B"/>
                </a:solidFill>
                <a:latin typeface="Arial"/>
              </a:rPr>
              <a:t>Part de la production éolienne française produite pendant les heures où la France est au moins 5 € sous l’Allemagne : </a:t>
            </a:r>
            <a:r>
              <a:rPr sz="1500" b="1">
                <a:solidFill>
                  <a:srgbClr val="22252B"/>
                </a:solidFill>
                <a:latin typeface="Arial"/>
              </a:rPr>
              <a:t>8 % en 2021 → 49 % en 2024 → 68 % en 2025</a:t>
            </a:r>
            <a:r>
              <a:rPr sz="1500" b="0">
                <a:solidFill>
                  <a:srgbClr val="22252B"/>
                </a:solidFill>
                <a:latin typeface="Arial"/>
              </a:rPr>
              <a:t>.</a:t>
            </a:r>
          </a:p>
          <a:p>
            <a:pPr marL="152400" indent="-133350">
              <a:spcAft>
                <a:spcPts val="500"/>
              </a:spcAft>
              <a:buChar char="•"/>
            </a:pPr>
            <a:r>
              <a:rPr sz="1500" b="0">
                <a:solidFill>
                  <a:srgbClr val="22252B"/>
                </a:solidFill>
                <a:latin typeface="Arial"/>
              </a:rPr>
              <a:t>Le vent souffle souvent longtemps et sur toute l’Europe à la fois : c’est précisément quand il y a du vent que la ligne est pleine. </a:t>
            </a:r>
            <a:r>
              <a:rPr sz="1500" b="1">
                <a:solidFill>
                  <a:srgbClr val="22252B"/>
                </a:solidFill>
                <a:latin typeface="Arial"/>
              </a:rPr>
              <a:t>La valeur captée par l’éolien baisse.</a:t>
            </a:r>
          </a:p>
          <a:p>
            <a:pPr marL="152400" indent="-133350">
              <a:spcAft>
                <a:spcPts val="500"/>
              </a:spcAft>
              <a:buChar char="•"/>
            </a:pPr>
            <a:r>
              <a:rPr sz="1500" b="0">
                <a:solidFill>
                  <a:srgbClr val="22252B"/>
                </a:solidFill>
                <a:latin typeface="Arial"/>
              </a:rPr>
              <a:t>Si la limite d’export remonte (nouvelles lignes, moins de congestion en Allemagne), la valeur du vent français remonte aussi : </a:t>
            </a:r>
            <a:r>
              <a:rPr sz="1500" b="1">
                <a:solidFill>
                  <a:srgbClr val="22252B"/>
                </a:solidFill>
                <a:latin typeface="Arial"/>
              </a:rPr>
              <a:t>c’est un risque à suivre dans le prix PPA</a:t>
            </a:r>
            <a:r>
              <a:rPr sz="1500" b="0">
                <a:solidFill>
                  <a:srgbClr val="22252B"/>
                </a:solidFill>
                <a:latin typeface="Arial"/>
              </a:rPr>
              <a:t>.</a:t>
            </a:r>
          </a:p>
        </p:txBody>
      </p:sp>
      <p:sp>
        <p:nvSpPr>
          <p:cNvPr id="5" name="TextBox 4"/>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ANNEXE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Limites : ce qu’il faut garder en tête</a:t>
            </a:r>
          </a:p>
        </p:txBody>
      </p:sp>
      <p:sp>
        <p:nvSpPr>
          <p:cNvPr id="4" name="TextBox 3"/>
          <p:cNvSpPr txBox="1"/>
          <p:nvPr/>
        </p:nvSpPr>
        <p:spPr>
          <a:xfrm>
            <a:off x="571500" y="1101476"/>
            <a:ext cx="5512742" cy="3743325"/>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Le prix d’une France isolée </a:t>
            </a:r>
            <a:r>
              <a:rPr sz="1162" b="1">
                <a:solidFill>
                  <a:srgbClr val="22252B"/>
                </a:solidFill>
                <a:latin typeface="Arial"/>
              </a:rPr>
              <a:t>n’est jamais observé</a:t>
            </a:r>
            <a:r>
              <a:rPr sz="1162" b="0">
                <a:solidFill>
                  <a:srgbClr val="22252B"/>
                </a:solidFill>
                <a:latin typeface="Arial"/>
              </a:rPr>
              <a:t> : une heure seule peut être fausse de 15–20 €, une année de quelques €, 2022 beaucoup plus (50 € par heure).</a:t>
            </a:r>
          </a:p>
          <a:p>
            <a:pPr marL="152400" indent="-133350">
              <a:spcAft>
                <a:spcPts val="500"/>
              </a:spcAft>
              <a:buChar char="•"/>
            </a:pPr>
            <a:r>
              <a:rPr sz="1162" b="0">
                <a:solidFill>
                  <a:srgbClr val="22252B"/>
                </a:solidFill>
                <a:latin typeface="Arial"/>
              </a:rPr>
              <a:t>En 2024–2025, 12–13 % des heures isolées sont plus bas en volume que tout ce qu’on a vu dans le mois (26 % en 2026) : leur prix vient du plancher d’écrêtement.</a:t>
            </a:r>
          </a:p>
          <a:p>
            <a:pPr marL="152400" indent="-133350">
              <a:spcAft>
                <a:spcPts val="500"/>
              </a:spcAft>
              <a:buChar char="•"/>
            </a:pPr>
            <a:r>
              <a:rPr sz="1162" b="1">
                <a:solidFill>
                  <a:srgbClr val="22252B"/>
                </a:solidFill>
                <a:latin typeface="Arial"/>
              </a:rPr>
              <a:t>Court terme</a:t>
            </a:r>
            <a:r>
              <a:rPr sz="1162" b="0">
                <a:solidFill>
                  <a:srgbClr val="22252B"/>
                </a:solidFill>
                <a:latin typeface="Arial"/>
              </a:rPr>
              <a:t> : parc, disponibilité nucléaire et eau des barrages restent ceux observés. À long terme, deux effets de sens contraire : une France isolée en surplus aurait arrêté plus de réacteurs (prix isolé plus haut), et ses offres ne contiendraient plus les coûts d’opportunité européens (prix isolé plus bas). </a:t>
            </a:r>
            <a:r>
              <a:rPr sz="1162" b="1">
                <a:solidFill>
                  <a:srgbClr val="22252B"/>
                </a:solidFill>
                <a:latin typeface="Arial"/>
              </a:rPr>
              <a:t>Le sens net est inconnu.</a:t>
            </a:r>
          </a:p>
          <a:p>
            <a:pPr marL="152400" indent="-133350">
              <a:spcAft>
                <a:spcPts val="500"/>
              </a:spcAft>
              <a:buChar char="•"/>
            </a:pPr>
            <a:r>
              <a:rPr sz="1162" b="0">
                <a:solidFill>
                  <a:srgbClr val="22252B"/>
                </a:solidFill>
                <a:latin typeface="Arial"/>
              </a:rPr>
              <a:t>Demande fixe. Heures de pénurie mises à part.</a:t>
            </a:r>
          </a:p>
          <a:p>
            <a:pPr marL="152400" indent="-133350">
              <a:spcAft>
                <a:spcPts val="500"/>
              </a:spcAft>
              <a:buChar char="•"/>
            </a:pPr>
            <a:r>
              <a:rPr sz="1162" b="0">
                <a:solidFill>
                  <a:srgbClr val="22252B"/>
                </a:solidFill>
                <a:latin typeface="Arial"/>
              </a:rPr>
              <a:t>Rente : day-ahead seulement, partage 50/50 par défaut ; sur la Suisse et la Grande-Bretagne (enchères explicites), une partie va à des tiers.</a:t>
            </a:r>
          </a:p>
          <a:p>
            <a:pPr marL="152400" indent="-133350">
              <a:spcAft>
                <a:spcPts val="500"/>
              </a:spcAft>
              <a:buChar char="•"/>
            </a:pPr>
            <a:r>
              <a:rPr sz="1162" b="0">
                <a:solidFill>
                  <a:srgbClr val="22252B"/>
                </a:solidFill>
                <a:latin typeface="Arial"/>
              </a:rPr>
              <a:t>Gain des voisins non chiffré. Part du gain des producteurs qui revient à l’État (dividendes, impôts, soutien public évité) non chiffrée.</a:t>
            </a:r>
          </a:p>
        </p:txBody>
      </p:sp>
      <p:sp>
        <p:nvSpPr>
          <p:cNvPr id="5" name="TextBox 4"/>
          <p:cNvSpPr txBox="1"/>
          <p:nvPr/>
        </p:nvSpPr>
        <p:spPr>
          <a:xfrm>
            <a:off x="6369992" y="1249114"/>
            <a:ext cx="5250507" cy="247650"/>
          </a:xfrm>
          <a:prstGeom prst="rect">
            <a:avLst/>
          </a:prstGeom>
          <a:noFill/>
        </p:spPr>
        <p:txBody>
          <a:bodyPr wrap="square" lIns="0" rIns="0" tIns="0" bIns="0" anchor="t">
            <a:spAutoFit/>
          </a:bodyPr>
          <a:lstStyle/>
          <a:p>
            <a:r>
              <a:rPr sz="1162" b="1">
                <a:solidFill>
                  <a:srgbClr val="22252B"/>
                </a:solidFill>
                <a:latin typeface="Arial"/>
              </a:rPr>
              <a:t>Robustesse du prix isolé</a:t>
            </a:r>
            <a:r>
              <a:rPr sz="1162" b="0">
                <a:solidFill>
                  <a:srgbClr val="22252B"/>
                </a:solidFill>
                <a:latin typeface="Arial"/>
              </a:rPr>
              <a:t> (€/MWh, hors pénurie)</a:t>
            </a:r>
          </a:p>
        </p:txBody>
      </p:sp>
      <p:graphicFrame>
        <p:nvGraphicFramePr>
          <p:cNvPr id="6" name="Table 5"/>
          <p:cNvGraphicFramePr>
            <a:graphicFrameLocks noGrp="1"/>
          </p:cNvGraphicFramePr>
          <p:nvPr/>
        </p:nvGraphicFramePr>
        <p:xfrm>
          <a:off x="6369992" y="1606301"/>
          <a:ext cx="5250506" cy="1865856"/>
        </p:xfrm>
        <a:graphic>
          <a:graphicData uri="http://schemas.openxmlformats.org/drawingml/2006/table">
            <a:tbl>
              <a:tblPr firstRow="0" bandRow="0">
                <a:tableStyleId>{5C22544A-7EE6-4342-B048-85BDC9FD1C3A}</a:tableStyleId>
              </a:tblPr>
              <a:tblGrid>
                <a:gridCol w="872430"/>
                <a:gridCol w="735806"/>
                <a:gridCol w="1012924"/>
                <a:gridCol w="1191964"/>
                <a:gridCol w="1437382"/>
              </a:tblGrid>
              <a:tr h="710356">
                <a:tc>
                  <a:txBody>
                    <a:bodyPr wrap="square"/>
                    <a:lstStyle/>
                    <a:p>
                      <a:r>
                        <a:rPr sz="1087" b="1">
                          <a:solidFill>
                            <a:srgbClr val="22252B"/>
                          </a:solidFill>
                          <a:latin typeface="Arial"/>
                        </a:rPr>
                        <a:t>Année</a:t>
                      </a:r>
                    </a:p>
                  </a:txBody>
                  <a:tcPr marL="76200" marR="76200" marT="57150" marB="57150">
                    <a:solidFill>
                      <a:srgbClr val="F5F3FB"/>
                    </a:solidFill>
                  </a:tcPr>
                </a:tc>
                <a:tc>
                  <a:txBody>
                    <a:bodyPr wrap="square"/>
                    <a:lstStyle/>
                    <a:p>
                      <a:pPr algn="r"/>
                      <a:r>
                        <a:rPr sz="1087" b="1">
                          <a:solidFill>
                            <a:srgbClr val="22252B"/>
                          </a:solidFill>
                          <a:latin typeface="Arial"/>
                        </a:rPr>
                        <a:t>Principal</a:t>
                      </a:r>
                    </a:p>
                  </a:txBody>
                  <a:tcPr marL="76200" marR="76200" marT="57150" marB="57150">
                    <a:solidFill>
                      <a:srgbClr val="F5F3FB"/>
                    </a:solidFill>
                  </a:tcPr>
                </a:tc>
                <a:tc>
                  <a:txBody>
                    <a:bodyPr wrap="square"/>
                    <a:lstStyle/>
                    <a:p>
                      <a:pPr algn="r"/>
                      <a:r>
                        <a:rPr sz="1087" b="1">
                          <a:solidFill>
                            <a:srgbClr val="22252B"/>
                          </a:solidFill>
                          <a:latin typeface="Arial"/>
                        </a:rPr>
                        <a:t>Plancher bas</a:t>
                      </a:r>
                    </a:p>
                    <a:p>
                      <a:pPr algn="r"/>
                      <a:r>
                        <a:rPr sz="937" b="0">
                          <a:solidFill>
                            <a:srgbClr val="777777"/>
                          </a:solidFill>
                          <a:latin typeface="Arial"/>
                        </a:rPr>
                        <a:t>prix négatifs profonds</a:t>
                      </a:r>
                    </a:p>
                  </a:txBody>
                  <a:tcPr marL="76200" marR="76200" marT="57150" marB="57150">
                    <a:solidFill>
                      <a:srgbClr val="F5F3FB"/>
                    </a:solidFill>
                  </a:tcPr>
                </a:tc>
                <a:tc>
                  <a:txBody>
                    <a:bodyPr wrap="square"/>
                    <a:lstStyle/>
                    <a:p>
                      <a:pPr algn="r"/>
                      <a:r>
                        <a:rPr sz="1087" b="1">
                          <a:solidFill>
                            <a:srgbClr val="22252B"/>
                          </a:solidFill>
                          <a:latin typeface="Arial"/>
                        </a:rPr>
                        <a:t>Garde l’erreur de l’heure</a:t>
                      </a:r>
                    </a:p>
                  </a:txBody>
                  <a:tcPr marL="76200" marR="76200" marT="57150" marB="57150">
                    <a:solidFill>
                      <a:srgbClr val="F5F3FB"/>
                    </a:solidFill>
                  </a:tcPr>
                </a:tc>
                <a:tc>
                  <a:txBody>
                    <a:bodyPr wrap="square"/>
                    <a:lstStyle/>
                    <a:p>
                      <a:pPr algn="r"/>
                      <a:r>
                        <a:rPr sz="1087" b="1">
                          <a:solidFill>
                            <a:srgbClr val="22252B"/>
                          </a:solidFill>
                          <a:latin typeface="Arial"/>
                        </a:rPr>
                        <a:t>Appris sur les heures coupées</a:t>
                      </a:r>
                    </a:p>
                  </a:txBody>
                  <a:tcPr marL="76200" marR="76200" marT="57150" marB="57150">
                    <a:solidFill>
                      <a:srgbClr val="F5F3FB"/>
                    </a:solidFill>
                  </a:tcPr>
                </a:tc>
              </a:tr>
              <a:tr h="319831">
                <a:tc>
                  <a:txBody>
                    <a:bodyPr wrap="square"/>
                    <a:lstStyle/>
                    <a:p>
                      <a:r>
                        <a:rPr sz="1087" b="0">
                          <a:solidFill>
                            <a:srgbClr val="22252B"/>
                          </a:solidFill>
                          <a:latin typeface="Arial"/>
                        </a:rPr>
                        <a:t>2024</a:t>
                      </a:r>
                    </a:p>
                  </a:txBody>
                  <a:tcPr marL="76200" marR="76200" marT="57150" marB="57150">
                    <a:solidFill>
                      <a:srgbClr val="FFFFFF"/>
                    </a:solidFill>
                  </a:tcPr>
                </a:tc>
                <a:tc>
                  <a:txBody>
                    <a:bodyPr wrap="square"/>
                    <a:lstStyle/>
                    <a:p>
                      <a:pPr algn="r"/>
                      <a:r>
                        <a:rPr sz="1087" b="0">
                          <a:solidFill>
                            <a:srgbClr val="22252B"/>
                          </a:solidFill>
                          <a:latin typeface="Arial"/>
                        </a:rPr>
                        <a:t>19,4</a:t>
                      </a:r>
                    </a:p>
                  </a:txBody>
                  <a:tcPr marL="76200" marR="76200" marT="57150" marB="57150">
                    <a:solidFill>
                      <a:srgbClr val="FFFFFF"/>
                    </a:solidFill>
                  </a:tcPr>
                </a:tc>
                <a:tc>
                  <a:txBody>
                    <a:bodyPr wrap="square"/>
                    <a:lstStyle/>
                    <a:p>
                      <a:pPr algn="r"/>
                      <a:r>
                        <a:rPr sz="1087" b="0">
                          <a:solidFill>
                            <a:srgbClr val="22252B"/>
                          </a:solidFill>
                          <a:latin typeface="Arial"/>
                        </a:rPr>
                        <a:t>13,7</a:t>
                      </a:r>
                    </a:p>
                  </a:txBody>
                  <a:tcPr marL="76200" marR="76200" marT="57150" marB="57150">
                    <a:solidFill>
                      <a:srgbClr val="FFFFFF"/>
                    </a:solidFill>
                  </a:tcPr>
                </a:tc>
                <a:tc>
                  <a:txBody>
                    <a:bodyPr wrap="square"/>
                    <a:lstStyle/>
                    <a:p>
                      <a:pPr algn="r"/>
                      <a:r>
                        <a:rPr sz="1087" b="0">
                          <a:solidFill>
                            <a:srgbClr val="22252B"/>
                          </a:solidFill>
                          <a:latin typeface="Arial"/>
                        </a:rPr>
                        <a:t>19,2</a:t>
                      </a:r>
                    </a:p>
                  </a:txBody>
                  <a:tcPr marL="76200" marR="76200" marT="57150" marB="57150">
                    <a:solidFill>
                      <a:srgbClr val="FFFFFF"/>
                    </a:solidFill>
                  </a:tcPr>
                </a:tc>
                <a:tc>
                  <a:txBody>
                    <a:bodyPr wrap="square"/>
                    <a:lstStyle/>
                    <a:p>
                      <a:pPr algn="r"/>
                      <a:r>
                        <a:rPr sz="1087" b="0">
                          <a:solidFill>
                            <a:srgbClr val="22252B"/>
                          </a:solidFill>
                          <a:latin typeface="Arial"/>
                        </a:rPr>
                        <a:t>20,0</a:t>
                      </a:r>
                    </a:p>
                  </a:txBody>
                  <a:tcPr marL="76200" marR="76200" marT="57150" marB="57150">
                    <a:solidFill>
                      <a:srgbClr val="FFFFFF"/>
                    </a:solidFill>
                  </a:tcPr>
                </a:tc>
              </a:tr>
              <a:tr h="319831">
                <a:tc>
                  <a:txBody>
                    <a:bodyPr wrap="square"/>
                    <a:lstStyle/>
                    <a:p>
                      <a:r>
                        <a:rPr sz="1087" b="0">
                          <a:solidFill>
                            <a:srgbClr val="22252B"/>
                          </a:solidFill>
                          <a:latin typeface="Arial"/>
                        </a:rPr>
                        <a:t>2025</a:t>
                      </a:r>
                    </a:p>
                  </a:txBody>
                  <a:tcPr marL="76200" marR="76200" marT="57150" marB="57150">
                    <a:solidFill>
                      <a:srgbClr val="FFFFFF"/>
                    </a:solidFill>
                  </a:tcPr>
                </a:tc>
                <a:tc>
                  <a:txBody>
                    <a:bodyPr wrap="square"/>
                    <a:lstStyle/>
                    <a:p>
                      <a:pPr algn="r"/>
                      <a:r>
                        <a:rPr sz="1087" b="0">
                          <a:solidFill>
                            <a:srgbClr val="22252B"/>
                          </a:solidFill>
                          <a:latin typeface="Arial"/>
                        </a:rPr>
                        <a:t>22,7</a:t>
                      </a:r>
                    </a:p>
                  </a:txBody>
                  <a:tcPr marL="76200" marR="76200" marT="57150" marB="57150">
                    <a:solidFill>
                      <a:srgbClr val="FFFFFF"/>
                    </a:solidFill>
                  </a:tcPr>
                </a:tc>
                <a:tc>
                  <a:txBody>
                    <a:bodyPr wrap="square"/>
                    <a:lstStyle/>
                    <a:p>
                      <a:pPr algn="r"/>
                      <a:r>
                        <a:rPr sz="1087" b="0">
                          <a:solidFill>
                            <a:srgbClr val="22252B"/>
                          </a:solidFill>
                          <a:latin typeface="Arial"/>
                        </a:rPr>
                        <a:t>17,5</a:t>
                      </a:r>
                    </a:p>
                  </a:txBody>
                  <a:tcPr marL="76200" marR="76200" marT="57150" marB="57150">
                    <a:solidFill>
                      <a:srgbClr val="FFFFFF"/>
                    </a:solidFill>
                  </a:tcPr>
                </a:tc>
                <a:tc>
                  <a:txBody>
                    <a:bodyPr wrap="square"/>
                    <a:lstStyle/>
                    <a:p>
                      <a:pPr algn="r"/>
                      <a:r>
                        <a:rPr sz="1087" b="0">
                          <a:solidFill>
                            <a:srgbClr val="22252B"/>
                          </a:solidFill>
                          <a:latin typeface="Arial"/>
                        </a:rPr>
                        <a:t>22,8</a:t>
                      </a:r>
                    </a:p>
                  </a:txBody>
                  <a:tcPr marL="76200" marR="76200" marT="57150" marB="57150">
                    <a:solidFill>
                      <a:srgbClr val="FFFFFF"/>
                    </a:solidFill>
                  </a:tcPr>
                </a:tc>
                <a:tc>
                  <a:txBody>
                    <a:bodyPr wrap="square"/>
                    <a:lstStyle/>
                    <a:p>
                      <a:pPr algn="r"/>
                      <a:r>
                        <a:rPr sz="1087" b="0">
                          <a:solidFill>
                            <a:srgbClr val="22252B"/>
                          </a:solidFill>
                          <a:latin typeface="Arial"/>
                        </a:rPr>
                        <a:t>24,7</a:t>
                      </a:r>
                    </a:p>
                  </a:txBody>
                  <a:tcPr marL="76200" marR="76200" marT="57150" marB="57150">
                    <a:solidFill>
                      <a:srgbClr val="FFFFFF"/>
                    </a:solidFill>
                  </a:tcPr>
                </a:tc>
              </a:tr>
              <a:tr h="515838">
                <a:tc>
                  <a:txBody>
                    <a:bodyPr wrap="square"/>
                    <a:lstStyle/>
                    <a:p>
                      <a:r>
                        <a:rPr sz="1087" b="0">
                          <a:solidFill>
                            <a:srgbClr val="22252B"/>
                          </a:solidFill>
                          <a:latin typeface="Arial"/>
                        </a:rPr>
                        <a:t>2026 (janv.–oct.)</a:t>
                      </a:r>
                    </a:p>
                  </a:txBody>
                  <a:tcPr marL="76200" marR="76200" marT="57150" marB="57150">
                    <a:solidFill>
                      <a:srgbClr val="FFFFFF"/>
                    </a:solidFill>
                  </a:tcPr>
                </a:tc>
                <a:tc>
                  <a:txBody>
                    <a:bodyPr wrap="square"/>
                    <a:lstStyle/>
                    <a:p>
                      <a:pPr algn="r"/>
                      <a:r>
                        <a:rPr sz="1087" b="0">
                          <a:solidFill>
                            <a:srgbClr val="22252B"/>
                          </a:solidFill>
                          <a:latin typeface="Arial"/>
                        </a:rPr>
                        <a:t>37,9</a:t>
                      </a:r>
                    </a:p>
                  </a:txBody>
                  <a:tcPr marL="76200" marR="76200" marT="57150" marB="57150">
                    <a:solidFill>
                      <a:srgbClr val="FFFFFF"/>
                    </a:solidFill>
                  </a:tcPr>
                </a:tc>
                <a:tc>
                  <a:txBody>
                    <a:bodyPr wrap="square"/>
                    <a:lstStyle/>
                    <a:p>
                      <a:pPr algn="r"/>
                      <a:r>
                        <a:rPr sz="1087" b="0">
                          <a:solidFill>
                            <a:srgbClr val="22252B"/>
                          </a:solidFill>
                          <a:latin typeface="Arial"/>
                        </a:rPr>
                        <a:t>26,3</a:t>
                      </a:r>
                    </a:p>
                  </a:txBody>
                  <a:tcPr marL="76200" marR="76200" marT="57150" marB="57150">
                    <a:solidFill>
                      <a:srgbClr val="FFFFFF"/>
                    </a:solidFill>
                  </a:tcPr>
                </a:tc>
                <a:tc>
                  <a:txBody>
                    <a:bodyPr wrap="square"/>
                    <a:lstStyle/>
                    <a:p>
                      <a:pPr algn="r"/>
                      <a:r>
                        <a:rPr sz="1087" b="0">
                          <a:solidFill>
                            <a:srgbClr val="22252B"/>
                          </a:solidFill>
                          <a:latin typeface="Arial"/>
                        </a:rPr>
                        <a:t>38,6</a:t>
                      </a:r>
                    </a:p>
                  </a:txBody>
                  <a:tcPr marL="76200" marR="76200" marT="57150" marB="57150">
                    <a:solidFill>
                      <a:srgbClr val="FFFFFF"/>
                    </a:solidFill>
                  </a:tcPr>
                </a:tc>
                <a:tc>
                  <a:txBody>
                    <a:bodyPr wrap="square"/>
                    <a:lstStyle/>
                    <a:p>
                      <a:pPr algn="r"/>
                      <a:r>
                        <a:rPr sz="1087" b="0">
                          <a:solidFill>
                            <a:srgbClr val="22252B"/>
                          </a:solidFill>
                          <a:latin typeface="Arial"/>
                        </a:rPr>
                        <a:t>36,5</a:t>
                      </a:r>
                    </a:p>
                  </a:txBody>
                  <a:tcPr marL="76200" marR="76200" marT="57150" marB="57150">
                    <a:solidFill>
                      <a:srgbClr val="FFFFFF"/>
                    </a:solidFill>
                  </a:tcPr>
                </a:tc>
              </a:tr>
            </a:tbl>
          </a:graphicData>
        </a:graphic>
      </p:graphicFrame>
      <p:sp>
        <p:nvSpPr>
          <p:cNvPr id="7" name="TextBox 6"/>
          <p:cNvSpPr txBox="1"/>
          <p:nvPr/>
        </p:nvSpPr>
        <p:spPr>
          <a:xfrm>
            <a:off x="6369992" y="3591222"/>
            <a:ext cx="5250507" cy="198834"/>
          </a:xfrm>
          <a:prstGeom prst="rect">
            <a:avLst/>
          </a:prstGeom>
          <a:noFill/>
        </p:spPr>
        <p:txBody>
          <a:bodyPr wrap="square" lIns="0" rIns="0" tIns="0" bIns="0" anchor="t">
            <a:spAutoFit/>
          </a:bodyPr>
          <a:lstStyle/>
          <a:p>
            <a:r>
              <a:rPr sz="937" b="0">
                <a:solidFill>
                  <a:srgbClr val="8A8F98"/>
                </a:solidFill>
                <a:latin typeface="Arial"/>
              </a:rPr>
              <a:t>Détails et formules : methodologie.md.</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ANNEXE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Sources</a:t>
            </a:r>
          </a:p>
        </p:txBody>
      </p:sp>
      <p:sp>
        <p:nvSpPr>
          <p:cNvPr id="4" name="TextBox 3"/>
          <p:cNvSpPr txBox="1"/>
          <p:nvPr/>
        </p:nvSpPr>
        <p:spPr>
          <a:xfrm>
            <a:off x="571500" y="1101476"/>
            <a:ext cx="11049000" cy="2752725"/>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Données PowerKlock : prix day-ahead (ENTSO-E ; Grande-Bretagne : Elexon), production et échanges de la France (RTE éCO2mix), nucléaire disponible (ENTSO-E), limites d’export Core (JAO, maxNetPos), échanges commerciaux par frontière (ENTSO-E via Energy-Charts, CC BY 4.0), gaz et CO2 (TTF, EUA).</a:t>
            </a:r>
          </a:p>
          <a:p>
            <a:pPr marL="152400" indent="-133350">
              <a:spcAft>
                <a:spcPts val="500"/>
              </a:spcAft>
              <a:buChar char="•"/>
            </a:pPr>
            <a:r>
              <a:rPr sz="1162" b="0">
                <a:solidFill>
                  <a:srgbClr val="22252B"/>
                </a:solidFill>
                <a:latin typeface="Arial"/>
              </a:rPr>
              <a:t>RTE, Bilan électrique 2025, principaux résultats (février 2026) : assets.rte-france.com/prod/public/2026-02/Bilan-electrique-2025-principaux-resultats.pdf ; Bilan 2024.</a:t>
            </a:r>
          </a:p>
          <a:p>
            <a:pPr marL="152400" indent="-133350">
              <a:spcAft>
                <a:spcPts val="500"/>
              </a:spcAft>
              <a:buChar char="•"/>
            </a:pPr>
            <a:r>
              <a:rPr sz="1162" b="0">
                <a:solidFill>
                  <a:srgbClr val="22252B"/>
                </a:solidFill>
                <a:latin typeface="Arial"/>
              </a:rPr>
              <a:t>CRE, Rapport de surveillance des marchés de gros 2025 (n° 2026-07) ; rapports 2023 et 2024.</a:t>
            </a:r>
          </a:p>
          <a:p>
            <a:pPr marL="152400" indent="-133350">
              <a:spcAft>
                <a:spcPts val="500"/>
              </a:spcAft>
              <a:buChar char="•"/>
            </a:pPr>
            <a:r>
              <a:rPr sz="1162" b="0">
                <a:solidFill>
                  <a:srgbClr val="22252B"/>
                </a:solidFill>
                <a:latin typeface="Arial"/>
              </a:rPr>
              <a:t>CRE, Utilisation des recettes de congestion 2023, 2024, 2025 ; délibérations TURPE 2022-157 et 2023-136.</a:t>
            </a:r>
          </a:p>
          <a:p>
            <a:pPr marL="152400" indent="-133350">
              <a:spcAft>
                <a:spcPts val="500"/>
              </a:spcAft>
              <a:buChar char="•"/>
            </a:pPr>
            <a:r>
              <a:rPr sz="1162" b="0">
                <a:solidFill>
                  <a:srgbClr val="22252B"/>
                </a:solidFill>
                <a:latin typeface="Arial"/>
              </a:rPr>
              <a:t>CRE, délibération 2026-06 (TRVE 2026) ; délibération 2026-52 (VNU).</a:t>
            </a:r>
          </a:p>
          <a:p>
            <a:pPr marL="152400" indent="-133350">
              <a:spcAft>
                <a:spcPts val="500"/>
              </a:spcAft>
              <a:buChar char="•"/>
            </a:pPr>
            <a:r>
              <a:rPr sz="1162" b="0">
                <a:solidFill>
                  <a:srgbClr val="22252B"/>
                </a:solidFill>
                <a:latin typeface="Arial"/>
              </a:rPr>
              <a:t>ACER, Cross-zonal electricity trade 2025 (communiqué du 5 septembre 2025) ; décision 16/2023 (partage de la rente) ; règlement (UE) 2019/943, art. 19.</a:t>
            </a:r>
          </a:p>
          <a:p>
            <a:pPr marL="152400" indent="-133350">
              <a:spcAft>
                <a:spcPts val="500"/>
              </a:spcAft>
              <a:buChar char="•"/>
            </a:pPr>
            <a:r>
              <a:rPr sz="1162" b="0">
                <a:solidFill>
                  <a:srgbClr val="22252B"/>
                </a:solidFill>
                <a:latin typeface="Arial"/>
              </a:rPr>
              <a:t>Core flow-based, démarrage le 8 juin 2022 (JAO, SDAC) ; pas de 15 minutes dès la livraison du 1er octobre 2025 (NEMO Committee) ; plafond 4 000 €/MWh dès le 10 mai 2022 (EPEX SPOT).</a:t>
            </a:r>
          </a:p>
          <a:p>
            <a:pPr marL="152400" indent="-133350">
              <a:spcAft>
                <a:spcPts val="500"/>
              </a:spcAft>
              <a:buChar char="•"/>
            </a:pPr>
            <a:r>
              <a:rPr sz="1162" b="0">
                <a:solidFill>
                  <a:srgbClr val="22252B"/>
                </a:solidFill>
                <a:latin typeface="Arial"/>
              </a:rPr>
              <a:t>Liens complets : sources.md. Pages 5 et 6 : cas illustratifs, pas des données.</a:t>
            </a:r>
          </a:p>
        </p:txBody>
      </p:sp>
      <p:sp>
        <p:nvSpPr>
          <p:cNvPr id="5" name="TextBox 4"/>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 · couplage des marchés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