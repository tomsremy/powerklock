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 POINT DE DÉPART</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La référence : un seul merit order, une seule consommation</a:t>
            </a:r>
          </a:p>
        </p:txBody>
      </p:sp>
      <p:pic>
        <p:nvPicPr>
          <p:cNvPr id="4" name="Picture 3" descr="image.png"/>
          <p:cNvPicPr>
            <a:picLocks noChangeAspect="1"/>
          </p:cNvPicPr>
          <p:nvPr/>
        </p:nvPicPr>
        <p:blipFill>
          <a:blip r:embed="rId2"/>
          <a:stretch>
            <a:fillRect/>
          </a:stretch>
        </p:blipFill>
        <p:spPr>
          <a:xfrm>
            <a:off x="571500" y="1101476"/>
            <a:ext cx="5512742" cy="3376166"/>
          </a:xfrm>
          <a:prstGeom prst="rect">
            <a:avLst/>
          </a:prstGeom>
        </p:spPr>
      </p:pic>
      <p:sp>
        <p:nvSpPr>
          <p:cNvPr id="5" name="TextBox 4"/>
          <p:cNvSpPr txBox="1"/>
          <p:nvPr/>
        </p:nvSpPr>
        <p:spPr>
          <a:xfrm>
            <a:off x="6369992" y="1101476"/>
            <a:ext cx="5250507" cy="2838450"/>
          </a:xfrm>
          <a:prstGeom prst="rect">
            <a:avLst/>
          </a:prstGeom>
          <a:noFill/>
        </p:spPr>
        <p:txBody>
          <a:bodyPr wrap="square" lIns="0" rIns="0" tIns="0" bIns="0" anchor="t">
            <a:spAutoFit/>
          </a:bodyPr>
          <a:lstStyle/>
          <a:p>
            <a:pPr marL="152400" indent="-133350">
              <a:spcAft>
                <a:spcPts val="500"/>
              </a:spcAft>
              <a:buChar char="•"/>
            </a:pPr>
            <a:r>
              <a:rPr sz="1162" b="1">
                <a:solidFill>
                  <a:srgbClr val="22252B"/>
                </a:solidFill>
                <a:latin typeface="Arial"/>
              </a:rPr>
              <a:t>La courbe</a:t>
            </a:r>
            <a:r>
              <a:rPr sz="1162" b="0">
                <a:solidFill>
                  <a:srgbClr val="22252B"/>
                </a:solidFill>
                <a:latin typeface="Arial"/>
              </a:rPr>
              <a:t> : toutes les centrales françaises rangées de la moins chère à la plus chère (éolien et solaire, nucléaire qui module, hydraulique, gaz).</a:t>
            </a:r>
          </a:p>
          <a:p>
            <a:pPr marL="152400" indent="-133350">
              <a:spcAft>
                <a:spcPts val="500"/>
              </a:spcAft>
              <a:buChar char="•"/>
            </a:pPr>
            <a:r>
              <a:rPr sz="1162" b="1">
                <a:solidFill>
                  <a:srgbClr val="22252B"/>
                </a:solidFill>
                <a:latin typeface="Arial"/>
              </a:rPr>
              <a:t>La consommation</a:t>
            </a:r>
            <a:r>
              <a:rPr sz="1162" b="0">
                <a:solidFill>
                  <a:srgbClr val="22252B"/>
                </a:solidFill>
                <a:latin typeface="Arial"/>
              </a:rPr>
              <a:t> : ce que la France consomme dans l’heure (55 GW sur le dessin). Elle ne bouge presque pas avec le prix.</a:t>
            </a:r>
          </a:p>
          <a:p>
            <a:pPr marL="152400" indent="-133350">
              <a:spcAft>
                <a:spcPts val="500"/>
              </a:spcAft>
              <a:buChar char="•"/>
            </a:pPr>
            <a:r>
              <a:rPr sz="1162" b="1">
                <a:solidFill>
                  <a:srgbClr val="22252B"/>
                </a:solidFill>
                <a:latin typeface="Arial"/>
              </a:rPr>
              <a:t>Seule</a:t>
            </a:r>
            <a:r>
              <a:rPr sz="1162" b="0">
                <a:solidFill>
                  <a:srgbClr val="22252B"/>
                </a:solidFill>
                <a:latin typeface="Arial"/>
              </a:rPr>
              <a:t>, la France produit exactement sa consommation : le prix se lit au croisement, </a:t>
            </a:r>
            <a:r>
              <a:rPr sz="1162" b="1">
                <a:solidFill>
                  <a:srgbClr val="22252B"/>
                </a:solidFill>
                <a:latin typeface="Arial"/>
              </a:rPr>
              <a:t>50 €</a:t>
            </a:r>
            <a:r>
              <a:rPr sz="1162" b="0">
                <a:solidFill>
                  <a:srgbClr val="22252B"/>
                </a:solidFill>
                <a:latin typeface="Arial"/>
              </a:rPr>
              <a:t> sur le dessin.</a:t>
            </a:r>
          </a:p>
          <a:p>
            <a:pPr marL="152400" indent="-133350">
              <a:spcAft>
                <a:spcPts val="500"/>
              </a:spcAft>
              <a:buChar char="•"/>
            </a:pPr>
            <a:r>
              <a:rPr sz="1162" b="0">
                <a:solidFill>
                  <a:srgbClr val="22252B"/>
                </a:solidFill>
                <a:latin typeface="Arial"/>
              </a:rPr>
              <a:t>Dans tous les dessins qui suivent, </a:t>
            </a:r>
            <a:r>
              <a:rPr sz="1162" b="1">
                <a:solidFill>
                  <a:srgbClr val="22252B"/>
                </a:solidFill>
                <a:latin typeface="Arial"/>
              </a:rPr>
              <a:t>la courbe et la consommation ne bougent pas</a:t>
            </a:r>
            <a:r>
              <a:rPr sz="1162" b="0">
                <a:solidFill>
                  <a:srgbClr val="22252B"/>
                </a:solidFill>
                <a:latin typeface="Arial"/>
              </a:rPr>
              <a:t>. Seuls changent le prix des voisins et ce que la ligne laisse passer (± 10 GW sur le dessin).</a:t>
            </a:r>
          </a:p>
          <a:p>
            <a:pPr marL="152400" indent="-133350">
              <a:spcAft>
                <a:spcPts val="500"/>
              </a:spcAft>
              <a:buChar char="•"/>
            </a:pPr>
            <a:r>
              <a:rPr sz="1162" b="0">
                <a:solidFill>
                  <a:srgbClr val="22252B"/>
                </a:solidFill>
                <a:latin typeface="Arial"/>
              </a:rPr>
              <a:t>Ce qui décide du cas : </a:t>
            </a:r>
            <a:r>
              <a:rPr sz="1162" b="1">
                <a:solidFill>
                  <a:srgbClr val="22252B"/>
                </a:solidFill>
                <a:latin typeface="Arial"/>
              </a:rPr>
              <a:t>le prix des voisins est-il au-dessus ou en dessous de 50 €, et de combien</a:t>
            </a:r>
            <a:r>
              <a:rPr sz="1162" b="0">
                <a:solidFill>
                  <a:srgbClr val="22252B"/>
                </a:solidFill>
                <a:latin typeface="Arial"/>
              </a:rPr>
              <a:t> ? Si l’écart est petit, la ligne suffit à l’effacer ; s’il est grand, la ligne sature.</a:t>
            </a:r>
          </a:p>
        </p:txBody>
      </p:sp>
      <p:graphicFrame>
        <p:nvGraphicFramePr>
          <p:cNvPr id="6" name="Table 5"/>
          <p:cNvGraphicFramePr>
            <a:graphicFrameLocks noGrp="1"/>
          </p:cNvGraphicFramePr>
          <p:nvPr/>
        </p:nvGraphicFramePr>
        <p:xfrm>
          <a:off x="6369992" y="3958976"/>
          <a:ext cx="5250507" cy="1006670"/>
        </p:xfrm>
        <a:graphic>
          <a:graphicData uri="http://schemas.openxmlformats.org/drawingml/2006/table">
            <a:tbl>
              <a:tblPr firstRow="0" bandRow="0">
                <a:tableStyleId>{5C22544A-7EE6-4342-B048-85BDC9FD1C3A}</a:tableStyleId>
              </a:tblPr>
              <a:tblGrid>
                <a:gridCol w="1155055"/>
                <a:gridCol w="4095452"/>
              </a:tblGrid>
              <a:tr h="248096">
                <a:tc>
                  <a:txBody>
                    <a:bodyPr wrap="square"/>
                    <a:lstStyle/>
                    <a:p>
                      <a:r>
                        <a:rPr sz="1012" b="1">
                          <a:solidFill>
                            <a:srgbClr val="7A5CC7"/>
                          </a:solidFill>
                          <a:latin typeface="Arial"/>
                        </a:rPr>
                        <a:t>Prix</a:t>
                      </a:r>
                    </a:p>
                  </a:txBody>
                  <a:tcPr marL="66675" marR="66675" marT="38100" marB="38100">
                    <a:solidFill>
                      <a:srgbClr val="F5F3FB"/>
                    </a:solidFill>
                  </a:tcPr>
                </a:tc>
                <a:tc>
                  <a:txBody>
                    <a:bodyPr wrap="square"/>
                    <a:lstStyle/>
                    <a:p>
                      <a:r>
                        <a:rPr sz="1012" b="0">
                          <a:solidFill>
                            <a:srgbClr val="22252B"/>
                          </a:solidFill>
                          <a:latin typeface="Arial"/>
                        </a:rPr>
                        <a:t>se lit à la consommation française</a:t>
                      </a:r>
                    </a:p>
                  </a:txBody>
                  <a:tcPr marL="66675" marR="66675" marT="38100" marB="38100">
                    <a:solidFill>
                      <a:srgbClr val="FFFFFF"/>
                    </a:solidFill>
                  </a:tcPr>
                </a:tc>
              </a:tr>
              <a:tr h="252858">
                <a:tc>
                  <a:txBody>
                    <a:bodyPr wrap="square"/>
                    <a:lstStyle/>
                    <a:p>
                      <a:r>
                        <a:rPr sz="1012" b="1">
                          <a:solidFill>
                            <a:srgbClr val="7A5CC7"/>
                          </a:solidFill>
                          <a:latin typeface="Arial"/>
                        </a:rPr>
                        <a:t>Fréquence</a:t>
                      </a:r>
                    </a:p>
                  </a:txBody>
                  <a:tcPr marL="66675" marR="66675" marT="38100" marB="38100">
                    <a:solidFill>
                      <a:srgbClr val="F5F3FB"/>
                    </a:solidFill>
                  </a:tcPr>
                </a:tc>
                <a:tc>
                  <a:txBody>
                    <a:bodyPr wrap="square"/>
                    <a:lstStyle/>
                    <a:p>
                      <a:r>
                        <a:rPr sz="1012" b="0">
                          <a:solidFill>
                            <a:srgbClr val="22252B"/>
                          </a:solidFill>
                          <a:latin typeface="Arial"/>
                        </a:rPr>
                        <a:t>jamais : la France échange à chaque heure</a:t>
                      </a:r>
                    </a:p>
                  </a:txBody>
                  <a:tcPr marL="66675" marR="66675" marT="38100" marB="38100">
                    <a:solidFill>
                      <a:srgbClr val="FFFFFF"/>
                    </a:solidFill>
                  </a:tcPr>
                </a:tc>
              </a:tr>
              <a:tr h="252858">
                <a:tc>
                  <a:txBody>
                    <a:bodyPr wrap="square"/>
                    <a:lstStyle/>
                    <a:p>
                      <a:r>
                        <a:rPr sz="1012" b="1">
                          <a:solidFill>
                            <a:srgbClr val="7A5CC7"/>
                          </a:solidFill>
                          <a:latin typeface="Arial"/>
                        </a:rPr>
                        <a:t>Sécurité</a:t>
                      </a:r>
                    </a:p>
                  </a:txBody>
                  <a:tcPr marL="66675" marR="66675" marT="38100" marB="38100">
                    <a:solidFill>
                      <a:srgbClr val="F5F3FB"/>
                    </a:solidFill>
                  </a:tcPr>
                </a:tc>
                <a:tc>
                  <a:txBody>
                    <a:bodyPr wrap="square"/>
                    <a:lstStyle/>
                    <a:p>
                      <a:r>
                        <a:rPr sz="1012" b="0">
                          <a:solidFill>
                            <a:srgbClr val="22252B"/>
                          </a:solidFill>
                          <a:latin typeface="Arial"/>
                        </a:rPr>
                        <a:t>personne pour aider en cas de manque</a:t>
                      </a:r>
                    </a:p>
                  </a:txBody>
                  <a:tcPr marL="66675" marR="66675" marT="38100" marB="38100">
                    <a:solidFill>
                      <a:srgbClr val="FFFFFF"/>
                    </a:solidFill>
                  </a:tcPr>
                </a:tc>
              </a:tr>
              <a:tr h="252858">
                <a:tc>
                  <a:txBody>
                    <a:bodyPr wrap="square"/>
                    <a:lstStyle/>
                    <a:p>
                      <a:r>
                        <a:rPr sz="1012" b="1">
                          <a:solidFill>
                            <a:srgbClr val="7A5CC7"/>
                          </a:solidFill>
                          <a:latin typeface="Arial"/>
                        </a:rPr>
                        <a:t>Réseau</a:t>
                      </a:r>
                    </a:p>
                  </a:txBody>
                  <a:tcPr marL="66675" marR="66675" marT="38100" marB="38100">
                    <a:solidFill>
                      <a:srgbClr val="F5F3FB"/>
                    </a:solidFill>
                  </a:tcPr>
                </a:tc>
                <a:tc>
                  <a:txBody>
                    <a:bodyPr wrap="square"/>
                    <a:lstStyle/>
                    <a:p>
                      <a:r>
                        <a:rPr sz="1012" b="0">
                          <a:solidFill>
                            <a:srgbClr val="22252B"/>
                          </a:solidFill>
                          <a:latin typeface="Arial"/>
                        </a:rPr>
                        <a:t>aucune rente</a:t>
                      </a:r>
                    </a:p>
                  </a:txBody>
                  <a:tcPr marL="66675" marR="66675" marT="38100" marB="38100">
                    <a:solidFill>
                      <a:srgbClr val="FFFFFF"/>
                    </a:solidFill>
                  </a:tcPr>
                </a:tc>
              </a:tr>
            </a:tbl>
          </a:graphicData>
        </a:graphic>
      </p:graphicFrame>
      <p:sp>
        <p:nvSpPr>
          <p:cNvPr id="7" name="TextBox 6"/>
          <p:cNvSpPr txBox="1"/>
          <p:nvPr/>
        </p:nvSpPr>
        <p:spPr>
          <a:xfrm>
            <a:off x="571500" y="5084712"/>
            <a:ext cx="11049000" cy="359568"/>
          </a:xfrm>
          <a:prstGeom prst="rect">
            <a:avLst/>
          </a:prstGeom>
          <a:noFill/>
        </p:spPr>
        <p:txBody>
          <a:bodyPr wrap="square" lIns="0" rIns="0" tIns="0" bIns="0" anchor="t">
            <a:spAutoFit/>
          </a:bodyPr>
          <a:lstStyle/>
          <a:p>
            <a:r>
              <a:rPr sz="937" b="0">
                <a:solidFill>
                  <a:srgbClr val="8A8F98"/>
                </a:solidFill>
                <a:latin typeface="Arial"/>
              </a:rPr>
              <a:t>Merit order simplifié, identique sur tous les dessins : parc et prix illustratifs. Point rouge : prix de la France, lu sur la production française ; point blanc : prix de la France seule (50 €). Les vrais chiffres sont dans les tableaux (ENTSO-E, Energy-Charts, RTE ; calcul PowerKlock).</a:t>
            </a:r>
          </a:p>
        </p:txBody>
      </p:sp>
      <p:sp>
        <p:nvSpPr>
          <p:cNvPr id="8" name="TextBox 7"/>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a:t>
            </a:r>
            <a:r>
              <a:rPr sz="900" b="0">
                <a:solidFill>
                  <a:srgbClr val="AAAAAA"/>
                </a:solidFill>
                <a:latin typeface="Arial"/>
              </a:rPr>
              <a:t> · couplage des marchés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CAS 1 · LE MÉCANISME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Cas 1 · Exportatrice, ligne pas saturée</a:t>
            </a:r>
          </a:p>
        </p:txBody>
      </p:sp>
      <p:pic>
        <p:nvPicPr>
          <p:cNvPr id="4" name="Picture 3" descr="image.png"/>
          <p:cNvPicPr>
            <a:picLocks noChangeAspect="1"/>
          </p:cNvPicPr>
          <p:nvPr/>
        </p:nvPicPr>
        <p:blipFill>
          <a:blip r:embed="rId2"/>
          <a:stretch>
            <a:fillRect/>
          </a:stretch>
        </p:blipFill>
        <p:spPr>
          <a:xfrm>
            <a:off x="571500" y="1101476"/>
            <a:ext cx="5512742" cy="3376166"/>
          </a:xfrm>
          <a:prstGeom prst="rect">
            <a:avLst/>
          </a:prstGeom>
        </p:spPr>
      </p:pic>
      <p:sp>
        <p:nvSpPr>
          <p:cNvPr id="5" name="TextBox 4"/>
          <p:cNvSpPr txBox="1"/>
          <p:nvPr/>
        </p:nvSpPr>
        <p:spPr>
          <a:xfrm>
            <a:off x="6369992" y="1249114"/>
            <a:ext cx="5250507" cy="666750"/>
          </a:xfrm>
          <a:prstGeom prst="rect">
            <a:avLst/>
          </a:prstGeom>
          <a:noFill/>
        </p:spPr>
        <p:txBody>
          <a:bodyPr wrap="square" lIns="0" rIns="0" tIns="0" bIns="0" anchor="t">
            <a:spAutoFit/>
          </a:bodyPr>
          <a:lstStyle/>
          <a:p>
            <a:r>
              <a:rPr sz="1162" b="1">
                <a:solidFill>
                  <a:srgbClr val="22252B"/>
                </a:solidFill>
                <a:latin typeface="Arial"/>
              </a:rPr>
              <a:t>Ce qui se passe.</a:t>
            </a:r>
            <a:r>
              <a:rPr sz="1162" b="0">
                <a:solidFill>
                  <a:srgbClr val="22252B"/>
                </a:solidFill>
                <a:latin typeface="Arial"/>
              </a:rPr>
              <a:t> Les voisins sont un peu plus chers (58 €) que la France seule (50 €). La France exporte jusqu’à ce que son prix rejoigne le leur : 5 GW suffisent, la ligne (10 GW) a de la place. </a:t>
            </a:r>
            <a:r>
              <a:rPr sz="1162" b="1">
                <a:solidFill>
                  <a:srgbClr val="22252B"/>
                </a:solidFill>
                <a:latin typeface="Arial"/>
              </a:rPr>
              <a:t>Un seul prix pour tous.</a:t>
            </a:r>
          </a:p>
        </p:txBody>
      </p:sp>
      <p:graphicFrame>
        <p:nvGraphicFramePr>
          <p:cNvPr id="6" name="Table 5"/>
          <p:cNvGraphicFramePr>
            <a:graphicFrameLocks noGrp="1"/>
          </p:cNvGraphicFramePr>
          <p:nvPr/>
        </p:nvGraphicFramePr>
        <p:xfrm>
          <a:off x="6369992" y="2025401"/>
          <a:ext cx="5250507" cy="1508072"/>
        </p:xfrm>
        <a:graphic>
          <a:graphicData uri="http://schemas.openxmlformats.org/drawingml/2006/table">
            <a:tbl>
              <a:tblPr firstRow="0" bandRow="0">
                <a:tableStyleId>{5C22544A-7EE6-4342-B048-85BDC9FD1C3A}</a:tableStyleId>
              </a:tblPr>
              <a:tblGrid>
                <a:gridCol w="1155055"/>
                <a:gridCol w="4095452"/>
              </a:tblGrid>
              <a:tr h="415230">
                <a:tc>
                  <a:txBody>
                    <a:bodyPr wrap="square"/>
                    <a:lstStyle/>
                    <a:p>
                      <a:r>
                        <a:rPr sz="1012" b="1">
                          <a:solidFill>
                            <a:srgbClr val="7A5CC7"/>
                          </a:solidFill>
                          <a:latin typeface="Arial"/>
                        </a:rPr>
                        <a:t>Prix</a:t>
                      </a:r>
                    </a:p>
                  </a:txBody>
                  <a:tcPr marL="66675" marR="66675" marT="38100" marB="38100">
                    <a:solidFill>
                      <a:srgbClr val="F5F3FB"/>
                    </a:solidFill>
                  </a:tcPr>
                </a:tc>
                <a:tc>
                  <a:txBody>
                    <a:bodyPr wrap="square"/>
                    <a:lstStyle/>
                    <a:p>
                      <a:r>
                        <a:rPr sz="1012" b="1">
                          <a:solidFill>
                            <a:srgbClr val="22252B"/>
                          </a:solidFill>
                          <a:latin typeface="Arial"/>
                        </a:rPr>
                        <a:t>monte jusqu’au prix des voisins</a:t>
                      </a:r>
                      <a:r>
                        <a:rPr sz="1012" b="0">
                          <a:solidFill>
                            <a:srgbClr val="22252B"/>
                          </a:solidFill>
                          <a:latin typeface="Arial"/>
                        </a:rPr>
                        <a:t>. En 2025 : France = Allemagne = 75 €/MWh</a:t>
                      </a:r>
                    </a:p>
                  </a:txBody>
                  <a:tcPr marL="66675" marR="66675" marT="38100" marB="38100">
                    <a:solidFill>
                      <a:srgbClr val="FFFFFF"/>
                    </a:solidFill>
                  </a:tcPr>
                </a:tc>
              </a:tr>
              <a:tr h="252858">
                <a:tc>
                  <a:txBody>
                    <a:bodyPr wrap="square"/>
                    <a:lstStyle/>
                    <a:p>
                      <a:r>
                        <a:rPr sz="1012" b="1">
                          <a:solidFill>
                            <a:srgbClr val="7A5CC7"/>
                          </a:solidFill>
                          <a:latin typeface="Arial"/>
                        </a:rPr>
                        <a:t>Fréquence</a:t>
                      </a:r>
                    </a:p>
                  </a:txBody>
                  <a:tcPr marL="66675" marR="66675" marT="38100" marB="38100">
                    <a:solidFill>
                      <a:srgbClr val="F5F3FB"/>
                    </a:solidFill>
                  </a:tcPr>
                </a:tc>
                <a:tc>
                  <a:txBody>
                    <a:bodyPr wrap="square"/>
                    <a:lstStyle/>
                    <a:p>
                      <a:r>
                        <a:rPr sz="1012" b="0">
                          <a:solidFill>
                            <a:srgbClr val="22252B"/>
                          </a:solidFill>
                          <a:latin typeface="Arial"/>
                        </a:rPr>
                        <a:t>10 % du temps en 2025 ; 34 à 44 % de 2016 à 2021</a:t>
                      </a:r>
                    </a:p>
                  </a:txBody>
                  <a:tcPr marL="66675" marR="66675" marT="38100" marB="38100">
                    <a:solidFill>
                      <a:srgbClr val="FFFFFF"/>
                    </a:solidFill>
                  </a:tcPr>
                </a:tc>
              </a:tr>
              <a:tr h="419992">
                <a:tc>
                  <a:txBody>
                    <a:bodyPr wrap="square"/>
                    <a:lstStyle/>
                    <a:p>
                      <a:r>
                        <a:rPr sz="1012" b="1">
                          <a:solidFill>
                            <a:srgbClr val="7A5CC7"/>
                          </a:solidFill>
                          <a:latin typeface="Arial"/>
                        </a:rPr>
                        <a:t>Sécurité</a:t>
                      </a:r>
                    </a:p>
                  </a:txBody>
                  <a:tcPr marL="66675" marR="66675" marT="38100" marB="38100">
                    <a:solidFill>
                      <a:srgbClr val="F5F3FB"/>
                    </a:solidFill>
                  </a:tcPr>
                </a:tc>
                <a:tc>
                  <a:txBody>
                    <a:bodyPr wrap="square"/>
                    <a:lstStyle/>
                    <a:p>
                      <a:r>
                        <a:rPr sz="1012" b="0">
                          <a:solidFill>
                            <a:srgbClr val="22252B"/>
                          </a:solidFill>
                          <a:latin typeface="Arial"/>
                        </a:rPr>
                        <a:t>aucune tension en France ; elle aide ses voisins (7,8 GW exportés en moyenne en 2025)</a:t>
                      </a:r>
                    </a:p>
                  </a:txBody>
                  <a:tcPr marL="66675" marR="66675" marT="38100" marB="38100">
                    <a:solidFill>
                      <a:srgbClr val="FFFFFF"/>
                    </a:solidFill>
                  </a:tcPr>
                </a:tc>
              </a:tr>
              <a:tr h="419992">
                <a:tc>
                  <a:txBody>
                    <a:bodyPr wrap="square"/>
                    <a:lstStyle/>
                    <a:p>
                      <a:r>
                        <a:rPr sz="1012" b="1">
                          <a:solidFill>
                            <a:srgbClr val="7A5CC7"/>
                          </a:solidFill>
                          <a:latin typeface="Arial"/>
                        </a:rPr>
                        <a:t>Réseau</a:t>
                      </a:r>
                    </a:p>
                  </a:txBody>
                  <a:tcPr marL="66675" marR="66675" marT="38100" marB="38100">
                    <a:solidFill>
                      <a:srgbClr val="F5F3FB"/>
                    </a:solidFill>
                  </a:tcPr>
                </a:tc>
                <a:tc>
                  <a:txBody>
                    <a:bodyPr wrap="square"/>
                    <a:lstStyle/>
                    <a:p>
                      <a:r>
                        <a:rPr sz="1012" b="0">
                          <a:solidFill>
                            <a:srgbClr val="22252B"/>
                          </a:solidFill>
                          <a:latin typeface="Arial"/>
                        </a:rPr>
                        <a:t>peu de rente : pas d’écart de prix avec la Belgique et l’Allemagne ; 171 M€ en 2025 sur les autres frontières</a:t>
                      </a:r>
                    </a:p>
                  </a:txBody>
                  <a:tcPr marL="66675" marR="66675" marT="38100" marB="38100">
                    <a:solidFill>
                      <a:srgbClr val="FFFFFF"/>
                    </a:solidFill>
                  </a:tcPr>
                </a:tc>
              </a:tr>
            </a:tbl>
          </a:graphicData>
        </a:graphic>
      </p:graphicFrame>
      <p:sp>
        <p:nvSpPr>
          <p:cNvPr id="7" name="TextBox 6"/>
          <p:cNvSpPr txBox="1"/>
          <p:nvPr/>
        </p:nvSpPr>
        <p:spPr>
          <a:xfrm>
            <a:off x="571500" y="4663826"/>
            <a:ext cx="11049000" cy="520303"/>
          </a:xfrm>
          <a:prstGeom prst="rect">
            <a:avLst/>
          </a:prstGeom>
          <a:noFill/>
        </p:spPr>
        <p:txBody>
          <a:bodyPr wrap="square" lIns="0" rIns="0" tIns="0" bIns="0" anchor="t">
            <a:spAutoFit/>
          </a:bodyPr>
          <a:lstStyle/>
          <a:p>
            <a:r>
              <a:rPr sz="937" b="0">
                <a:solidFill>
                  <a:srgbClr val="8A8F98"/>
                </a:solidFill>
                <a:latin typeface="Arial"/>
              </a:rPr>
              <a:t>Merit order simplifié, identique sur tous les dessins : parc et prix illustratifs. Point rouge : prix de la France, lu sur la production française ; point blanc : prix de la France seule (50 €). Les vrais chiffres sont dans les tableaux (ENTSO-E, Energy-Charts, RTE ; calcul PowerKlock). Ligne pas saturée = prix France égal à ceux de la Belgique et de l’Allemagne (au centime) ; saturée = France moins chère (exportatrice) ou plus chère (importatrice) que les deux ; exportatrice / importatrice = signe des échanges commerciaux.</a:t>
            </a:r>
          </a:p>
        </p:txBody>
      </p:sp>
      <p:sp>
        <p:nvSpPr>
          <p:cNvPr id="8" name="TextBox 7"/>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a:t>
            </a:r>
            <a:r>
              <a:rPr sz="900" b="0">
                <a:solidFill>
                  <a:srgbClr val="AAAAAA"/>
                </a:solidFill>
                <a:latin typeface="Arial"/>
              </a:rPr>
              <a:t> · couplage des marchés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CAS 1 · EN VRAI</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Cas 1 · Exportatrice, ligne pas saturée : quand ça arrive</a:t>
            </a:r>
          </a:p>
        </p:txBody>
      </p:sp>
      <p:pic>
        <p:nvPicPr>
          <p:cNvPr id="4" name="Picture 3" descr="image.png"/>
          <p:cNvPicPr>
            <a:picLocks noChangeAspect="1"/>
          </p:cNvPicPr>
          <p:nvPr/>
        </p:nvPicPr>
        <p:blipFill>
          <a:blip r:embed="rId2"/>
          <a:stretch>
            <a:fillRect/>
          </a:stretch>
        </p:blipFill>
        <p:spPr>
          <a:xfrm>
            <a:off x="571500" y="1101476"/>
            <a:ext cx="5512742" cy="2508349"/>
          </a:xfrm>
          <a:prstGeom prst="rect">
            <a:avLst/>
          </a:prstGeom>
        </p:spPr>
      </p:pic>
      <p:pic>
        <p:nvPicPr>
          <p:cNvPr id="5" name="Picture 4" descr="image.png"/>
          <p:cNvPicPr>
            <a:picLocks noChangeAspect="1"/>
          </p:cNvPicPr>
          <p:nvPr/>
        </p:nvPicPr>
        <p:blipFill>
          <a:blip r:embed="rId3"/>
          <a:stretch>
            <a:fillRect/>
          </a:stretch>
        </p:blipFill>
        <p:spPr>
          <a:xfrm>
            <a:off x="571500" y="3738860"/>
            <a:ext cx="5512742" cy="1735782"/>
          </a:xfrm>
          <a:prstGeom prst="rect">
            <a:avLst/>
          </a:prstGeom>
        </p:spPr>
      </p:pic>
      <p:sp>
        <p:nvSpPr>
          <p:cNvPr id="6" name="TextBox 5"/>
          <p:cNvSpPr txBox="1"/>
          <p:nvPr/>
        </p:nvSpPr>
        <p:spPr>
          <a:xfrm>
            <a:off x="6369992" y="1101476"/>
            <a:ext cx="5250507" cy="876300"/>
          </a:xfrm>
          <a:prstGeom prst="rect">
            <a:avLst/>
          </a:prstGeom>
          <a:noFill/>
        </p:spPr>
        <p:txBody>
          <a:bodyPr wrap="square" lIns="0" rIns="0" tIns="0" bIns="0" anchor="t">
            <a:spAutoFit/>
          </a:bodyPr>
          <a:lstStyle/>
          <a:p>
            <a:r>
              <a:rPr sz="1162" b="0">
                <a:solidFill>
                  <a:srgbClr val="22252B"/>
                </a:solidFill>
                <a:latin typeface="Arial"/>
              </a:rPr>
              <a:t>Surtout </a:t>
            </a:r>
            <a:r>
              <a:rPr sz="1162" b="1">
                <a:solidFill>
                  <a:srgbClr val="22252B"/>
                </a:solidFill>
                <a:latin typeface="Arial"/>
              </a:rPr>
              <a:t>en milieu de journée</a:t>
            </a:r>
            <a:r>
              <a:rPr sz="1162" b="0">
                <a:solidFill>
                  <a:srgbClr val="22252B"/>
                </a:solidFill>
                <a:latin typeface="Arial"/>
              </a:rPr>
              <a:t> (9 h, 11 h, 12 h, 13 h) et en févr., août, mars : le solaire allemand fait baisser le prix allemand jusqu’au niveau français. Le cas était courant jusqu’en 2021 ; il recule depuis que la France a plus à exporter que la ligne.</a:t>
            </a:r>
          </a:p>
        </p:txBody>
      </p:sp>
      <p:graphicFrame>
        <p:nvGraphicFramePr>
          <p:cNvPr id="7" name="Table 6"/>
          <p:cNvGraphicFramePr>
            <a:graphicFrameLocks noGrp="1"/>
          </p:cNvGraphicFramePr>
          <p:nvPr/>
        </p:nvGraphicFramePr>
        <p:xfrm>
          <a:off x="6369992" y="2015876"/>
          <a:ext cx="5250506" cy="2626068"/>
        </p:xfrm>
        <a:graphic>
          <a:graphicData uri="http://schemas.openxmlformats.org/drawingml/2006/table">
            <a:tbl>
              <a:tblPr firstRow="0" bandRow="0">
                <a:tableStyleId>{5C22544A-7EE6-4342-B048-85BDC9FD1C3A}</a:tableStyleId>
              </a:tblPr>
              <a:tblGrid>
                <a:gridCol w="2885033"/>
                <a:gridCol w="931068"/>
                <a:gridCol w="1434405"/>
              </a:tblGrid>
              <a:tr h="511075">
                <a:tc>
                  <a:txBody>
                    <a:bodyPr wrap="square"/>
                    <a:lstStyle/>
                    <a:p>
                      <a:r>
                        <a:rPr sz="1087" b="1">
                          <a:solidFill>
                            <a:srgbClr val="22252B"/>
                          </a:solidFill>
                          <a:latin typeface="Arial"/>
                        </a:rPr>
                        <a:t>2025</a:t>
                      </a:r>
                    </a:p>
                  </a:txBody>
                  <a:tcPr marL="76200" marR="76200" marT="57150" marB="57150">
                    <a:solidFill>
                      <a:srgbClr val="F5F3FB"/>
                    </a:solidFill>
                  </a:tcPr>
                </a:tc>
                <a:tc>
                  <a:txBody>
                    <a:bodyPr wrap="square"/>
                    <a:lstStyle/>
                    <a:p>
                      <a:pPr algn="r"/>
                      <a:r>
                        <a:rPr sz="1087" b="1">
                          <a:solidFill>
                            <a:srgbClr val="22252B"/>
                          </a:solidFill>
                          <a:latin typeface="Arial"/>
                        </a:rPr>
                        <a:t>Dans ce cas</a:t>
                      </a:r>
                    </a:p>
                  </a:txBody>
                  <a:tcPr marL="76200" marR="76200" marT="57150" marB="57150">
                    <a:solidFill>
                      <a:srgbClr val="F5F3FB"/>
                    </a:solidFill>
                  </a:tcPr>
                </a:tc>
                <a:tc>
                  <a:txBody>
                    <a:bodyPr wrap="square"/>
                    <a:lstStyle/>
                    <a:p>
                      <a:pPr algn="r"/>
                      <a:r>
                        <a:rPr sz="1087" b="1">
                          <a:solidFill>
                            <a:srgbClr val="22252B"/>
                          </a:solidFill>
                          <a:latin typeface="Arial"/>
                        </a:rPr>
                        <a:t>Moyenne de l’année</a:t>
                      </a:r>
                    </a:p>
                  </a:txBody>
                  <a:tcPr marL="76200" marR="76200" marT="57150" marB="57150">
                    <a:solidFill>
                      <a:srgbClr val="F5F3FB"/>
                    </a:solidFill>
                  </a:tcPr>
                </a:tc>
              </a:tr>
              <a:tr h="319831">
                <a:tc>
                  <a:txBody>
                    <a:bodyPr wrap="square"/>
                    <a:lstStyle/>
                    <a:p>
                      <a:r>
                        <a:rPr sz="1087" b="0">
                          <a:solidFill>
                            <a:srgbClr val="22252B"/>
                          </a:solidFill>
                          <a:latin typeface="Arial"/>
                        </a:rPr>
                        <a:t>Consommation française</a:t>
                      </a:r>
                    </a:p>
                  </a:txBody>
                  <a:tcPr marL="76200" marR="76200" marT="57150" marB="57150">
                    <a:solidFill>
                      <a:srgbClr val="FFFFFF"/>
                    </a:solidFill>
                  </a:tcPr>
                </a:tc>
                <a:tc>
                  <a:txBody>
                    <a:bodyPr wrap="square"/>
                    <a:lstStyle/>
                    <a:p>
                      <a:pPr algn="r"/>
                      <a:r>
                        <a:rPr sz="1087" b="0">
                          <a:solidFill>
                            <a:srgbClr val="22252B"/>
                          </a:solidFill>
                          <a:latin typeface="Arial"/>
                        </a:rPr>
                        <a:t>53,5 GW</a:t>
                      </a:r>
                    </a:p>
                  </a:txBody>
                  <a:tcPr marL="76200" marR="76200" marT="57150" marB="57150">
                    <a:solidFill>
                      <a:srgbClr val="FFFFFF"/>
                    </a:solidFill>
                  </a:tcPr>
                </a:tc>
                <a:tc>
                  <a:txBody>
                    <a:bodyPr wrap="square"/>
                    <a:lstStyle/>
                    <a:p>
                      <a:pPr algn="r"/>
                      <a:r>
                        <a:rPr sz="1087" b="0">
                          <a:solidFill>
                            <a:srgbClr val="22252B"/>
                          </a:solidFill>
                          <a:latin typeface="Arial"/>
                        </a:rPr>
                        <a:t>50,7 GW</a:t>
                      </a:r>
                    </a:p>
                  </a:txBody>
                  <a:tcPr marL="76200" marR="76200" marT="57150" marB="57150">
                    <a:solidFill>
                      <a:srgbClr val="FFFFFF"/>
                    </a:solidFill>
                  </a:tcPr>
                </a:tc>
              </a:tr>
              <a:tr h="319831">
                <a:tc>
                  <a:txBody>
                    <a:bodyPr wrap="square"/>
                    <a:lstStyle/>
                    <a:p>
                      <a:r>
                        <a:rPr sz="1087" b="0">
                          <a:solidFill>
                            <a:srgbClr val="22252B"/>
                          </a:solidFill>
                          <a:latin typeface="Arial"/>
                        </a:rPr>
                        <a:t>Nucléaire produit</a:t>
                      </a:r>
                    </a:p>
                  </a:txBody>
                  <a:tcPr marL="76200" marR="76200" marT="57150" marB="57150">
                    <a:solidFill>
                      <a:srgbClr val="FFFFFF"/>
                    </a:solidFill>
                  </a:tcPr>
                </a:tc>
                <a:tc>
                  <a:txBody>
                    <a:bodyPr wrap="square"/>
                    <a:lstStyle/>
                    <a:p>
                      <a:pPr algn="r"/>
                      <a:r>
                        <a:rPr sz="1087" b="0">
                          <a:solidFill>
                            <a:srgbClr val="22252B"/>
                          </a:solidFill>
                          <a:latin typeface="Arial"/>
                        </a:rPr>
                        <a:t>41,8 GW</a:t>
                      </a:r>
                    </a:p>
                  </a:txBody>
                  <a:tcPr marL="76200" marR="76200" marT="57150" marB="57150">
                    <a:solidFill>
                      <a:srgbClr val="FFFFFF"/>
                    </a:solidFill>
                  </a:tcPr>
                </a:tc>
                <a:tc>
                  <a:txBody>
                    <a:bodyPr wrap="square"/>
                    <a:lstStyle/>
                    <a:p>
                      <a:pPr algn="r"/>
                      <a:r>
                        <a:rPr sz="1087" b="0">
                          <a:solidFill>
                            <a:srgbClr val="22252B"/>
                          </a:solidFill>
                          <a:latin typeface="Arial"/>
                        </a:rPr>
                        <a:t>42,6 GW</a:t>
                      </a:r>
                    </a:p>
                  </a:txBody>
                  <a:tcPr marL="76200" marR="76200" marT="57150" marB="57150">
                    <a:solidFill>
                      <a:srgbClr val="FFFFFF"/>
                    </a:solidFill>
                  </a:tcPr>
                </a:tc>
              </a:tr>
              <a:tr h="319831">
                <a:tc>
                  <a:txBody>
                    <a:bodyPr wrap="square"/>
                    <a:lstStyle/>
                    <a:p>
                      <a:r>
                        <a:rPr sz="1087" b="0">
                          <a:solidFill>
                            <a:srgbClr val="22252B"/>
                          </a:solidFill>
                          <a:latin typeface="Arial"/>
                        </a:rPr>
                        <a:t>Éolien + solaire français</a:t>
                      </a:r>
                    </a:p>
                  </a:txBody>
                  <a:tcPr marL="76200" marR="76200" marT="57150" marB="57150">
                    <a:solidFill>
                      <a:srgbClr val="FFFFFF"/>
                    </a:solidFill>
                  </a:tcPr>
                </a:tc>
                <a:tc>
                  <a:txBody>
                    <a:bodyPr wrap="square"/>
                    <a:lstStyle/>
                    <a:p>
                      <a:pPr algn="r"/>
                      <a:r>
                        <a:rPr sz="1087" b="0">
                          <a:solidFill>
                            <a:srgbClr val="22252B"/>
                          </a:solidFill>
                          <a:latin typeface="Arial"/>
                        </a:rPr>
                        <a:t>9,1 GW</a:t>
                      </a:r>
                    </a:p>
                  </a:txBody>
                  <a:tcPr marL="76200" marR="76200" marT="57150" marB="57150">
                    <a:solidFill>
                      <a:srgbClr val="FFFFFF"/>
                    </a:solidFill>
                  </a:tcPr>
                </a:tc>
                <a:tc>
                  <a:txBody>
                    <a:bodyPr wrap="square"/>
                    <a:lstStyle/>
                    <a:p>
                      <a:pPr algn="r"/>
                      <a:r>
                        <a:rPr sz="1087" b="0">
                          <a:solidFill>
                            <a:srgbClr val="22252B"/>
                          </a:solidFill>
                          <a:latin typeface="Arial"/>
                        </a:rPr>
                        <a:t>9,4 GW</a:t>
                      </a:r>
                    </a:p>
                  </a:txBody>
                  <a:tcPr marL="76200" marR="76200" marT="57150" marB="57150">
                    <a:solidFill>
                      <a:srgbClr val="FFFFFF"/>
                    </a:solidFill>
                  </a:tcPr>
                </a:tc>
              </a:tr>
              <a:tr h="319831">
                <a:tc>
                  <a:txBody>
                    <a:bodyPr wrap="square"/>
                    <a:lstStyle/>
                    <a:p>
                      <a:r>
                        <a:rPr sz="1087" b="0">
                          <a:solidFill>
                            <a:srgbClr val="22252B"/>
                          </a:solidFill>
                          <a:latin typeface="Arial"/>
                        </a:rPr>
                        <a:t>Exports nets</a:t>
                      </a:r>
                    </a:p>
                  </a:txBody>
                  <a:tcPr marL="76200" marR="76200" marT="57150" marB="57150">
                    <a:solidFill>
                      <a:srgbClr val="FFFFFF"/>
                    </a:solidFill>
                  </a:tcPr>
                </a:tc>
                <a:tc>
                  <a:txBody>
                    <a:bodyPr wrap="square"/>
                    <a:lstStyle/>
                    <a:p>
                      <a:pPr algn="r"/>
                      <a:r>
                        <a:rPr sz="1087" b="0">
                          <a:solidFill>
                            <a:srgbClr val="22252B"/>
                          </a:solidFill>
                          <a:latin typeface="Arial"/>
                        </a:rPr>
                        <a:t>7,7 GW</a:t>
                      </a:r>
                    </a:p>
                  </a:txBody>
                  <a:tcPr marL="76200" marR="76200" marT="57150" marB="57150">
                    <a:solidFill>
                      <a:srgbClr val="FFFFFF"/>
                    </a:solidFill>
                  </a:tcPr>
                </a:tc>
                <a:tc>
                  <a:txBody>
                    <a:bodyPr wrap="square"/>
                    <a:lstStyle/>
                    <a:p>
                      <a:pPr algn="r"/>
                      <a:r>
                        <a:rPr sz="1087" b="0">
                          <a:solidFill>
                            <a:srgbClr val="22252B"/>
                          </a:solidFill>
                          <a:latin typeface="Arial"/>
                        </a:rPr>
                        <a:t>10,5 GW</a:t>
                      </a:r>
                    </a:p>
                  </a:txBody>
                  <a:tcPr marL="76200" marR="76200" marT="57150" marB="57150">
                    <a:solidFill>
                      <a:srgbClr val="FFFFFF"/>
                    </a:solidFill>
                  </a:tcPr>
                </a:tc>
              </a:tr>
              <a:tr h="515838">
                <a:tc>
                  <a:txBody>
                    <a:bodyPr wrap="square"/>
                    <a:lstStyle/>
                    <a:p>
                      <a:r>
                        <a:rPr sz="1087" b="0">
                          <a:solidFill>
                            <a:srgbClr val="22252B"/>
                          </a:solidFill>
                          <a:latin typeface="Arial"/>
                        </a:rPr>
                        <a:t>Éolien + solaire allemands / conso. allemande</a:t>
                      </a:r>
                    </a:p>
                  </a:txBody>
                  <a:tcPr marL="76200" marR="76200" marT="57150" marB="57150">
                    <a:solidFill>
                      <a:srgbClr val="FFFFFF"/>
                    </a:solidFill>
                  </a:tcPr>
                </a:tc>
                <a:tc>
                  <a:txBody>
                    <a:bodyPr wrap="square"/>
                    <a:lstStyle/>
                    <a:p>
                      <a:pPr algn="r"/>
                      <a:r>
                        <a:rPr sz="1087" b="0">
                          <a:solidFill>
                            <a:srgbClr val="22252B"/>
                          </a:solidFill>
                          <a:latin typeface="Arial"/>
                        </a:rPr>
                        <a:t>49 %</a:t>
                      </a:r>
                    </a:p>
                  </a:txBody>
                  <a:tcPr marL="76200" marR="76200" marT="57150" marB="57150">
                    <a:solidFill>
                      <a:srgbClr val="FFFFFF"/>
                    </a:solidFill>
                  </a:tcPr>
                </a:tc>
                <a:tc>
                  <a:txBody>
                    <a:bodyPr wrap="square"/>
                    <a:lstStyle/>
                    <a:p>
                      <a:pPr algn="r"/>
                      <a:r>
                        <a:rPr sz="1087" b="0">
                          <a:solidFill>
                            <a:srgbClr val="22252B"/>
                          </a:solidFill>
                          <a:latin typeface="Arial"/>
                        </a:rPr>
                        <a:t>43 %</a:t>
                      </a:r>
                    </a:p>
                  </a:txBody>
                  <a:tcPr marL="76200" marR="76200" marT="57150" marB="57150">
                    <a:solidFill>
                      <a:srgbClr val="FFFFFF"/>
                    </a:solidFill>
                  </a:tcPr>
                </a:tc>
              </a:tr>
              <a:tr h="319831">
                <a:tc>
                  <a:txBody>
                    <a:bodyPr wrap="square"/>
                    <a:lstStyle/>
                    <a:p>
                      <a:r>
                        <a:rPr sz="1087" b="0">
                          <a:solidFill>
                            <a:srgbClr val="22252B"/>
                          </a:solidFill>
                          <a:latin typeface="Arial"/>
                        </a:rPr>
                        <a:t>Prix France / Allemagne</a:t>
                      </a:r>
                    </a:p>
                  </a:txBody>
                  <a:tcPr marL="76200" marR="76200" marT="57150" marB="57150">
                    <a:solidFill>
                      <a:srgbClr val="FFFFFF"/>
                    </a:solidFill>
                  </a:tcPr>
                </a:tc>
                <a:tc>
                  <a:txBody>
                    <a:bodyPr wrap="square"/>
                    <a:lstStyle/>
                    <a:p>
                      <a:pPr algn="r"/>
                      <a:r>
                        <a:rPr sz="1087" b="0">
                          <a:solidFill>
                            <a:srgbClr val="22252B"/>
                          </a:solidFill>
                          <a:latin typeface="Arial"/>
                        </a:rPr>
                        <a:t>75 / 75 €</a:t>
                      </a:r>
                    </a:p>
                  </a:txBody>
                  <a:tcPr marL="76200" marR="76200" marT="57150" marB="57150">
                    <a:solidFill>
                      <a:srgbClr val="FFFFFF"/>
                    </a:solidFill>
                  </a:tcPr>
                </a:tc>
                <a:tc>
                  <a:txBody>
                    <a:bodyPr wrap="square"/>
                    <a:lstStyle/>
                    <a:p>
                      <a:pPr algn="r"/>
                    </a:p>
                  </a:txBody>
                  <a:tcPr marL="76200" marR="76200" marT="57150" marB="57150">
                    <a:solidFill>
                      <a:srgbClr val="FFFFFF"/>
                    </a:solidFill>
                  </a:tcPr>
                </a:tc>
              </a:tr>
            </a:tbl>
          </a:graphicData>
        </a:graphic>
      </p:graphicFrame>
      <p:sp>
        <p:nvSpPr>
          <p:cNvPr id="8" name="TextBox 7"/>
          <p:cNvSpPr txBox="1"/>
          <p:nvPr/>
        </p:nvSpPr>
        <p:spPr>
          <a:xfrm>
            <a:off x="6369992" y="4741961"/>
            <a:ext cx="5250507" cy="921543"/>
          </a:xfrm>
          <a:prstGeom prst="rect">
            <a:avLst/>
          </a:prstGeom>
          <a:solidFill>
            <a:srgbClr val="FBF6EA"/>
          </a:solidFill>
        </p:spPr>
        <p:txBody>
          <a:bodyPr wrap="square" lIns="133350" rIns="133350" tIns="95250" bIns="95250" anchor="t">
            <a:spAutoFit/>
          </a:bodyPr>
          <a:lstStyle/>
          <a:p>
            <a:r>
              <a:rPr sz="975" b="1">
                <a:solidFill>
                  <a:srgbClr val="22252B"/>
                </a:solidFill>
                <a:latin typeface="Arial"/>
              </a:rPr>
              <a:t>Heure typique : dimanche 16 mars 2025, 0 h–1 h.</a:t>
            </a:r>
            <a:r>
              <a:rPr sz="975" b="0">
                <a:solidFill>
                  <a:srgbClr val="22252B"/>
                </a:solidFill>
                <a:latin typeface="Arial"/>
              </a:rPr>
              <a:t> France 90,0 €, Allemagne 90,0 €, Belgique 90,0 €, Italie 111,1 €, Espagne 82,9 €. La France exporte 7,8 GW ; consommation 61,3 GW ; nucléaire 45,9 GW (sur 47,9 disponibles) ; éolien 10,3 GW, solaire 0,0 GW ; en Allemagne, éolien + solaire = 29 % de la consommation.</a:t>
            </a:r>
          </a:p>
        </p:txBody>
      </p:sp>
      <p:sp>
        <p:nvSpPr>
          <p:cNvPr id="9" name="TextBox 8"/>
          <p:cNvSpPr txBox="1"/>
          <p:nvPr/>
        </p:nvSpPr>
        <p:spPr>
          <a:xfrm>
            <a:off x="571500" y="5739705"/>
            <a:ext cx="11049000" cy="359568"/>
          </a:xfrm>
          <a:prstGeom prst="rect">
            <a:avLst/>
          </a:prstGeom>
          <a:noFill/>
        </p:spPr>
        <p:txBody>
          <a:bodyPr wrap="square" lIns="0" rIns="0" tIns="0" bIns="0" anchor="t">
            <a:spAutoFit/>
          </a:bodyPr>
          <a:lstStyle/>
          <a:p>
            <a:r>
              <a:rPr sz="937" b="0">
                <a:solidFill>
                  <a:srgbClr val="8A8F98"/>
                </a:solidFill>
                <a:latin typeface="Arial"/>
              </a:rPr>
              <a:t>Heure typique : l’heure de 2025 la plus proche des valeurs médianes du cas (prix France, prix Allemagne, exports). Heures en heure de Paris. Sources : ENTSO-E, RTE éCO2mix, Energy-Charts ; calcul PowerKlock (case_profiles.py).</a:t>
            </a:r>
          </a:p>
        </p:txBody>
      </p:sp>
      <p:sp>
        <p:nvSpPr>
          <p:cNvPr id="10" name="TextBox 9"/>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a:t>
            </a:r>
            <a:r>
              <a:rPr sz="900" b="0">
                <a:solidFill>
                  <a:srgbClr val="AAAAAA"/>
                </a:solidFill>
                <a:latin typeface="Arial"/>
              </a:rPr>
              <a:t> · couplage des marchés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CAS 2 · LE MÉCANISME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Cas 2 · Exportatrice, ligne saturée</a:t>
            </a:r>
          </a:p>
        </p:txBody>
      </p:sp>
      <p:pic>
        <p:nvPicPr>
          <p:cNvPr id="4" name="Picture 3" descr="image.png"/>
          <p:cNvPicPr>
            <a:picLocks noChangeAspect="1"/>
          </p:cNvPicPr>
          <p:nvPr/>
        </p:nvPicPr>
        <p:blipFill>
          <a:blip r:embed="rId2"/>
          <a:stretch>
            <a:fillRect/>
          </a:stretch>
        </p:blipFill>
        <p:spPr>
          <a:xfrm>
            <a:off x="571500" y="1101476"/>
            <a:ext cx="5512742" cy="3376166"/>
          </a:xfrm>
          <a:prstGeom prst="rect">
            <a:avLst/>
          </a:prstGeom>
        </p:spPr>
      </p:pic>
      <p:sp>
        <p:nvSpPr>
          <p:cNvPr id="5" name="TextBox 4"/>
          <p:cNvSpPr txBox="1"/>
          <p:nvPr/>
        </p:nvSpPr>
        <p:spPr>
          <a:xfrm>
            <a:off x="6369992" y="1249114"/>
            <a:ext cx="5250507" cy="666750"/>
          </a:xfrm>
          <a:prstGeom prst="rect">
            <a:avLst/>
          </a:prstGeom>
          <a:noFill/>
        </p:spPr>
        <p:txBody>
          <a:bodyPr wrap="square" lIns="0" rIns="0" tIns="0" bIns="0" anchor="t">
            <a:spAutoFit/>
          </a:bodyPr>
          <a:lstStyle/>
          <a:p>
            <a:r>
              <a:rPr sz="1162" b="1">
                <a:solidFill>
                  <a:srgbClr val="22252B"/>
                </a:solidFill>
                <a:latin typeface="Arial"/>
              </a:rPr>
              <a:t>Ce qui se passe.</a:t>
            </a:r>
            <a:r>
              <a:rPr sz="1162" b="0">
                <a:solidFill>
                  <a:srgbClr val="22252B"/>
                </a:solidFill>
                <a:latin typeface="Arial"/>
              </a:rPr>
              <a:t> Les voisins sont beaucoup plus chers (95 €). La France voudrait exporter 13 GW, la ligne n’en passe que 10. Son prix se lit sur sa propre courbe à « consommation + 10 GW » : </a:t>
            </a:r>
            <a:r>
              <a:rPr sz="1162" b="1">
                <a:solidFill>
                  <a:srgbClr val="22252B"/>
                </a:solidFill>
                <a:latin typeface="Arial"/>
              </a:rPr>
              <a:t>65 €</a:t>
            </a:r>
            <a:r>
              <a:rPr sz="1162" b="0">
                <a:solidFill>
                  <a:srgbClr val="22252B"/>
                </a:solidFill>
                <a:latin typeface="Arial"/>
              </a:rPr>
              <a:t>, bien sous les voisins.</a:t>
            </a:r>
          </a:p>
        </p:txBody>
      </p:sp>
      <p:graphicFrame>
        <p:nvGraphicFramePr>
          <p:cNvPr id="6" name="Table 5"/>
          <p:cNvGraphicFramePr>
            <a:graphicFrameLocks noGrp="1"/>
          </p:cNvGraphicFramePr>
          <p:nvPr/>
        </p:nvGraphicFramePr>
        <p:xfrm>
          <a:off x="6369992" y="2025401"/>
          <a:ext cx="5250507" cy="1508072"/>
        </p:xfrm>
        <a:graphic>
          <a:graphicData uri="http://schemas.openxmlformats.org/drawingml/2006/table">
            <a:tbl>
              <a:tblPr firstRow="0" bandRow="0">
                <a:tableStyleId>{5C22544A-7EE6-4342-B048-85BDC9FD1C3A}</a:tableStyleId>
              </a:tblPr>
              <a:tblGrid>
                <a:gridCol w="1155055"/>
                <a:gridCol w="4095452"/>
              </a:tblGrid>
              <a:tr h="415230">
                <a:tc>
                  <a:txBody>
                    <a:bodyPr wrap="square"/>
                    <a:lstStyle/>
                    <a:p>
                      <a:r>
                        <a:rPr sz="1012" b="1">
                          <a:solidFill>
                            <a:srgbClr val="7A5CC7"/>
                          </a:solidFill>
                          <a:latin typeface="Arial"/>
                        </a:rPr>
                        <a:t>Prix</a:t>
                      </a:r>
                    </a:p>
                  </a:txBody>
                  <a:tcPr marL="66675" marR="66675" marT="38100" marB="38100">
                    <a:solidFill>
                      <a:srgbClr val="F5F3FB"/>
                    </a:solidFill>
                  </a:tcPr>
                </a:tc>
                <a:tc>
                  <a:txBody>
                    <a:bodyPr wrap="square"/>
                    <a:lstStyle/>
                    <a:p>
                      <a:r>
                        <a:rPr sz="1012" b="1">
                          <a:solidFill>
                            <a:srgbClr val="22252B"/>
                          </a:solidFill>
                          <a:latin typeface="Arial"/>
                        </a:rPr>
                        <a:t>monte un peu</a:t>
                      </a:r>
                      <a:r>
                        <a:rPr sz="1012" b="0">
                          <a:solidFill>
                            <a:srgbClr val="22252B"/>
                          </a:solidFill>
                          <a:latin typeface="Arial"/>
                        </a:rPr>
                        <a:t> (les exports s’ajoutent à la consommation), </a:t>
                      </a:r>
                      <a:r>
                        <a:rPr sz="1012" b="1">
                          <a:solidFill>
                            <a:srgbClr val="22252B"/>
                          </a:solidFill>
                          <a:latin typeface="Arial"/>
                        </a:rPr>
                        <a:t>reste sous les voisins</a:t>
                      </a:r>
                      <a:r>
                        <a:rPr sz="1012" b="0">
                          <a:solidFill>
                            <a:srgbClr val="22252B"/>
                          </a:solidFill>
                          <a:latin typeface="Arial"/>
                        </a:rPr>
                        <a:t>. En 2025 : France 58 €, Allemagne 102 €</a:t>
                      </a:r>
                    </a:p>
                  </a:txBody>
                  <a:tcPr marL="66675" marR="66675" marT="38100" marB="38100">
                    <a:solidFill>
                      <a:srgbClr val="FFFFFF"/>
                    </a:solidFill>
                  </a:tcPr>
                </a:tc>
              </a:tr>
              <a:tr h="252858">
                <a:tc>
                  <a:txBody>
                    <a:bodyPr wrap="square"/>
                    <a:lstStyle/>
                    <a:p>
                      <a:r>
                        <a:rPr sz="1012" b="1">
                          <a:solidFill>
                            <a:srgbClr val="7A5CC7"/>
                          </a:solidFill>
                          <a:latin typeface="Arial"/>
                        </a:rPr>
                        <a:t>Fréquence</a:t>
                      </a:r>
                    </a:p>
                  </a:txBody>
                  <a:tcPr marL="66675" marR="66675" marT="38100" marB="38100">
                    <a:solidFill>
                      <a:srgbClr val="F5F3FB"/>
                    </a:solidFill>
                  </a:tcPr>
                </a:tc>
                <a:tc>
                  <a:txBody>
                    <a:bodyPr wrap="square"/>
                    <a:lstStyle/>
                    <a:p>
                      <a:r>
                        <a:rPr sz="1012" b="1">
                          <a:solidFill>
                            <a:srgbClr val="22252B"/>
                          </a:solidFill>
                          <a:latin typeface="Arial"/>
                        </a:rPr>
                        <a:t>66 % du temps en 2025</a:t>
                      </a:r>
                      <a:r>
                        <a:rPr sz="1012" b="0">
                          <a:solidFill>
                            <a:srgbClr val="22252B"/>
                          </a:solidFill>
                          <a:latin typeface="Arial"/>
                        </a:rPr>
                        <a:t> ; 1 à 16 % de 2015 à 2022</a:t>
                      </a:r>
                    </a:p>
                  </a:txBody>
                  <a:tcPr marL="66675" marR="66675" marT="38100" marB="38100">
                    <a:solidFill>
                      <a:srgbClr val="FFFFFF"/>
                    </a:solidFill>
                  </a:tcPr>
                </a:tc>
              </a:tr>
              <a:tr h="419992">
                <a:tc>
                  <a:txBody>
                    <a:bodyPr wrap="square"/>
                    <a:lstStyle/>
                    <a:p>
                      <a:r>
                        <a:rPr sz="1012" b="1">
                          <a:solidFill>
                            <a:srgbClr val="7A5CC7"/>
                          </a:solidFill>
                          <a:latin typeface="Arial"/>
                        </a:rPr>
                        <a:t>Sécurité</a:t>
                      </a:r>
                    </a:p>
                  </a:txBody>
                  <a:tcPr marL="66675" marR="66675" marT="38100" marB="38100">
                    <a:solidFill>
                      <a:srgbClr val="F5F3FB"/>
                    </a:solidFill>
                  </a:tcPr>
                </a:tc>
                <a:tc>
                  <a:txBody>
                    <a:bodyPr wrap="square"/>
                    <a:lstStyle/>
                    <a:p>
                      <a:r>
                        <a:rPr sz="1012" b="0">
                          <a:solidFill>
                            <a:srgbClr val="22252B"/>
                          </a:solidFill>
                          <a:latin typeface="Arial"/>
                        </a:rPr>
                        <a:t>aucune tension ; 12,0 GW exportés en moyenne, un surplus que la France seule devrait écrêter</a:t>
                      </a:r>
                    </a:p>
                  </a:txBody>
                  <a:tcPr marL="66675" marR="66675" marT="38100" marB="38100">
                    <a:solidFill>
                      <a:srgbClr val="FFFFFF"/>
                    </a:solidFill>
                  </a:tcPr>
                </a:tc>
              </a:tr>
              <a:tr h="419992">
                <a:tc>
                  <a:txBody>
                    <a:bodyPr wrap="square"/>
                    <a:lstStyle/>
                    <a:p>
                      <a:r>
                        <a:rPr sz="1012" b="1">
                          <a:solidFill>
                            <a:srgbClr val="7A5CC7"/>
                          </a:solidFill>
                          <a:latin typeface="Arial"/>
                        </a:rPr>
                        <a:t>Réseau</a:t>
                      </a:r>
                    </a:p>
                  </a:txBody>
                  <a:tcPr marL="66675" marR="66675" marT="38100" marB="38100">
                    <a:solidFill>
                      <a:srgbClr val="F5F3FB"/>
                    </a:solidFill>
                  </a:tcPr>
                </a:tc>
                <a:tc>
                  <a:txBody>
                    <a:bodyPr wrap="square"/>
                    <a:lstStyle/>
                    <a:p>
                      <a:r>
                        <a:rPr sz="1012" b="0">
                          <a:solidFill>
                            <a:srgbClr val="22252B"/>
                          </a:solidFill>
                          <a:latin typeface="Arial"/>
                        </a:rPr>
                        <a:t>l’écart de prix sur la ligne pleine devient rente : </a:t>
                      </a:r>
                      <a:r>
                        <a:rPr sz="1012" b="1">
                          <a:solidFill>
                            <a:srgbClr val="22252B"/>
                          </a:solidFill>
                          <a:latin typeface="Arial"/>
                        </a:rPr>
                        <a:t>3,6 Md€</a:t>
                      </a:r>
                      <a:r>
                        <a:rPr sz="1012" b="0">
                          <a:solidFill>
                            <a:srgbClr val="22252B"/>
                          </a:solidFill>
                          <a:latin typeface="Arial"/>
                        </a:rPr>
                        <a:t> en 2025 (deux côtés), moitié RTE en principe, excédent déduit du TURPE</a:t>
                      </a:r>
                    </a:p>
                  </a:txBody>
                  <a:tcPr marL="66675" marR="66675" marT="38100" marB="38100">
                    <a:solidFill>
                      <a:srgbClr val="FFFFFF"/>
                    </a:solidFill>
                  </a:tcPr>
                </a:tc>
              </a:tr>
            </a:tbl>
          </a:graphicData>
        </a:graphic>
      </p:graphicFrame>
      <p:sp>
        <p:nvSpPr>
          <p:cNvPr id="7" name="TextBox 6"/>
          <p:cNvSpPr txBox="1"/>
          <p:nvPr/>
        </p:nvSpPr>
        <p:spPr>
          <a:xfrm>
            <a:off x="571500" y="4663826"/>
            <a:ext cx="11049000" cy="520303"/>
          </a:xfrm>
          <a:prstGeom prst="rect">
            <a:avLst/>
          </a:prstGeom>
          <a:noFill/>
        </p:spPr>
        <p:txBody>
          <a:bodyPr wrap="square" lIns="0" rIns="0" tIns="0" bIns="0" anchor="t">
            <a:spAutoFit/>
          </a:bodyPr>
          <a:lstStyle/>
          <a:p>
            <a:r>
              <a:rPr sz="937" b="0">
                <a:solidFill>
                  <a:srgbClr val="8A8F98"/>
                </a:solidFill>
                <a:latin typeface="Arial"/>
              </a:rPr>
              <a:t>Merit order simplifié, identique sur tous les dessins : parc et prix illustratifs. Point rouge : prix de la France, lu sur la production française ; point blanc : prix de la France seule (50 €). Les vrais chiffres sont dans les tableaux (ENTSO-E, Energy-Charts, RTE ; calcul PowerKlock). Ligne pas saturée = prix France égal à ceux de la Belgique et de l’Allemagne (au centime) ; saturée = France moins chère (exportatrice) ou plus chère (importatrice) que les deux ; exportatrice / importatrice = signe des échanges commerciaux.</a:t>
            </a:r>
          </a:p>
        </p:txBody>
      </p:sp>
      <p:sp>
        <p:nvSpPr>
          <p:cNvPr id="8" name="TextBox 7"/>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a:t>
            </a:r>
            <a:r>
              <a:rPr sz="900" b="0">
                <a:solidFill>
                  <a:srgbClr val="AAAAAA"/>
                </a:solidFill>
                <a:latin typeface="Arial"/>
              </a:rPr>
              <a:t> · couplage des marchés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CAS 2 · EN VRAI</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Cas 2 · Exportatrice, ligne saturée : quand ça arrive</a:t>
            </a:r>
          </a:p>
        </p:txBody>
      </p:sp>
      <p:pic>
        <p:nvPicPr>
          <p:cNvPr id="4" name="Picture 3" descr="image.png"/>
          <p:cNvPicPr>
            <a:picLocks noChangeAspect="1"/>
          </p:cNvPicPr>
          <p:nvPr/>
        </p:nvPicPr>
        <p:blipFill>
          <a:blip r:embed="rId2"/>
          <a:stretch>
            <a:fillRect/>
          </a:stretch>
        </p:blipFill>
        <p:spPr>
          <a:xfrm>
            <a:off x="571500" y="1101476"/>
            <a:ext cx="5512742" cy="2508349"/>
          </a:xfrm>
          <a:prstGeom prst="rect">
            <a:avLst/>
          </a:prstGeom>
        </p:spPr>
      </p:pic>
      <p:pic>
        <p:nvPicPr>
          <p:cNvPr id="5" name="Picture 4" descr="image.png"/>
          <p:cNvPicPr>
            <a:picLocks noChangeAspect="1"/>
          </p:cNvPicPr>
          <p:nvPr/>
        </p:nvPicPr>
        <p:blipFill>
          <a:blip r:embed="rId3"/>
          <a:stretch>
            <a:fillRect/>
          </a:stretch>
        </p:blipFill>
        <p:spPr>
          <a:xfrm>
            <a:off x="571500" y="3738860"/>
            <a:ext cx="5512742" cy="1735782"/>
          </a:xfrm>
          <a:prstGeom prst="rect">
            <a:avLst/>
          </a:prstGeom>
        </p:spPr>
      </p:pic>
      <p:sp>
        <p:nvSpPr>
          <p:cNvPr id="6" name="TextBox 5"/>
          <p:cNvSpPr txBox="1"/>
          <p:nvPr/>
        </p:nvSpPr>
        <p:spPr>
          <a:xfrm>
            <a:off x="6369992" y="1101476"/>
            <a:ext cx="5250507" cy="876300"/>
          </a:xfrm>
          <a:prstGeom prst="rect">
            <a:avLst/>
          </a:prstGeom>
          <a:noFill/>
        </p:spPr>
        <p:txBody>
          <a:bodyPr wrap="square" lIns="0" rIns="0" tIns="0" bIns="0" anchor="t">
            <a:spAutoFit/>
          </a:bodyPr>
          <a:lstStyle/>
          <a:p>
            <a:r>
              <a:rPr sz="1162" b="0">
                <a:solidFill>
                  <a:srgbClr val="22252B"/>
                </a:solidFill>
                <a:latin typeface="Arial"/>
              </a:rPr>
              <a:t>Surtout </a:t>
            </a:r>
            <a:r>
              <a:rPr sz="1162" b="1">
                <a:solidFill>
                  <a:srgbClr val="22252B"/>
                </a:solidFill>
                <a:latin typeface="Arial"/>
              </a:rPr>
              <a:t>le soir et la nuit</a:t>
            </a:r>
            <a:r>
              <a:rPr sz="1162" b="0">
                <a:solidFill>
                  <a:srgbClr val="22252B"/>
                </a:solidFill>
                <a:latin typeface="Arial"/>
              </a:rPr>
              <a:t> (4 h, 6 h, 17 h, 18 h), quand le solaire allemand s’arrête et que le gaz fixe le prix allemand, et en nov., avr., sept. Il domine depuis 2024 : nucléaire revenu, consommation basse, limite d’export Core plus basse (9,2 GW en 2023, 5,4 GW en 2025, JAO).</a:t>
            </a:r>
          </a:p>
        </p:txBody>
      </p:sp>
      <p:graphicFrame>
        <p:nvGraphicFramePr>
          <p:cNvPr id="7" name="Table 6"/>
          <p:cNvGraphicFramePr>
            <a:graphicFrameLocks noGrp="1"/>
          </p:cNvGraphicFramePr>
          <p:nvPr/>
        </p:nvGraphicFramePr>
        <p:xfrm>
          <a:off x="6369992" y="2015876"/>
          <a:ext cx="5250506" cy="2626068"/>
        </p:xfrm>
        <a:graphic>
          <a:graphicData uri="http://schemas.openxmlformats.org/drawingml/2006/table">
            <a:tbl>
              <a:tblPr firstRow="0" bandRow="0">
                <a:tableStyleId>{5C22544A-7EE6-4342-B048-85BDC9FD1C3A}</a:tableStyleId>
              </a:tblPr>
              <a:tblGrid>
                <a:gridCol w="2885033"/>
                <a:gridCol w="931068"/>
                <a:gridCol w="1434405"/>
              </a:tblGrid>
              <a:tr h="511075">
                <a:tc>
                  <a:txBody>
                    <a:bodyPr wrap="square"/>
                    <a:lstStyle/>
                    <a:p>
                      <a:r>
                        <a:rPr sz="1087" b="1">
                          <a:solidFill>
                            <a:srgbClr val="22252B"/>
                          </a:solidFill>
                          <a:latin typeface="Arial"/>
                        </a:rPr>
                        <a:t>2025</a:t>
                      </a:r>
                    </a:p>
                  </a:txBody>
                  <a:tcPr marL="76200" marR="76200" marT="57150" marB="57150">
                    <a:solidFill>
                      <a:srgbClr val="F5F3FB"/>
                    </a:solidFill>
                  </a:tcPr>
                </a:tc>
                <a:tc>
                  <a:txBody>
                    <a:bodyPr wrap="square"/>
                    <a:lstStyle/>
                    <a:p>
                      <a:pPr algn="r"/>
                      <a:r>
                        <a:rPr sz="1087" b="1">
                          <a:solidFill>
                            <a:srgbClr val="22252B"/>
                          </a:solidFill>
                          <a:latin typeface="Arial"/>
                        </a:rPr>
                        <a:t>Dans ce cas</a:t>
                      </a:r>
                    </a:p>
                  </a:txBody>
                  <a:tcPr marL="76200" marR="76200" marT="57150" marB="57150">
                    <a:solidFill>
                      <a:srgbClr val="F5F3FB"/>
                    </a:solidFill>
                  </a:tcPr>
                </a:tc>
                <a:tc>
                  <a:txBody>
                    <a:bodyPr wrap="square"/>
                    <a:lstStyle/>
                    <a:p>
                      <a:pPr algn="r"/>
                      <a:r>
                        <a:rPr sz="1087" b="1">
                          <a:solidFill>
                            <a:srgbClr val="22252B"/>
                          </a:solidFill>
                          <a:latin typeface="Arial"/>
                        </a:rPr>
                        <a:t>Moyenne de l’année</a:t>
                      </a:r>
                    </a:p>
                  </a:txBody>
                  <a:tcPr marL="76200" marR="76200" marT="57150" marB="57150">
                    <a:solidFill>
                      <a:srgbClr val="F5F3FB"/>
                    </a:solidFill>
                  </a:tcPr>
                </a:tc>
              </a:tr>
              <a:tr h="319831">
                <a:tc>
                  <a:txBody>
                    <a:bodyPr wrap="square"/>
                    <a:lstStyle/>
                    <a:p>
                      <a:r>
                        <a:rPr sz="1087" b="0">
                          <a:solidFill>
                            <a:srgbClr val="22252B"/>
                          </a:solidFill>
                          <a:latin typeface="Arial"/>
                        </a:rPr>
                        <a:t>Consommation française</a:t>
                      </a:r>
                    </a:p>
                  </a:txBody>
                  <a:tcPr marL="76200" marR="76200" marT="57150" marB="57150">
                    <a:solidFill>
                      <a:srgbClr val="FFFFFF"/>
                    </a:solidFill>
                  </a:tcPr>
                </a:tc>
                <a:tc>
                  <a:txBody>
                    <a:bodyPr wrap="square"/>
                    <a:lstStyle/>
                    <a:p>
                      <a:pPr algn="r"/>
                      <a:r>
                        <a:rPr sz="1087" b="0">
                          <a:solidFill>
                            <a:srgbClr val="22252B"/>
                          </a:solidFill>
                          <a:latin typeface="Arial"/>
                        </a:rPr>
                        <a:t>48,6 GW</a:t>
                      </a:r>
                    </a:p>
                  </a:txBody>
                  <a:tcPr marL="76200" marR="76200" marT="57150" marB="57150">
                    <a:solidFill>
                      <a:srgbClr val="FFFFFF"/>
                    </a:solidFill>
                  </a:tcPr>
                </a:tc>
                <a:tc>
                  <a:txBody>
                    <a:bodyPr wrap="square"/>
                    <a:lstStyle/>
                    <a:p>
                      <a:pPr algn="r"/>
                      <a:r>
                        <a:rPr sz="1087" b="0">
                          <a:solidFill>
                            <a:srgbClr val="22252B"/>
                          </a:solidFill>
                          <a:latin typeface="Arial"/>
                        </a:rPr>
                        <a:t>50,7 GW</a:t>
                      </a:r>
                    </a:p>
                  </a:txBody>
                  <a:tcPr marL="76200" marR="76200" marT="57150" marB="57150">
                    <a:solidFill>
                      <a:srgbClr val="FFFFFF"/>
                    </a:solidFill>
                  </a:tcPr>
                </a:tc>
              </a:tr>
              <a:tr h="319831">
                <a:tc>
                  <a:txBody>
                    <a:bodyPr wrap="square"/>
                    <a:lstStyle/>
                    <a:p>
                      <a:r>
                        <a:rPr sz="1087" b="0">
                          <a:solidFill>
                            <a:srgbClr val="22252B"/>
                          </a:solidFill>
                          <a:latin typeface="Arial"/>
                        </a:rPr>
                        <a:t>Nucléaire produit</a:t>
                      </a:r>
                    </a:p>
                  </a:txBody>
                  <a:tcPr marL="76200" marR="76200" marT="57150" marB="57150">
                    <a:solidFill>
                      <a:srgbClr val="FFFFFF"/>
                    </a:solidFill>
                  </a:tcPr>
                </a:tc>
                <a:tc>
                  <a:txBody>
                    <a:bodyPr wrap="square"/>
                    <a:lstStyle/>
                    <a:p>
                      <a:pPr algn="r"/>
                      <a:r>
                        <a:rPr sz="1087" b="0">
                          <a:solidFill>
                            <a:srgbClr val="22252B"/>
                          </a:solidFill>
                          <a:latin typeface="Arial"/>
                        </a:rPr>
                        <a:t>42,7 GW</a:t>
                      </a:r>
                    </a:p>
                  </a:txBody>
                  <a:tcPr marL="76200" marR="76200" marT="57150" marB="57150">
                    <a:solidFill>
                      <a:srgbClr val="FFFFFF"/>
                    </a:solidFill>
                  </a:tcPr>
                </a:tc>
                <a:tc>
                  <a:txBody>
                    <a:bodyPr wrap="square"/>
                    <a:lstStyle/>
                    <a:p>
                      <a:pPr algn="r"/>
                      <a:r>
                        <a:rPr sz="1087" b="0">
                          <a:solidFill>
                            <a:srgbClr val="22252B"/>
                          </a:solidFill>
                          <a:latin typeface="Arial"/>
                        </a:rPr>
                        <a:t>42,6 GW</a:t>
                      </a:r>
                    </a:p>
                  </a:txBody>
                  <a:tcPr marL="76200" marR="76200" marT="57150" marB="57150">
                    <a:solidFill>
                      <a:srgbClr val="FFFFFF"/>
                    </a:solidFill>
                  </a:tcPr>
                </a:tc>
              </a:tr>
              <a:tr h="319831">
                <a:tc>
                  <a:txBody>
                    <a:bodyPr wrap="square"/>
                    <a:lstStyle/>
                    <a:p>
                      <a:r>
                        <a:rPr sz="1087" b="0">
                          <a:solidFill>
                            <a:srgbClr val="22252B"/>
                          </a:solidFill>
                          <a:latin typeface="Arial"/>
                        </a:rPr>
                        <a:t>Éolien + solaire français</a:t>
                      </a:r>
                    </a:p>
                  </a:txBody>
                  <a:tcPr marL="76200" marR="76200" marT="57150" marB="57150">
                    <a:solidFill>
                      <a:srgbClr val="FFFFFF"/>
                    </a:solidFill>
                  </a:tcPr>
                </a:tc>
                <a:tc>
                  <a:txBody>
                    <a:bodyPr wrap="square"/>
                    <a:lstStyle/>
                    <a:p>
                      <a:pPr algn="r"/>
                      <a:r>
                        <a:rPr sz="1087" b="0">
                          <a:solidFill>
                            <a:srgbClr val="22252B"/>
                          </a:solidFill>
                          <a:latin typeface="Arial"/>
                        </a:rPr>
                        <a:t>9,0 GW</a:t>
                      </a:r>
                    </a:p>
                  </a:txBody>
                  <a:tcPr marL="76200" marR="76200" marT="57150" marB="57150">
                    <a:solidFill>
                      <a:srgbClr val="FFFFFF"/>
                    </a:solidFill>
                  </a:tcPr>
                </a:tc>
                <a:tc>
                  <a:txBody>
                    <a:bodyPr wrap="square"/>
                    <a:lstStyle/>
                    <a:p>
                      <a:pPr algn="r"/>
                      <a:r>
                        <a:rPr sz="1087" b="0">
                          <a:solidFill>
                            <a:srgbClr val="22252B"/>
                          </a:solidFill>
                          <a:latin typeface="Arial"/>
                        </a:rPr>
                        <a:t>9,4 GW</a:t>
                      </a:r>
                    </a:p>
                  </a:txBody>
                  <a:tcPr marL="76200" marR="76200" marT="57150" marB="57150">
                    <a:solidFill>
                      <a:srgbClr val="FFFFFF"/>
                    </a:solidFill>
                  </a:tcPr>
                </a:tc>
              </a:tr>
              <a:tr h="319831">
                <a:tc>
                  <a:txBody>
                    <a:bodyPr wrap="square"/>
                    <a:lstStyle/>
                    <a:p>
                      <a:r>
                        <a:rPr sz="1087" b="0">
                          <a:solidFill>
                            <a:srgbClr val="22252B"/>
                          </a:solidFill>
                          <a:latin typeface="Arial"/>
                        </a:rPr>
                        <a:t>Exports nets</a:t>
                      </a:r>
                    </a:p>
                  </a:txBody>
                  <a:tcPr marL="76200" marR="76200" marT="57150" marB="57150">
                    <a:solidFill>
                      <a:srgbClr val="FFFFFF"/>
                    </a:solidFill>
                  </a:tcPr>
                </a:tc>
                <a:tc>
                  <a:txBody>
                    <a:bodyPr wrap="square"/>
                    <a:lstStyle/>
                    <a:p>
                      <a:pPr algn="r"/>
                      <a:r>
                        <a:rPr sz="1087" b="0">
                          <a:solidFill>
                            <a:srgbClr val="22252B"/>
                          </a:solidFill>
                          <a:latin typeface="Arial"/>
                        </a:rPr>
                        <a:t>12,0 GW</a:t>
                      </a:r>
                    </a:p>
                  </a:txBody>
                  <a:tcPr marL="76200" marR="76200" marT="57150" marB="57150">
                    <a:solidFill>
                      <a:srgbClr val="FFFFFF"/>
                    </a:solidFill>
                  </a:tcPr>
                </a:tc>
                <a:tc>
                  <a:txBody>
                    <a:bodyPr wrap="square"/>
                    <a:lstStyle/>
                    <a:p>
                      <a:pPr algn="r"/>
                      <a:r>
                        <a:rPr sz="1087" b="0">
                          <a:solidFill>
                            <a:srgbClr val="22252B"/>
                          </a:solidFill>
                          <a:latin typeface="Arial"/>
                        </a:rPr>
                        <a:t>10,5 GW</a:t>
                      </a:r>
                    </a:p>
                  </a:txBody>
                  <a:tcPr marL="76200" marR="76200" marT="57150" marB="57150">
                    <a:solidFill>
                      <a:srgbClr val="FFFFFF"/>
                    </a:solidFill>
                  </a:tcPr>
                </a:tc>
              </a:tr>
              <a:tr h="515838">
                <a:tc>
                  <a:txBody>
                    <a:bodyPr wrap="square"/>
                    <a:lstStyle/>
                    <a:p>
                      <a:r>
                        <a:rPr sz="1087" b="0">
                          <a:solidFill>
                            <a:srgbClr val="22252B"/>
                          </a:solidFill>
                          <a:latin typeface="Arial"/>
                        </a:rPr>
                        <a:t>Éolien + solaire allemands / conso. allemande</a:t>
                      </a:r>
                    </a:p>
                  </a:txBody>
                  <a:tcPr marL="76200" marR="76200" marT="57150" marB="57150">
                    <a:solidFill>
                      <a:srgbClr val="FFFFFF"/>
                    </a:solidFill>
                  </a:tcPr>
                </a:tc>
                <a:tc>
                  <a:txBody>
                    <a:bodyPr wrap="square"/>
                    <a:lstStyle/>
                    <a:p>
                      <a:pPr algn="r"/>
                      <a:r>
                        <a:rPr sz="1087" b="0">
                          <a:solidFill>
                            <a:srgbClr val="22252B"/>
                          </a:solidFill>
                          <a:latin typeface="Arial"/>
                        </a:rPr>
                        <a:t>36 %</a:t>
                      </a:r>
                    </a:p>
                  </a:txBody>
                  <a:tcPr marL="76200" marR="76200" marT="57150" marB="57150">
                    <a:solidFill>
                      <a:srgbClr val="FFFFFF"/>
                    </a:solidFill>
                  </a:tcPr>
                </a:tc>
                <a:tc>
                  <a:txBody>
                    <a:bodyPr wrap="square"/>
                    <a:lstStyle/>
                    <a:p>
                      <a:pPr algn="r"/>
                      <a:r>
                        <a:rPr sz="1087" b="0">
                          <a:solidFill>
                            <a:srgbClr val="22252B"/>
                          </a:solidFill>
                          <a:latin typeface="Arial"/>
                        </a:rPr>
                        <a:t>43 %</a:t>
                      </a:r>
                    </a:p>
                  </a:txBody>
                  <a:tcPr marL="76200" marR="76200" marT="57150" marB="57150">
                    <a:solidFill>
                      <a:srgbClr val="FFFFFF"/>
                    </a:solidFill>
                  </a:tcPr>
                </a:tc>
              </a:tr>
              <a:tr h="319831">
                <a:tc>
                  <a:txBody>
                    <a:bodyPr wrap="square"/>
                    <a:lstStyle/>
                    <a:p>
                      <a:r>
                        <a:rPr sz="1087" b="0">
                          <a:solidFill>
                            <a:srgbClr val="22252B"/>
                          </a:solidFill>
                          <a:latin typeface="Arial"/>
                        </a:rPr>
                        <a:t>Prix France / Allemagne</a:t>
                      </a:r>
                    </a:p>
                  </a:txBody>
                  <a:tcPr marL="76200" marR="76200" marT="57150" marB="57150">
                    <a:solidFill>
                      <a:srgbClr val="FFFFFF"/>
                    </a:solidFill>
                  </a:tcPr>
                </a:tc>
                <a:tc>
                  <a:txBody>
                    <a:bodyPr wrap="square"/>
                    <a:lstStyle/>
                    <a:p>
                      <a:pPr algn="r"/>
                      <a:r>
                        <a:rPr sz="1087" b="0">
                          <a:solidFill>
                            <a:srgbClr val="22252B"/>
                          </a:solidFill>
                          <a:latin typeface="Arial"/>
                        </a:rPr>
                        <a:t>58 / 103 €</a:t>
                      </a:r>
                    </a:p>
                  </a:txBody>
                  <a:tcPr marL="76200" marR="76200" marT="57150" marB="57150">
                    <a:solidFill>
                      <a:srgbClr val="FFFFFF"/>
                    </a:solidFill>
                  </a:tcPr>
                </a:tc>
                <a:tc>
                  <a:txBody>
                    <a:bodyPr wrap="square"/>
                    <a:lstStyle/>
                    <a:p>
                      <a:pPr algn="r"/>
                    </a:p>
                  </a:txBody>
                  <a:tcPr marL="76200" marR="76200" marT="57150" marB="57150">
                    <a:solidFill>
                      <a:srgbClr val="FFFFFF"/>
                    </a:solidFill>
                  </a:tcPr>
                </a:tc>
              </a:tr>
            </a:tbl>
          </a:graphicData>
        </a:graphic>
      </p:graphicFrame>
      <p:sp>
        <p:nvSpPr>
          <p:cNvPr id="8" name="TextBox 7"/>
          <p:cNvSpPr txBox="1"/>
          <p:nvPr/>
        </p:nvSpPr>
        <p:spPr>
          <a:xfrm>
            <a:off x="6369992" y="4741961"/>
            <a:ext cx="5250507" cy="921543"/>
          </a:xfrm>
          <a:prstGeom prst="rect">
            <a:avLst/>
          </a:prstGeom>
          <a:solidFill>
            <a:srgbClr val="FBF6EA"/>
          </a:solidFill>
        </p:spPr>
        <p:txBody>
          <a:bodyPr wrap="square" lIns="133350" rIns="133350" tIns="95250" bIns="95250" anchor="t">
            <a:spAutoFit/>
          </a:bodyPr>
          <a:lstStyle/>
          <a:p>
            <a:r>
              <a:rPr sz="975" b="1">
                <a:solidFill>
                  <a:srgbClr val="22252B"/>
                </a:solidFill>
                <a:latin typeface="Arial"/>
              </a:rPr>
              <a:t>Heure typique : mardi 29 avril 2025, 23 h–24 h.</a:t>
            </a:r>
            <a:r>
              <a:rPr sz="975" b="0">
                <a:solidFill>
                  <a:srgbClr val="22252B"/>
                </a:solidFill>
                <a:latin typeface="Arial"/>
              </a:rPr>
              <a:t> France 52,5 €, Allemagne 97,8 €, Belgique 96,5 €, Italie 98,9 €, Espagne 17,9 €. La France exporte 11,8 GW ; consommation 45,0 GW ; nucléaire 36,9 GW (sur 40,3 disponibles) ; éolien 7,5 GW, solaire 0,0 GW ; en Allemagne, éolien + solaire = 15 % de la consommation.</a:t>
            </a:r>
          </a:p>
        </p:txBody>
      </p:sp>
      <p:sp>
        <p:nvSpPr>
          <p:cNvPr id="9" name="TextBox 8"/>
          <p:cNvSpPr txBox="1"/>
          <p:nvPr/>
        </p:nvSpPr>
        <p:spPr>
          <a:xfrm>
            <a:off x="571500" y="5739705"/>
            <a:ext cx="11049000" cy="359568"/>
          </a:xfrm>
          <a:prstGeom prst="rect">
            <a:avLst/>
          </a:prstGeom>
          <a:noFill/>
        </p:spPr>
        <p:txBody>
          <a:bodyPr wrap="square" lIns="0" rIns="0" tIns="0" bIns="0" anchor="t">
            <a:spAutoFit/>
          </a:bodyPr>
          <a:lstStyle/>
          <a:p>
            <a:r>
              <a:rPr sz="937" b="0">
                <a:solidFill>
                  <a:srgbClr val="8A8F98"/>
                </a:solidFill>
                <a:latin typeface="Arial"/>
              </a:rPr>
              <a:t>Heure typique : l’heure de 2025 la plus proche des valeurs médianes du cas (prix France, prix Allemagne, exports). Heures en heure de Paris. Sources : ENTSO-E, RTE éCO2mix, Energy-Charts ; calcul PowerKlock (case_profiles.py).</a:t>
            </a:r>
          </a:p>
        </p:txBody>
      </p:sp>
      <p:sp>
        <p:nvSpPr>
          <p:cNvPr id="10" name="TextBox 9"/>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a:t>
            </a:r>
            <a:r>
              <a:rPr sz="900" b="0">
                <a:solidFill>
                  <a:srgbClr val="AAAAAA"/>
                </a:solidFill>
                <a:latin typeface="Arial"/>
              </a:rPr>
              <a:t> · couplage des marchés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CAS 3 · LE MÉCANISME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Cas 3 · Importatrice, ligne pas saturée</a:t>
            </a:r>
          </a:p>
        </p:txBody>
      </p:sp>
      <p:pic>
        <p:nvPicPr>
          <p:cNvPr id="4" name="Picture 3" descr="image.png"/>
          <p:cNvPicPr>
            <a:picLocks noChangeAspect="1"/>
          </p:cNvPicPr>
          <p:nvPr/>
        </p:nvPicPr>
        <p:blipFill>
          <a:blip r:embed="rId2"/>
          <a:stretch>
            <a:fillRect/>
          </a:stretch>
        </p:blipFill>
        <p:spPr>
          <a:xfrm>
            <a:off x="571500" y="1101476"/>
            <a:ext cx="5512742" cy="3376166"/>
          </a:xfrm>
          <a:prstGeom prst="rect">
            <a:avLst/>
          </a:prstGeom>
        </p:spPr>
      </p:pic>
      <p:sp>
        <p:nvSpPr>
          <p:cNvPr id="5" name="TextBox 4"/>
          <p:cNvSpPr txBox="1"/>
          <p:nvPr/>
        </p:nvSpPr>
        <p:spPr>
          <a:xfrm>
            <a:off x="6369992" y="1249114"/>
            <a:ext cx="5250507" cy="876300"/>
          </a:xfrm>
          <a:prstGeom prst="rect">
            <a:avLst/>
          </a:prstGeom>
          <a:noFill/>
        </p:spPr>
        <p:txBody>
          <a:bodyPr wrap="square" lIns="0" rIns="0" tIns="0" bIns="0" anchor="t">
            <a:spAutoFit/>
          </a:bodyPr>
          <a:lstStyle/>
          <a:p>
            <a:r>
              <a:rPr sz="1162" b="1">
                <a:solidFill>
                  <a:srgbClr val="22252B"/>
                </a:solidFill>
                <a:latin typeface="Arial"/>
              </a:rPr>
              <a:t>Ce qui se passe.</a:t>
            </a:r>
            <a:r>
              <a:rPr sz="1162" b="0">
                <a:solidFill>
                  <a:srgbClr val="22252B"/>
                </a:solidFill>
                <a:latin typeface="Arial"/>
              </a:rPr>
              <a:t> Les voisins sont un peu moins chers (45 €) que la France seule (50 €). La France importe jusqu’à ce que son prix rejoigne le leur : 5 GW suffisent. Les imports remplacent ses centrales les plus chères. </a:t>
            </a:r>
            <a:r>
              <a:rPr sz="1162" b="1">
                <a:solidFill>
                  <a:srgbClr val="22252B"/>
                </a:solidFill>
                <a:latin typeface="Arial"/>
              </a:rPr>
              <a:t>Un seul prix pour tous.</a:t>
            </a:r>
          </a:p>
        </p:txBody>
      </p:sp>
      <p:graphicFrame>
        <p:nvGraphicFramePr>
          <p:cNvPr id="6" name="Table 5"/>
          <p:cNvGraphicFramePr>
            <a:graphicFrameLocks noGrp="1"/>
          </p:cNvGraphicFramePr>
          <p:nvPr/>
        </p:nvGraphicFramePr>
        <p:xfrm>
          <a:off x="6369992" y="2234951"/>
          <a:ext cx="5250507" cy="1508072"/>
        </p:xfrm>
        <a:graphic>
          <a:graphicData uri="http://schemas.openxmlformats.org/drawingml/2006/table">
            <a:tbl>
              <a:tblPr firstRow="0" bandRow="0">
                <a:tableStyleId>{5C22544A-7EE6-4342-B048-85BDC9FD1C3A}</a:tableStyleId>
              </a:tblPr>
              <a:tblGrid>
                <a:gridCol w="1155055"/>
                <a:gridCol w="4095452"/>
              </a:tblGrid>
              <a:tr h="415230">
                <a:tc>
                  <a:txBody>
                    <a:bodyPr wrap="square"/>
                    <a:lstStyle/>
                    <a:p>
                      <a:r>
                        <a:rPr sz="1012" b="1">
                          <a:solidFill>
                            <a:srgbClr val="7A5CC7"/>
                          </a:solidFill>
                          <a:latin typeface="Arial"/>
                        </a:rPr>
                        <a:t>Prix</a:t>
                      </a:r>
                    </a:p>
                  </a:txBody>
                  <a:tcPr marL="66675" marR="66675" marT="38100" marB="38100">
                    <a:solidFill>
                      <a:srgbClr val="F5F3FB"/>
                    </a:solidFill>
                  </a:tcPr>
                </a:tc>
                <a:tc>
                  <a:txBody>
                    <a:bodyPr wrap="square"/>
                    <a:lstStyle/>
                    <a:p>
                      <a:r>
                        <a:rPr sz="1012" b="1">
                          <a:solidFill>
                            <a:srgbClr val="22252B"/>
                          </a:solidFill>
                          <a:latin typeface="Arial"/>
                        </a:rPr>
                        <a:t>baisse jusqu’au prix des voisins</a:t>
                      </a:r>
                      <a:r>
                        <a:rPr sz="1012" b="0">
                          <a:solidFill>
                            <a:srgbClr val="22252B"/>
                          </a:solidFill>
                          <a:latin typeface="Arial"/>
                        </a:rPr>
                        <a:t>. En 2022 : France = Allemagne = 331 €/MWh</a:t>
                      </a:r>
                    </a:p>
                  </a:txBody>
                  <a:tcPr marL="66675" marR="66675" marT="38100" marB="38100">
                    <a:solidFill>
                      <a:srgbClr val="FFFFFF"/>
                    </a:solidFill>
                  </a:tcPr>
                </a:tc>
              </a:tr>
              <a:tr h="252858">
                <a:tc>
                  <a:txBody>
                    <a:bodyPr wrap="square"/>
                    <a:lstStyle/>
                    <a:p>
                      <a:r>
                        <a:rPr sz="1012" b="1">
                          <a:solidFill>
                            <a:srgbClr val="7A5CC7"/>
                          </a:solidFill>
                          <a:latin typeface="Arial"/>
                        </a:rPr>
                        <a:t>Fréquence</a:t>
                      </a:r>
                    </a:p>
                  </a:txBody>
                  <a:tcPr marL="66675" marR="66675" marT="38100" marB="38100">
                    <a:solidFill>
                      <a:srgbClr val="F5F3FB"/>
                    </a:solidFill>
                  </a:tcPr>
                </a:tc>
                <a:tc>
                  <a:txBody>
                    <a:bodyPr wrap="square"/>
                    <a:lstStyle/>
                    <a:p>
                      <a:r>
                        <a:rPr sz="1012" b="0">
                          <a:solidFill>
                            <a:srgbClr val="22252B"/>
                          </a:solidFill>
                          <a:latin typeface="Arial"/>
                        </a:rPr>
                        <a:t>0 % du temps en 2025 ; 19 % en 2022</a:t>
                      </a:r>
                    </a:p>
                  </a:txBody>
                  <a:tcPr marL="66675" marR="66675" marT="38100" marB="38100">
                    <a:solidFill>
                      <a:srgbClr val="FFFFFF"/>
                    </a:solidFill>
                  </a:tcPr>
                </a:tc>
              </a:tr>
              <a:tr h="419992">
                <a:tc>
                  <a:txBody>
                    <a:bodyPr wrap="square"/>
                    <a:lstStyle/>
                    <a:p>
                      <a:r>
                        <a:rPr sz="1012" b="1">
                          <a:solidFill>
                            <a:srgbClr val="7A5CC7"/>
                          </a:solidFill>
                          <a:latin typeface="Arial"/>
                        </a:rPr>
                        <a:t>Sécurité</a:t>
                      </a:r>
                    </a:p>
                  </a:txBody>
                  <a:tcPr marL="66675" marR="66675" marT="38100" marB="38100">
                    <a:solidFill>
                      <a:srgbClr val="F5F3FB"/>
                    </a:solidFill>
                  </a:tcPr>
                </a:tc>
                <a:tc>
                  <a:txBody>
                    <a:bodyPr wrap="square"/>
                    <a:lstStyle/>
                    <a:p>
                      <a:r>
                        <a:rPr sz="1012" b="0">
                          <a:solidFill>
                            <a:srgbClr val="22252B"/>
                          </a:solidFill>
                          <a:latin typeface="Arial"/>
                        </a:rPr>
                        <a:t>pas de tension : la ligne suffit (3,4 GW importés en moyenne en 2022)</a:t>
                      </a:r>
                    </a:p>
                  </a:txBody>
                  <a:tcPr marL="66675" marR="66675" marT="38100" marB="38100">
                    <a:solidFill>
                      <a:srgbClr val="FFFFFF"/>
                    </a:solidFill>
                  </a:tcPr>
                </a:tc>
              </a:tr>
              <a:tr h="419992">
                <a:tc>
                  <a:txBody>
                    <a:bodyPr wrap="square"/>
                    <a:lstStyle/>
                    <a:p>
                      <a:r>
                        <a:rPr sz="1012" b="1">
                          <a:solidFill>
                            <a:srgbClr val="7A5CC7"/>
                          </a:solidFill>
                          <a:latin typeface="Arial"/>
                        </a:rPr>
                        <a:t>Réseau</a:t>
                      </a:r>
                    </a:p>
                  </a:txBody>
                  <a:tcPr marL="66675" marR="66675" marT="38100" marB="38100">
                    <a:solidFill>
                      <a:srgbClr val="F5F3FB"/>
                    </a:solidFill>
                  </a:tcPr>
                </a:tc>
                <a:tc>
                  <a:txBody>
                    <a:bodyPr wrap="square"/>
                    <a:lstStyle/>
                    <a:p>
                      <a:r>
                        <a:rPr sz="1012" b="0">
                          <a:solidFill>
                            <a:srgbClr val="22252B"/>
                          </a:solidFill>
                          <a:latin typeface="Arial"/>
                        </a:rPr>
                        <a:t>peu de rente sur la Belgique et l’Allemagne ; 908 M€ en 2022 sur les autres frontières</a:t>
                      </a:r>
                    </a:p>
                  </a:txBody>
                  <a:tcPr marL="66675" marR="66675" marT="38100" marB="38100">
                    <a:solidFill>
                      <a:srgbClr val="FFFFFF"/>
                    </a:solidFill>
                  </a:tcPr>
                </a:tc>
              </a:tr>
            </a:tbl>
          </a:graphicData>
        </a:graphic>
      </p:graphicFrame>
      <p:sp>
        <p:nvSpPr>
          <p:cNvPr id="7" name="TextBox 6"/>
          <p:cNvSpPr txBox="1"/>
          <p:nvPr/>
        </p:nvSpPr>
        <p:spPr>
          <a:xfrm>
            <a:off x="571500" y="4663826"/>
            <a:ext cx="11049000" cy="520303"/>
          </a:xfrm>
          <a:prstGeom prst="rect">
            <a:avLst/>
          </a:prstGeom>
          <a:noFill/>
        </p:spPr>
        <p:txBody>
          <a:bodyPr wrap="square" lIns="0" rIns="0" tIns="0" bIns="0" anchor="t">
            <a:spAutoFit/>
          </a:bodyPr>
          <a:lstStyle/>
          <a:p>
            <a:r>
              <a:rPr sz="937" b="0">
                <a:solidFill>
                  <a:srgbClr val="8A8F98"/>
                </a:solidFill>
                <a:latin typeface="Arial"/>
              </a:rPr>
              <a:t>Merit order simplifié, identique sur tous les dessins : parc et prix illustratifs. Point rouge : prix de la France, lu sur la production française ; point blanc : prix de la France seule (50 €). Les vrais chiffres sont dans les tableaux (ENTSO-E, Energy-Charts, RTE ; calcul PowerKlock). Ligne pas saturée = prix France égal à ceux de la Belgique et de l’Allemagne (au centime) ; saturée = France moins chère (exportatrice) ou plus chère (importatrice) que les deux ; exportatrice / importatrice = signe des échanges commerciaux.</a:t>
            </a:r>
          </a:p>
        </p:txBody>
      </p:sp>
      <p:sp>
        <p:nvSpPr>
          <p:cNvPr id="8" name="TextBox 7"/>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a:t>
            </a:r>
            <a:r>
              <a:rPr sz="900" b="0">
                <a:solidFill>
                  <a:srgbClr val="AAAAAA"/>
                </a:solidFill>
                <a:latin typeface="Arial"/>
              </a:rPr>
              <a:t> · couplage des marchés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CAS 3 · EN VRAI</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Cas 3 · Importatrice, ligne pas saturée : quand ça arrive (2022)</a:t>
            </a:r>
          </a:p>
        </p:txBody>
      </p:sp>
      <p:pic>
        <p:nvPicPr>
          <p:cNvPr id="4" name="Picture 3" descr="image.png"/>
          <p:cNvPicPr>
            <a:picLocks noChangeAspect="1"/>
          </p:cNvPicPr>
          <p:nvPr/>
        </p:nvPicPr>
        <p:blipFill>
          <a:blip r:embed="rId2"/>
          <a:stretch>
            <a:fillRect/>
          </a:stretch>
        </p:blipFill>
        <p:spPr>
          <a:xfrm>
            <a:off x="571500" y="1101476"/>
            <a:ext cx="5512742" cy="2508349"/>
          </a:xfrm>
          <a:prstGeom prst="rect">
            <a:avLst/>
          </a:prstGeom>
        </p:spPr>
      </p:pic>
      <p:pic>
        <p:nvPicPr>
          <p:cNvPr id="5" name="Picture 4" descr="image.png"/>
          <p:cNvPicPr>
            <a:picLocks noChangeAspect="1"/>
          </p:cNvPicPr>
          <p:nvPr/>
        </p:nvPicPr>
        <p:blipFill>
          <a:blip r:embed="rId3"/>
          <a:stretch>
            <a:fillRect/>
          </a:stretch>
        </p:blipFill>
        <p:spPr>
          <a:xfrm>
            <a:off x="571500" y="3738860"/>
            <a:ext cx="5512742" cy="1735782"/>
          </a:xfrm>
          <a:prstGeom prst="rect">
            <a:avLst/>
          </a:prstGeom>
        </p:spPr>
      </p:pic>
      <p:sp>
        <p:nvSpPr>
          <p:cNvPr id="6" name="TextBox 5"/>
          <p:cNvSpPr txBox="1"/>
          <p:nvPr/>
        </p:nvSpPr>
        <p:spPr>
          <a:xfrm>
            <a:off x="6369992" y="1101476"/>
            <a:ext cx="5250507" cy="666750"/>
          </a:xfrm>
          <a:prstGeom prst="rect">
            <a:avLst/>
          </a:prstGeom>
          <a:noFill/>
        </p:spPr>
        <p:txBody>
          <a:bodyPr wrap="square" lIns="0" rIns="0" tIns="0" bIns="0" anchor="t">
            <a:spAutoFit/>
          </a:bodyPr>
          <a:lstStyle/>
          <a:p>
            <a:r>
              <a:rPr sz="1162" b="0">
                <a:solidFill>
                  <a:srgbClr val="22252B"/>
                </a:solidFill>
                <a:latin typeface="Arial"/>
              </a:rPr>
              <a:t>En 2022, surtout </a:t>
            </a:r>
            <a:r>
              <a:rPr sz="1162" b="1">
                <a:solidFill>
                  <a:srgbClr val="22252B"/>
                </a:solidFill>
                <a:latin typeface="Arial"/>
              </a:rPr>
              <a:t>l’été, la nuit et le matin</a:t>
            </a:r>
            <a:r>
              <a:rPr sz="1162" b="0">
                <a:solidFill>
                  <a:srgbClr val="22252B"/>
                </a:solidFill>
                <a:latin typeface="Arial"/>
              </a:rPr>
              <a:t> (0 h, 1 h, 7 h, 8 h) : nucléaire français à 29,8 GW seulement. Ce n’étaient pas les voisins qui étaient bas : c’est la France seule qui était haute. Presque absent depuis 2024.</a:t>
            </a:r>
          </a:p>
        </p:txBody>
      </p:sp>
      <p:graphicFrame>
        <p:nvGraphicFramePr>
          <p:cNvPr id="7" name="Table 6"/>
          <p:cNvGraphicFramePr>
            <a:graphicFrameLocks noGrp="1"/>
          </p:cNvGraphicFramePr>
          <p:nvPr/>
        </p:nvGraphicFramePr>
        <p:xfrm>
          <a:off x="6369992" y="1806326"/>
          <a:ext cx="5250506" cy="2626068"/>
        </p:xfrm>
        <a:graphic>
          <a:graphicData uri="http://schemas.openxmlformats.org/drawingml/2006/table">
            <a:tbl>
              <a:tblPr firstRow="0" bandRow="0">
                <a:tableStyleId>{5C22544A-7EE6-4342-B048-85BDC9FD1C3A}</a:tableStyleId>
              </a:tblPr>
              <a:tblGrid>
                <a:gridCol w="2885033"/>
                <a:gridCol w="931068"/>
                <a:gridCol w="1434405"/>
              </a:tblGrid>
              <a:tr h="511075">
                <a:tc>
                  <a:txBody>
                    <a:bodyPr wrap="square"/>
                    <a:lstStyle/>
                    <a:p>
                      <a:r>
                        <a:rPr sz="1087" b="1">
                          <a:solidFill>
                            <a:srgbClr val="22252B"/>
                          </a:solidFill>
                          <a:latin typeface="Arial"/>
                        </a:rPr>
                        <a:t>2022</a:t>
                      </a:r>
                    </a:p>
                  </a:txBody>
                  <a:tcPr marL="76200" marR="76200" marT="57150" marB="57150">
                    <a:solidFill>
                      <a:srgbClr val="F5F3FB"/>
                    </a:solidFill>
                  </a:tcPr>
                </a:tc>
                <a:tc>
                  <a:txBody>
                    <a:bodyPr wrap="square"/>
                    <a:lstStyle/>
                    <a:p>
                      <a:pPr algn="r"/>
                      <a:r>
                        <a:rPr sz="1087" b="1">
                          <a:solidFill>
                            <a:srgbClr val="22252B"/>
                          </a:solidFill>
                          <a:latin typeface="Arial"/>
                        </a:rPr>
                        <a:t>Dans ce cas</a:t>
                      </a:r>
                    </a:p>
                  </a:txBody>
                  <a:tcPr marL="76200" marR="76200" marT="57150" marB="57150">
                    <a:solidFill>
                      <a:srgbClr val="F5F3FB"/>
                    </a:solidFill>
                  </a:tcPr>
                </a:tc>
                <a:tc>
                  <a:txBody>
                    <a:bodyPr wrap="square"/>
                    <a:lstStyle/>
                    <a:p>
                      <a:pPr algn="r"/>
                      <a:r>
                        <a:rPr sz="1087" b="1">
                          <a:solidFill>
                            <a:srgbClr val="22252B"/>
                          </a:solidFill>
                          <a:latin typeface="Arial"/>
                        </a:rPr>
                        <a:t>Moyenne de l’année</a:t>
                      </a:r>
                    </a:p>
                  </a:txBody>
                  <a:tcPr marL="76200" marR="76200" marT="57150" marB="57150">
                    <a:solidFill>
                      <a:srgbClr val="F5F3FB"/>
                    </a:solidFill>
                  </a:tcPr>
                </a:tc>
              </a:tr>
              <a:tr h="319831">
                <a:tc>
                  <a:txBody>
                    <a:bodyPr wrap="square"/>
                    <a:lstStyle/>
                    <a:p>
                      <a:r>
                        <a:rPr sz="1087" b="0">
                          <a:solidFill>
                            <a:srgbClr val="22252B"/>
                          </a:solidFill>
                          <a:latin typeface="Arial"/>
                        </a:rPr>
                        <a:t>Consommation française</a:t>
                      </a:r>
                    </a:p>
                  </a:txBody>
                  <a:tcPr marL="76200" marR="76200" marT="57150" marB="57150">
                    <a:solidFill>
                      <a:srgbClr val="FFFFFF"/>
                    </a:solidFill>
                  </a:tcPr>
                </a:tc>
                <a:tc>
                  <a:txBody>
                    <a:bodyPr wrap="square"/>
                    <a:lstStyle/>
                    <a:p>
                      <a:pPr algn="r"/>
                      <a:r>
                        <a:rPr sz="1087" b="0">
                          <a:solidFill>
                            <a:srgbClr val="22252B"/>
                          </a:solidFill>
                          <a:latin typeface="Arial"/>
                        </a:rPr>
                        <a:t>49,0 GW</a:t>
                      </a:r>
                    </a:p>
                  </a:txBody>
                  <a:tcPr marL="76200" marR="76200" marT="57150" marB="57150">
                    <a:solidFill>
                      <a:srgbClr val="FFFFFF"/>
                    </a:solidFill>
                  </a:tcPr>
                </a:tc>
                <a:tc>
                  <a:txBody>
                    <a:bodyPr wrap="square"/>
                    <a:lstStyle/>
                    <a:p>
                      <a:pPr algn="r"/>
                      <a:r>
                        <a:rPr sz="1087" b="0">
                          <a:solidFill>
                            <a:srgbClr val="22252B"/>
                          </a:solidFill>
                          <a:latin typeface="Arial"/>
                        </a:rPr>
                        <a:t>51,4 GW</a:t>
                      </a:r>
                    </a:p>
                  </a:txBody>
                  <a:tcPr marL="76200" marR="76200" marT="57150" marB="57150">
                    <a:solidFill>
                      <a:srgbClr val="FFFFFF"/>
                    </a:solidFill>
                  </a:tcPr>
                </a:tc>
              </a:tr>
              <a:tr h="319831">
                <a:tc>
                  <a:txBody>
                    <a:bodyPr wrap="square"/>
                    <a:lstStyle/>
                    <a:p>
                      <a:r>
                        <a:rPr sz="1087" b="0">
                          <a:solidFill>
                            <a:srgbClr val="22252B"/>
                          </a:solidFill>
                          <a:latin typeface="Arial"/>
                        </a:rPr>
                        <a:t>Nucléaire produit</a:t>
                      </a:r>
                    </a:p>
                  </a:txBody>
                  <a:tcPr marL="76200" marR="76200" marT="57150" marB="57150">
                    <a:solidFill>
                      <a:srgbClr val="FFFFFF"/>
                    </a:solidFill>
                  </a:tcPr>
                </a:tc>
                <a:tc>
                  <a:txBody>
                    <a:bodyPr wrap="square"/>
                    <a:lstStyle/>
                    <a:p>
                      <a:pPr algn="r"/>
                      <a:r>
                        <a:rPr sz="1087" b="0">
                          <a:solidFill>
                            <a:srgbClr val="22252B"/>
                          </a:solidFill>
                          <a:latin typeface="Arial"/>
                        </a:rPr>
                        <a:t>29,8 GW</a:t>
                      </a:r>
                    </a:p>
                  </a:txBody>
                  <a:tcPr marL="76200" marR="76200" marT="57150" marB="57150">
                    <a:solidFill>
                      <a:srgbClr val="FFFFFF"/>
                    </a:solidFill>
                  </a:tcPr>
                </a:tc>
                <a:tc>
                  <a:txBody>
                    <a:bodyPr wrap="square"/>
                    <a:lstStyle/>
                    <a:p>
                      <a:pPr algn="r"/>
                      <a:r>
                        <a:rPr sz="1087" b="0">
                          <a:solidFill>
                            <a:srgbClr val="22252B"/>
                          </a:solidFill>
                          <a:latin typeface="Arial"/>
                        </a:rPr>
                        <a:t>31,8 GW</a:t>
                      </a:r>
                    </a:p>
                  </a:txBody>
                  <a:tcPr marL="76200" marR="76200" marT="57150" marB="57150">
                    <a:solidFill>
                      <a:srgbClr val="FFFFFF"/>
                    </a:solidFill>
                  </a:tcPr>
                </a:tc>
              </a:tr>
              <a:tr h="319831">
                <a:tc>
                  <a:txBody>
                    <a:bodyPr wrap="square"/>
                    <a:lstStyle/>
                    <a:p>
                      <a:r>
                        <a:rPr sz="1087" b="0">
                          <a:solidFill>
                            <a:srgbClr val="22252B"/>
                          </a:solidFill>
                          <a:latin typeface="Arial"/>
                        </a:rPr>
                        <a:t>Éolien + solaire français</a:t>
                      </a:r>
                    </a:p>
                  </a:txBody>
                  <a:tcPr marL="76200" marR="76200" marT="57150" marB="57150">
                    <a:solidFill>
                      <a:srgbClr val="FFFFFF"/>
                    </a:solidFill>
                  </a:tcPr>
                </a:tc>
                <a:tc>
                  <a:txBody>
                    <a:bodyPr wrap="square"/>
                    <a:lstStyle/>
                    <a:p>
                      <a:pPr algn="r"/>
                      <a:r>
                        <a:rPr sz="1087" b="0">
                          <a:solidFill>
                            <a:srgbClr val="22252B"/>
                          </a:solidFill>
                          <a:latin typeface="Arial"/>
                        </a:rPr>
                        <a:t>4,4 GW</a:t>
                      </a:r>
                    </a:p>
                  </a:txBody>
                  <a:tcPr marL="76200" marR="76200" marT="57150" marB="57150">
                    <a:solidFill>
                      <a:srgbClr val="FFFFFF"/>
                    </a:solidFill>
                  </a:tcPr>
                </a:tc>
                <a:tc>
                  <a:txBody>
                    <a:bodyPr wrap="square"/>
                    <a:lstStyle/>
                    <a:p>
                      <a:pPr algn="r"/>
                      <a:r>
                        <a:rPr sz="1087" b="0">
                          <a:solidFill>
                            <a:srgbClr val="22252B"/>
                          </a:solidFill>
                          <a:latin typeface="Arial"/>
                        </a:rPr>
                        <a:t>6,5 GW</a:t>
                      </a:r>
                    </a:p>
                  </a:txBody>
                  <a:tcPr marL="76200" marR="76200" marT="57150" marB="57150">
                    <a:solidFill>
                      <a:srgbClr val="FFFFFF"/>
                    </a:solidFill>
                  </a:tcPr>
                </a:tc>
              </a:tr>
              <a:tr h="319831">
                <a:tc>
                  <a:txBody>
                    <a:bodyPr wrap="square"/>
                    <a:lstStyle/>
                    <a:p>
                      <a:r>
                        <a:rPr sz="1087" b="0">
                          <a:solidFill>
                            <a:srgbClr val="22252B"/>
                          </a:solidFill>
                          <a:latin typeface="Arial"/>
                        </a:rPr>
                        <a:t>Exports nets</a:t>
                      </a:r>
                    </a:p>
                  </a:txBody>
                  <a:tcPr marL="76200" marR="76200" marT="57150" marB="57150">
                    <a:solidFill>
                      <a:srgbClr val="FFFFFF"/>
                    </a:solidFill>
                  </a:tcPr>
                </a:tc>
                <a:tc>
                  <a:txBody>
                    <a:bodyPr wrap="square"/>
                    <a:lstStyle/>
                    <a:p>
                      <a:pPr algn="r"/>
                      <a:r>
                        <a:rPr sz="1087" b="0">
                          <a:solidFill>
                            <a:srgbClr val="22252B"/>
                          </a:solidFill>
                          <a:latin typeface="Arial"/>
                        </a:rPr>
                        <a:t>-3,4 GW</a:t>
                      </a:r>
                    </a:p>
                  </a:txBody>
                  <a:tcPr marL="76200" marR="76200" marT="57150" marB="57150">
                    <a:solidFill>
                      <a:srgbClr val="FFFFFF"/>
                    </a:solidFill>
                  </a:tcPr>
                </a:tc>
                <a:tc>
                  <a:txBody>
                    <a:bodyPr wrap="square"/>
                    <a:lstStyle/>
                    <a:p>
                      <a:pPr algn="r"/>
                      <a:r>
                        <a:rPr sz="1087" b="0">
                          <a:solidFill>
                            <a:srgbClr val="22252B"/>
                          </a:solidFill>
                          <a:latin typeface="Arial"/>
                        </a:rPr>
                        <a:t>-1,9 GW</a:t>
                      </a:r>
                    </a:p>
                  </a:txBody>
                  <a:tcPr marL="76200" marR="76200" marT="57150" marB="57150">
                    <a:solidFill>
                      <a:srgbClr val="FFFFFF"/>
                    </a:solidFill>
                  </a:tcPr>
                </a:tc>
              </a:tr>
              <a:tr h="515838">
                <a:tc>
                  <a:txBody>
                    <a:bodyPr wrap="square"/>
                    <a:lstStyle/>
                    <a:p>
                      <a:r>
                        <a:rPr sz="1087" b="0">
                          <a:solidFill>
                            <a:srgbClr val="22252B"/>
                          </a:solidFill>
                          <a:latin typeface="Arial"/>
                        </a:rPr>
                        <a:t>Éolien + solaire allemands / conso. allemande</a:t>
                      </a:r>
                    </a:p>
                  </a:txBody>
                  <a:tcPr marL="76200" marR="76200" marT="57150" marB="57150">
                    <a:solidFill>
                      <a:srgbClr val="FFFFFF"/>
                    </a:solidFill>
                  </a:tcPr>
                </a:tc>
                <a:tc>
                  <a:txBody>
                    <a:bodyPr wrap="square"/>
                    <a:lstStyle/>
                    <a:p>
                      <a:pPr algn="r"/>
                      <a:r>
                        <a:rPr sz="1087" b="0">
                          <a:solidFill>
                            <a:srgbClr val="22252B"/>
                          </a:solidFill>
                          <a:latin typeface="Arial"/>
                        </a:rPr>
                        <a:t>22 %</a:t>
                      </a:r>
                    </a:p>
                  </a:txBody>
                  <a:tcPr marL="76200" marR="76200" marT="57150" marB="57150">
                    <a:solidFill>
                      <a:srgbClr val="FFFFFF"/>
                    </a:solidFill>
                  </a:tcPr>
                </a:tc>
                <a:tc>
                  <a:txBody>
                    <a:bodyPr wrap="square"/>
                    <a:lstStyle/>
                    <a:p>
                      <a:pPr algn="r"/>
                      <a:r>
                        <a:rPr sz="1087" b="0">
                          <a:solidFill>
                            <a:srgbClr val="22252B"/>
                          </a:solidFill>
                          <a:latin typeface="Arial"/>
                        </a:rPr>
                        <a:t>36 %</a:t>
                      </a:r>
                    </a:p>
                  </a:txBody>
                  <a:tcPr marL="76200" marR="76200" marT="57150" marB="57150">
                    <a:solidFill>
                      <a:srgbClr val="FFFFFF"/>
                    </a:solidFill>
                  </a:tcPr>
                </a:tc>
              </a:tr>
              <a:tr h="319831">
                <a:tc>
                  <a:txBody>
                    <a:bodyPr wrap="square"/>
                    <a:lstStyle/>
                    <a:p>
                      <a:r>
                        <a:rPr sz="1087" b="0">
                          <a:solidFill>
                            <a:srgbClr val="22252B"/>
                          </a:solidFill>
                          <a:latin typeface="Arial"/>
                        </a:rPr>
                        <a:t>Prix France / Allemagne</a:t>
                      </a:r>
                    </a:p>
                  </a:txBody>
                  <a:tcPr marL="76200" marR="76200" marT="57150" marB="57150">
                    <a:solidFill>
                      <a:srgbClr val="FFFFFF"/>
                    </a:solidFill>
                  </a:tcPr>
                </a:tc>
                <a:tc>
                  <a:txBody>
                    <a:bodyPr wrap="square"/>
                    <a:lstStyle/>
                    <a:p>
                      <a:pPr algn="r"/>
                      <a:r>
                        <a:rPr sz="1087" b="0">
                          <a:solidFill>
                            <a:srgbClr val="22252B"/>
                          </a:solidFill>
                          <a:latin typeface="Arial"/>
                        </a:rPr>
                        <a:t>331 / 331 €</a:t>
                      </a:r>
                    </a:p>
                  </a:txBody>
                  <a:tcPr marL="76200" marR="76200" marT="57150" marB="57150">
                    <a:solidFill>
                      <a:srgbClr val="FFFFFF"/>
                    </a:solidFill>
                  </a:tcPr>
                </a:tc>
                <a:tc>
                  <a:txBody>
                    <a:bodyPr wrap="square"/>
                    <a:lstStyle/>
                    <a:p>
                      <a:pPr algn="r"/>
                    </a:p>
                  </a:txBody>
                  <a:tcPr marL="76200" marR="76200" marT="57150" marB="57150">
                    <a:solidFill>
                      <a:srgbClr val="FFFFFF"/>
                    </a:solidFill>
                  </a:tcPr>
                </a:tc>
              </a:tr>
            </a:tbl>
          </a:graphicData>
        </a:graphic>
      </p:graphicFrame>
      <p:sp>
        <p:nvSpPr>
          <p:cNvPr id="8" name="TextBox 7"/>
          <p:cNvSpPr txBox="1"/>
          <p:nvPr/>
        </p:nvSpPr>
        <p:spPr>
          <a:xfrm>
            <a:off x="6369992" y="4532411"/>
            <a:ext cx="5250507" cy="921543"/>
          </a:xfrm>
          <a:prstGeom prst="rect">
            <a:avLst/>
          </a:prstGeom>
          <a:solidFill>
            <a:srgbClr val="FBF6EA"/>
          </a:solidFill>
        </p:spPr>
        <p:txBody>
          <a:bodyPr wrap="square" lIns="133350" rIns="133350" tIns="95250" bIns="95250" anchor="t">
            <a:spAutoFit/>
          </a:bodyPr>
          <a:lstStyle/>
          <a:p>
            <a:r>
              <a:rPr sz="975" b="1">
                <a:solidFill>
                  <a:srgbClr val="22252B"/>
                </a:solidFill>
                <a:latin typeface="Arial"/>
              </a:rPr>
              <a:t>Heure typique : dimanche 24 juillet 2022, 5 h–6 h.</a:t>
            </a:r>
            <a:r>
              <a:rPr sz="975" b="0">
                <a:solidFill>
                  <a:srgbClr val="22252B"/>
                </a:solidFill>
                <a:latin typeface="Arial"/>
              </a:rPr>
              <a:t> France 302,8 €, Allemagne 302,8 €, Belgique 302,8 €, Italie 336,4 €, Espagne 159,9 €. La France importe 2,9 GW ; consommation 33,8 GW ; nucléaire 23,3 GW (sur 25,5 disponibles) ; éolien 0,8 GW, solaire 0,0 GW ; en Allemagne, éolien + solaire = 21 % de la consommation.</a:t>
            </a:r>
          </a:p>
        </p:txBody>
      </p:sp>
      <p:sp>
        <p:nvSpPr>
          <p:cNvPr id="9" name="TextBox 8"/>
          <p:cNvSpPr txBox="1"/>
          <p:nvPr/>
        </p:nvSpPr>
        <p:spPr>
          <a:xfrm>
            <a:off x="571500" y="5660826"/>
            <a:ext cx="11049000" cy="359568"/>
          </a:xfrm>
          <a:prstGeom prst="rect">
            <a:avLst/>
          </a:prstGeom>
          <a:noFill/>
        </p:spPr>
        <p:txBody>
          <a:bodyPr wrap="square" lIns="0" rIns="0" tIns="0" bIns="0" anchor="t">
            <a:spAutoFit/>
          </a:bodyPr>
          <a:lstStyle/>
          <a:p>
            <a:r>
              <a:rPr sz="937" b="0">
                <a:solidFill>
                  <a:srgbClr val="8A8F98"/>
                </a:solidFill>
                <a:latin typeface="Arial"/>
              </a:rPr>
              <a:t>Heure typique : l’heure de 2022 la plus proche des valeurs médianes du cas (prix France, prix Allemagne, exports). Heures en heure de Paris. Sources : ENTSO-E, RTE éCO2mix, Energy-Charts ; calcul PowerKlock (case_profiles.py).</a:t>
            </a:r>
          </a:p>
        </p:txBody>
      </p:sp>
      <p:sp>
        <p:nvSpPr>
          <p:cNvPr id="10" name="TextBox 9"/>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a:t>
            </a:r>
            <a:r>
              <a:rPr sz="900" b="0">
                <a:solidFill>
                  <a:srgbClr val="AAAAAA"/>
                </a:solidFill>
                <a:latin typeface="Arial"/>
              </a:rPr>
              <a:t> · couplage des marchés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CAS 4 · LE MÉCANISME</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Cas 4 · Importatrice, ligne saturée</a:t>
            </a:r>
          </a:p>
        </p:txBody>
      </p:sp>
      <p:pic>
        <p:nvPicPr>
          <p:cNvPr id="4" name="Picture 3" descr="image.png"/>
          <p:cNvPicPr>
            <a:picLocks noChangeAspect="1"/>
          </p:cNvPicPr>
          <p:nvPr/>
        </p:nvPicPr>
        <p:blipFill>
          <a:blip r:embed="rId2"/>
          <a:stretch>
            <a:fillRect/>
          </a:stretch>
        </p:blipFill>
        <p:spPr>
          <a:xfrm>
            <a:off x="571500" y="1101476"/>
            <a:ext cx="5512742" cy="3376166"/>
          </a:xfrm>
          <a:prstGeom prst="rect">
            <a:avLst/>
          </a:prstGeom>
        </p:spPr>
      </p:pic>
      <p:sp>
        <p:nvSpPr>
          <p:cNvPr id="5" name="TextBox 4"/>
          <p:cNvSpPr txBox="1"/>
          <p:nvPr/>
        </p:nvSpPr>
        <p:spPr>
          <a:xfrm>
            <a:off x="6369992" y="1249114"/>
            <a:ext cx="5250507" cy="666750"/>
          </a:xfrm>
          <a:prstGeom prst="rect">
            <a:avLst/>
          </a:prstGeom>
          <a:noFill/>
        </p:spPr>
        <p:txBody>
          <a:bodyPr wrap="square" lIns="0" rIns="0" tIns="0" bIns="0" anchor="t">
            <a:spAutoFit/>
          </a:bodyPr>
          <a:lstStyle/>
          <a:p>
            <a:r>
              <a:rPr sz="1162" b="1">
                <a:solidFill>
                  <a:srgbClr val="22252B"/>
                </a:solidFill>
                <a:latin typeface="Arial"/>
              </a:rPr>
              <a:t>Ce qui se passe.</a:t>
            </a:r>
            <a:r>
              <a:rPr sz="1162" b="0">
                <a:solidFill>
                  <a:srgbClr val="22252B"/>
                </a:solidFill>
                <a:latin typeface="Arial"/>
              </a:rPr>
              <a:t> Les voisins sont beaucoup moins chers (20 €). La France voudrait importer 30 GW, la ligne n’en passe que 10. Son prix se lit sur sa courbe à « consommation − 10 GW » : </a:t>
            </a:r>
            <a:r>
              <a:rPr sz="1162" b="1">
                <a:solidFill>
                  <a:srgbClr val="22252B"/>
                </a:solidFill>
                <a:latin typeface="Arial"/>
              </a:rPr>
              <a:t>40 €</a:t>
            </a:r>
            <a:r>
              <a:rPr sz="1162" b="0">
                <a:solidFill>
                  <a:srgbClr val="22252B"/>
                </a:solidFill>
                <a:latin typeface="Arial"/>
              </a:rPr>
              <a:t>, au-dessus des voisins.</a:t>
            </a:r>
          </a:p>
        </p:txBody>
      </p:sp>
      <p:graphicFrame>
        <p:nvGraphicFramePr>
          <p:cNvPr id="6" name="Table 5"/>
          <p:cNvGraphicFramePr>
            <a:graphicFrameLocks noGrp="1"/>
          </p:cNvGraphicFramePr>
          <p:nvPr/>
        </p:nvGraphicFramePr>
        <p:xfrm>
          <a:off x="6369992" y="2025401"/>
          <a:ext cx="5250507" cy="1675206"/>
        </p:xfrm>
        <a:graphic>
          <a:graphicData uri="http://schemas.openxmlformats.org/drawingml/2006/table">
            <a:tbl>
              <a:tblPr firstRow="0" bandRow="0">
                <a:tableStyleId>{5C22544A-7EE6-4342-B048-85BDC9FD1C3A}</a:tableStyleId>
              </a:tblPr>
              <a:tblGrid>
                <a:gridCol w="1155055"/>
                <a:gridCol w="4095452"/>
              </a:tblGrid>
              <a:tr h="415230">
                <a:tc>
                  <a:txBody>
                    <a:bodyPr wrap="square"/>
                    <a:lstStyle/>
                    <a:p>
                      <a:r>
                        <a:rPr sz="1012" b="1">
                          <a:solidFill>
                            <a:srgbClr val="7A5CC7"/>
                          </a:solidFill>
                          <a:latin typeface="Arial"/>
                        </a:rPr>
                        <a:t>Prix</a:t>
                      </a:r>
                    </a:p>
                  </a:txBody>
                  <a:tcPr marL="66675" marR="66675" marT="38100" marB="38100">
                    <a:solidFill>
                      <a:srgbClr val="F5F3FB"/>
                    </a:solidFill>
                  </a:tcPr>
                </a:tc>
                <a:tc>
                  <a:txBody>
                    <a:bodyPr wrap="square"/>
                    <a:lstStyle/>
                    <a:p>
                      <a:r>
                        <a:rPr sz="1012" b="1">
                          <a:solidFill>
                            <a:srgbClr val="22252B"/>
                          </a:solidFill>
                          <a:latin typeface="Arial"/>
                        </a:rPr>
                        <a:t>baisse, mais reste au-dessus des voisins</a:t>
                      </a:r>
                      <a:r>
                        <a:rPr sz="1012" b="0">
                          <a:solidFill>
                            <a:srgbClr val="22252B"/>
                          </a:solidFill>
                          <a:latin typeface="Arial"/>
                        </a:rPr>
                        <a:t>. En 2022 : France 311 €, Allemagne 230 €</a:t>
                      </a:r>
                    </a:p>
                  </a:txBody>
                  <a:tcPr marL="66675" marR="66675" marT="38100" marB="38100">
                    <a:solidFill>
                      <a:srgbClr val="FFFFFF"/>
                    </a:solidFill>
                  </a:tcPr>
                </a:tc>
              </a:tr>
              <a:tr h="252858">
                <a:tc>
                  <a:txBody>
                    <a:bodyPr wrap="square"/>
                    <a:lstStyle/>
                    <a:p>
                      <a:r>
                        <a:rPr sz="1012" b="1">
                          <a:solidFill>
                            <a:srgbClr val="7A5CC7"/>
                          </a:solidFill>
                          <a:latin typeface="Arial"/>
                        </a:rPr>
                        <a:t>Fréquence</a:t>
                      </a:r>
                    </a:p>
                  </a:txBody>
                  <a:tcPr marL="66675" marR="66675" marT="38100" marB="38100">
                    <a:solidFill>
                      <a:srgbClr val="F5F3FB"/>
                    </a:solidFill>
                  </a:tcPr>
                </a:tc>
                <a:tc>
                  <a:txBody>
                    <a:bodyPr wrap="square"/>
                    <a:lstStyle/>
                    <a:p>
                      <a:r>
                        <a:rPr sz="1012" b="0">
                          <a:solidFill>
                            <a:srgbClr val="22252B"/>
                          </a:solidFill>
                          <a:latin typeface="Arial"/>
                        </a:rPr>
                        <a:t>1 % du temps en 2025 ; </a:t>
                      </a:r>
                      <a:r>
                        <a:rPr sz="1012" b="1">
                          <a:solidFill>
                            <a:srgbClr val="22252B"/>
                          </a:solidFill>
                          <a:latin typeface="Arial"/>
                        </a:rPr>
                        <a:t>40 % en 2022</a:t>
                      </a:r>
                    </a:p>
                  </a:txBody>
                  <a:tcPr marL="66675" marR="66675" marT="38100" marB="38100">
                    <a:solidFill>
                      <a:srgbClr val="FFFFFF"/>
                    </a:solidFill>
                  </a:tcPr>
                </a:tc>
              </a:tr>
              <a:tr h="587126">
                <a:tc>
                  <a:txBody>
                    <a:bodyPr wrap="square"/>
                    <a:lstStyle/>
                    <a:p>
                      <a:r>
                        <a:rPr sz="1012" b="1">
                          <a:solidFill>
                            <a:srgbClr val="7A5CC7"/>
                          </a:solidFill>
                          <a:latin typeface="Arial"/>
                        </a:rPr>
                        <a:t>Sécurité</a:t>
                      </a:r>
                    </a:p>
                  </a:txBody>
                  <a:tcPr marL="66675" marR="66675" marT="38100" marB="38100">
                    <a:solidFill>
                      <a:srgbClr val="F5F3FB"/>
                    </a:solidFill>
                  </a:tcPr>
                </a:tc>
                <a:tc>
                  <a:txBody>
                    <a:bodyPr wrap="square"/>
                    <a:lstStyle/>
                    <a:p>
                      <a:r>
                        <a:rPr sz="1012" b="1">
                          <a:solidFill>
                            <a:srgbClr val="22252B"/>
                          </a:solidFill>
                          <a:latin typeface="Arial"/>
                        </a:rPr>
                        <a:t>tension</a:t>
                      </a:r>
                      <a:r>
                        <a:rPr sz="1012" b="0">
                          <a:solidFill>
                            <a:srgbClr val="22252B"/>
                          </a:solidFill>
                          <a:latin typeface="Arial"/>
                        </a:rPr>
                        <a:t> : imports au maximum (4,6 GW en moyenne en 2022) ; seule, la France aurait manqué d’énergie 89 heures en 2022 (jusqu’à 7,5 GW, modèle)</a:t>
                      </a:r>
                    </a:p>
                  </a:txBody>
                  <a:tcPr marL="66675" marR="66675" marT="38100" marB="38100">
                    <a:solidFill>
                      <a:srgbClr val="FFFFFF"/>
                    </a:solidFill>
                  </a:tcPr>
                </a:tc>
              </a:tr>
              <a:tr h="419992">
                <a:tc>
                  <a:txBody>
                    <a:bodyPr wrap="square"/>
                    <a:lstStyle/>
                    <a:p>
                      <a:r>
                        <a:rPr sz="1012" b="1">
                          <a:solidFill>
                            <a:srgbClr val="7A5CC7"/>
                          </a:solidFill>
                          <a:latin typeface="Arial"/>
                        </a:rPr>
                        <a:t>Réseau</a:t>
                      </a:r>
                    </a:p>
                  </a:txBody>
                  <a:tcPr marL="66675" marR="66675" marT="38100" marB="38100">
                    <a:solidFill>
                      <a:srgbClr val="F5F3FB"/>
                    </a:solidFill>
                  </a:tcPr>
                </a:tc>
                <a:tc>
                  <a:txBody>
                    <a:bodyPr wrap="square"/>
                    <a:lstStyle/>
                    <a:p>
                      <a:r>
                        <a:rPr sz="1012" b="0">
                          <a:solidFill>
                            <a:srgbClr val="22252B"/>
                          </a:solidFill>
                          <a:latin typeface="Arial"/>
                        </a:rPr>
                        <a:t>forte rente : </a:t>
                      </a:r>
                      <a:r>
                        <a:rPr sz="1012" b="1">
                          <a:solidFill>
                            <a:srgbClr val="22252B"/>
                          </a:solidFill>
                          <a:latin typeface="Arial"/>
                        </a:rPr>
                        <a:t>3,1 Md€</a:t>
                      </a:r>
                      <a:r>
                        <a:rPr sz="1012" b="0">
                          <a:solidFill>
                            <a:srgbClr val="22252B"/>
                          </a:solidFill>
                          <a:latin typeface="Arial"/>
                        </a:rPr>
                        <a:t> en 2022 ; la CRE a fait reverser 1,94 Md€ aux utilisateurs du réseau au titre de 2022</a:t>
                      </a:r>
                    </a:p>
                  </a:txBody>
                  <a:tcPr marL="66675" marR="66675" marT="38100" marB="38100">
                    <a:solidFill>
                      <a:srgbClr val="FFFFFF"/>
                    </a:solidFill>
                  </a:tcPr>
                </a:tc>
              </a:tr>
            </a:tbl>
          </a:graphicData>
        </a:graphic>
      </p:graphicFrame>
      <p:sp>
        <p:nvSpPr>
          <p:cNvPr id="7" name="TextBox 6"/>
          <p:cNvSpPr txBox="1"/>
          <p:nvPr/>
        </p:nvSpPr>
        <p:spPr>
          <a:xfrm>
            <a:off x="571500" y="4663826"/>
            <a:ext cx="11049000" cy="520303"/>
          </a:xfrm>
          <a:prstGeom prst="rect">
            <a:avLst/>
          </a:prstGeom>
          <a:noFill/>
        </p:spPr>
        <p:txBody>
          <a:bodyPr wrap="square" lIns="0" rIns="0" tIns="0" bIns="0" anchor="t">
            <a:spAutoFit/>
          </a:bodyPr>
          <a:lstStyle/>
          <a:p>
            <a:r>
              <a:rPr sz="937" b="0">
                <a:solidFill>
                  <a:srgbClr val="8A8F98"/>
                </a:solidFill>
                <a:latin typeface="Arial"/>
              </a:rPr>
              <a:t>Merit order simplifié, identique sur tous les dessins : parc et prix illustratifs. Point rouge : prix de la France, lu sur la production française ; point blanc : prix de la France seule (50 €). Les vrais chiffres sont dans les tableaux (ENTSO-E, Energy-Charts, RTE ; calcul PowerKlock). Ligne pas saturée = prix France égal à ceux de la Belgique et de l’Allemagne (au centime) ; saturée = France moins chère (exportatrice) ou plus chère (importatrice) que les deux ; exportatrice / importatrice = signe des échanges commerciaux.</a:t>
            </a:r>
          </a:p>
        </p:txBody>
      </p:sp>
      <p:sp>
        <p:nvSpPr>
          <p:cNvPr id="8" name="TextBox 7"/>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a:t>
            </a:r>
            <a:r>
              <a:rPr sz="900" b="0">
                <a:solidFill>
                  <a:srgbClr val="AAAAAA"/>
                </a:solidFill>
                <a:latin typeface="Arial"/>
              </a:rPr>
              <a:t> · couplage des marchés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CAS 4 · EN VRAI</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Cas 4 · Importatrice, ligne saturée : quand ça arrive (2022)</a:t>
            </a:r>
          </a:p>
        </p:txBody>
      </p:sp>
      <p:pic>
        <p:nvPicPr>
          <p:cNvPr id="4" name="Picture 3" descr="image.png"/>
          <p:cNvPicPr>
            <a:picLocks noChangeAspect="1"/>
          </p:cNvPicPr>
          <p:nvPr/>
        </p:nvPicPr>
        <p:blipFill>
          <a:blip r:embed="rId2"/>
          <a:stretch>
            <a:fillRect/>
          </a:stretch>
        </p:blipFill>
        <p:spPr>
          <a:xfrm>
            <a:off x="571500" y="1101476"/>
            <a:ext cx="5512742" cy="2508349"/>
          </a:xfrm>
          <a:prstGeom prst="rect">
            <a:avLst/>
          </a:prstGeom>
        </p:spPr>
      </p:pic>
      <p:pic>
        <p:nvPicPr>
          <p:cNvPr id="5" name="Picture 4" descr="image.png"/>
          <p:cNvPicPr>
            <a:picLocks noChangeAspect="1"/>
          </p:cNvPicPr>
          <p:nvPr/>
        </p:nvPicPr>
        <p:blipFill>
          <a:blip r:embed="rId3"/>
          <a:stretch>
            <a:fillRect/>
          </a:stretch>
        </p:blipFill>
        <p:spPr>
          <a:xfrm>
            <a:off x="571500" y="3738860"/>
            <a:ext cx="5512742" cy="1735782"/>
          </a:xfrm>
          <a:prstGeom prst="rect">
            <a:avLst/>
          </a:prstGeom>
        </p:spPr>
      </p:pic>
      <p:sp>
        <p:nvSpPr>
          <p:cNvPr id="6" name="TextBox 5"/>
          <p:cNvSpPr txBox="1"/>
          <p:nvPr/>
        </p:nvSpPr>
        <p:spPr>
          <a:xfrm>
            <a:off x="6369992" y="1101476"/>
            <a:ext cx="5250507" cy="666750"/>
          </a:xfrm>
          <a:prstGeom prst="rect">
            <a:avLst/>
          </a:prstGeom>
          <a:noFill/>
        </p:spPr>
        <p:txBody>
          <a:bodyPr wrap="square" lIns="0" rIns="0" tIns="0" bIns="0" anchor="t">
            <a:spAutoFit/>
          </a:bodyPr>
          <a:lstStyle/>
          <a:p>
            <a:r>
              <a:rPr sz="1162" b="0">
                <a:solidFill>
                  <a:srgbClr val="22252B"/>
                </a:solidFill>
                <a:latin typeface="Arial"/>
              </a:rPr>
              <a:t>En 2022, surtout </a:t>
            </a:r>
            <a:r>
              <a:rPr sz="1162" b="1">
                <a:solidFill>
                  <a:srgbClr val="22252B"/>
                </a:solidFill>
                <a:latin typeface="Arial"/>
              </a:rPr>
              <a:t>en milieu de journée</a:t>
            </a:r>
            <a:r>
              <a:rPr sz="1162" b="0">
                <a:solidFill>
                  <a:srgbClr val="22252B"/>
                </a:solidFill>
                <a:latin typeface="Arial"/>
              </a:rPr>
              <a:t>, notamment l’été (11 h, 12 h, 13 h, 14 h) : le solaire allemand fait baisser le prix voisin pendant que le nucléaire français est à 30,6 GW. Presque absent depuis 2024.</a:t>
            </a:r>
          </a:p>
        </p:txBody>
      </p:sp>
      <p:graphicFrame>
        <p:nvGraphicFramePr>
          <p:cNvPr id="7" name="Table 6"/>
          <p:cNvGraphicFramePr>
            <a:graphicFrameLocks noGrp="1"/>
          </p:cNvGraphicFramePr>
          <p:nvPr/>
        </p:nvGraphicFramePr>
        <p:xfrm>
          <a:off x="6369992" y="1806326"/>
          <a:ext cx="5250506" cy="2626068"/>
        </p:xfrm>
        <a:graphic>
          <a:graphicData uri="http://schemas.openxmlformats.org/drawingml/2006/table">
            <a:tbl>
              <a:tblPr firstRow="0" bandRow="0">
                <a:tableStyleId>{5C22544A-7EE6-4342-B048-85BDC9FD1C3A}</a:tableStyleId>
              </a:tblPr>
              <a:tblGrid>
                <a:gridCol w="2885033"/>
                <a:gridCol w="931068"/>
                <a:gridCol w="1434405"/>
              </a:tblGrid>
              <a:tr h="511075">
                <a:tc>
                  <a:txBody>
                    <a:bodyPr wrap="square"/>
                    <a:lstStyle/>
                    <a:p>
                      <a:r>
                        <a:rPr sz="1087" b="1">
                          <a:solidFill>
                            <a:srgbClr val="22252B"/>
                          </a:solidFill>
                          <a:latin typeface="Arial"/>
                        </a:rPr>
                        <a:t>2022</a:t>
                      </a:r>
                    </a:p>
                  </a:txBody>
                  <a:tcPr marL="76200" marR="76200" marT="57150" marB="57150">
                    <a:solidFill>
                      <a:srgbClr val="F5F3FB"/>
                    </a:solidFill>
                  </a:tcPr>
                </a:tc>
                <a:tc>
                  <a:txBody>
                    <a:bodyPr wrap="square"/>
                    <a:lstStyle/>
                    <a:p>
                      <a:pPr algn="r"/>
                      <a:r>
                        <a:rPr sz="1087" b="1">
                          <a:solidFill>
                            <a:srgbClr val="22252B"/>
                          </a:solidFill>
                          <a:latin typeface="Arial"/>
                        </a:rPr>
                        <a:t>Dans ce cas</a:t>
                      </a:r>
                    </a:p>
                  </a:txBody>
                  <a:tcPr marL="76200" marR="76200" marT="57150" marB="57150">
                    <a:solidFill>
                      <a:srgbClr val="F5F3FB"/>
                    </a:solidFill>
                  </a:tcPr>
                </a:tc>
                <a:tc>
                  <a:txBody>
                    <a:bodyPr wrap="square"/>
                    <a:lstStyle/>
                    <a:p>
                      <a:pPr algn="r"/>
                      <a:r>
                        <a:rPr sz="1087" b="1">
                          <a:solidFill>
                            <a:srgbClr val="22252B"/>
                          </a:solidFill>
                          <a:latin typeface="Arial"/>
                        </a:rPr>
                        <a:t>Moyenne de l’année</a:t>
                      </a:r>
                    </a:p>
                  </a:txBody>
                  <a:tcPr marL="76200" marR="76200" marT="57150" marB="57150">
                    <a:solidFill>
                      <a:srgbClr val="F5F3FB"/>
                    </a:solidFill>
                  </a:tcPr>
                </a:tc>
              </a:tr>
              <a:tr h="319831">
                <a:tc>
                  <a:txBody>
                    <a:bodyPr wrap="square"/>
                    <a:lstStyle/>
                    <a:p>
                      <a:r>
                        <a:rPr sz="1087" b="0">
                          <a:solidFill>
                            <a:srgbClr val="22252B"/>
                          </a:solidFill>
                          <a:latin typeface="Arial"/>
                        </a:rPr>
                        <a:t>Consommation française</a:t>
                      </a:r>
                    </a:p>
                  </a:txBody>
                  <a:tcPr marL="76200" marR="76200" marT="57150" marB="57150">
                    <a:solidFill>
                      <a:srgbClr val="FFFFFF"/>
                    </a:solidFill>
                  </a:tcPr>
                </a:tc>
                <a:tc>
                  <a:txBody>
                    <a:bodyPr wrap="square"/>
                    <a:lstStyle/>
                    <a:p>
                      <a:pPr algn="r"/>
                      <a:r>
                        <a:rPr sz="1087" b="0">
                          <a:solidFill>
                            <a:srgbClr val="22252B"/>
                          </a:solidFill>
                          <a:latin typeface="Arial"/>
                        </a:rPr>
                        <a:t>52,3 GW</a:t>
                      </a:r>
                    </a:p>
                  </a:txBody>
                  <a:tcPr marL="76200" marR="76200" marT="57150" marB="57150">
                    <a:solidFill>
                      <a:srgbClr val="FFFFFF"/>
                    </a:solidFill>
                  </a:tcPr>
                </a:tc>
                <a:tc>
                  <a:txBody>
                    <a:bodyPr wrap="square"/>
                    <a:lstStyle/>
                    <a:p>
                      <a:pPr algn="r"/>
                      <a:r>
                        <a:rPr sz="1087" b="0">
                          <a:solidFill>
                            <a:srgbClr val="22252B"/>
                          </a:solidFill>
                          <a:latin typeface="Arial"/>
                        </a:rPr>
                        <a:t>51,4 GW</a:t>
                      </a:r>
                    </a:p>
                  </a:txBody>
                  <a:tcPr marL="76200" marR="76200" marT="57150" marB="57150">
                    <a:solidFill>
                      <a:srgbClr val="FFFFFF"/>
                    </a:solidFill>
                  </a:tcPr>
                </a:tc>
              </a:tr>
              <a:tr h="319831">
                <a:tc>
                  <a:txBody>
                    <a:bodyPr wrap="square"/>
                    <a:lstStyle/>
                    <a:p>
                      <a:r>
                        <a:rPr sz="1087" b="0">
                          <a:solidFill>
                            <a:srgbClr val="22252B"/>
                          </a:solidFill>
                          <a:latin typeface="Arial"/>
                        </a:rPr>
                        <a:t>Nucléaire produit</a:t>
                      </a:r>
                    </a:p>
                  </a:txBody>
                  <a:tcPr marL="76200" marR="76200" marT="57150" marB="57150">
                    <a:solidFill>
                      <a:srgbClr val="FFFFFF"/>
                    </a:solidFill>
                  </a:tcPr>
                </a:tc>
                <a:tc>
                  <a:txBody>
                    <a:bodyPr wrap="square"/>
                    <a:lstStyle/>
                    <a:p>
                      <a:pPr algn="r"/>
                      <a:r>
                        <a:rPr sz="1087" b="0">
                          <a:solidFill>
                            <a:srgbClr val="22252B"/>
                          </a:solidFill>
                          <a:latin typeface="Arial"/>
                        </a:rPr>
                        <a:t>30,6 GW</a:t>
                      </a:r>
                    </a:p>
                  </a:txBody>
                  <a:tcPr marL="76200" marR="76200" marT="57150" marB="57150">
                    <a:solidFill>
                      <a:srgbClr val="FFFFFF"/>
                    </a:solidFill>
                  </a:tcPr>
                </a:tc>
                <a:tc>
                  <a:txBody>
                    <a:bodyPr wrap="square"/>
                    <a:lstStyle/>
                    <a:p>
                      <a:pPr algn="r"/>
                      <a:r>
                        <a:rPr sz="1087" b="0">
                          <a:solidFill>
                            <a:srgbClr val="22252B"/>
                          </a:solidFill>
                          <a:latin typeface="Arial"/>
                        </a:rPr>
                        <a:t>31,8 GW</a:t>
                      </a:r>
                    </a:p>
                  </a:txBody>
                  <a:tcPr marL="76200" marR="76200" marT="57150" marB="57150">
                    <a:solidFill>
                      <a:srgbClr val="FFFFFF"/>
                    </a:solidFill>
                  </a:tcPr>
                </a:tc>
              </a:tr>
              <a:tr h="319831">
                <a:tc>
                  <a:txBody>
                    <a:bodyPr wrap="square"/>
                    <a:lstStyle/>
                    <a:p>
                      <a:r>
                        <a:rPr sz="1087" b="0">
                          <a:solidFill>
                            <a:srgbClr val="22252B"/>
                          </a:solidFill>
                          <a:latin typeface="Arial"/>
                        </a:rPr>
                        <a:t>Éolien + solaire français</a:t>
                      </a:r>
                    </a:p>
                  </a:txBody>
                  <a:tcPr marL="76200" marR="76200" marT="57150" marB="57150">
                    <a:solidFill>
                      <a:srgbClr val="FFFFFF"/>
                    </a:solidFill>
                  </a:tcPr>
                </a:tc>
                <a:tc>
                  <a:txBody>
                    <a:bodyPr wrap="square"/>
                    <a:lstStyle/>
                    <a:p>
                      <a:pPr algn="r"/>
                      <a:r>
                        <a:rPr sz="1087" b="0">
                          <a:solidFill>
                            <a:srgbClr val="22252B"/>
                          </a:solidFill>
                          <a:latin typeface="Arial"/>
                        </a:rPr>
                        <a:t>6,4 GW</a:t>
                      </a:r>
                    </a:p>
                  </a:txBody>
                  <a:tcPr marL="76200" marR="76200" marT="57150" marB="57150">
                    <a:solidFill>
                      <a:srgbClr val="FFFFFF"/>
                    </a:solidFill>
                  </a:tcPr>
                </a:tc>
                <a:tc>
                  <a:txBody>
                    <a:bodyPr wrap="square"/>
                    <a:lstStyle/>
                    <a:p>
                      <a:pPr algn="r"/>
                      <a:r>
                        <a:rPr sz="1087" b="0">
                          <a:solidFill>
                            <a:srgbClr val="22252B"/>
                          </a:solidFill>
                          <a:latin typeface="Arial"/>
                        </a:rPr>
                        <a:t>6,5 GW</a:t>
                      </a:r>
                    </a:p>
                  </a:txBody>
                  <a:tcPr marL="76200" marR="76200" marT="57150" marB="57150">
                    <a:solidFill>
                      <a:srgbClr val="FFFFFF"/>
                    </a:solidFill>
                  </a:tcPr>
                </a:tc>
              </a:tr>
              <a:tr h="319831">
                <a:tc>
                  <a:txBody>
                    <a:bodyPr wrap="square"/>
                    <a:lstStyle/>
                    <a:p>
                      <a:r>
                        <a:rPr sz="1087" b="0">
                          <a:solidFill>
                            <a:srgbClr val="22252B"/>
                          </a:solidFill>
                          <a:latin typeface="Arial"/>
                        </a:rPr>
                        <a:t>Exports nets</a:t>
                      </a:r>
                    </a:p>
                  </a:txBody>
                  <a:tcPr marL="76200" marR="76200" marT="57150" marB="57150">
                    <a:solidFill>
                      <a:srgbClr val="FFFFFF"/>
                    </a:solidFill>
                  </a:tcPr>
                </a:tc>
                <a:tc>
                  <a:txBody>
                    <a:bodyPr wrap="square"/>
                    <a:lstStyle/>
                    <a:p>
                      <a:pPr algn="r"/>
                      <a:r>
                        <a:rPr sz="1087" b="0">
                          <a:solidFill>
                            <a:srgbClr val="22252B"/>
                          </a:solidFill>
                          <a:latin typeface="Arial"/>
                        </a:rPr>
                        <a:t>-4,6 GW</a:t>
                      </a:r>
                    </a:p>
                  </a:txBody>
                  <a:tcPr marL="76200" marR="76200" marT="57150" marB="57150">
                    <a:solidFill>
                      <a:srgbClr val="FFFFFF"/>
                    </a:solidFill>
                  </a:tcPr>
                </a:tc>
                <a:tc>
                  <a:txBody>
                    <a:bodyPr wrap="square"/>
                    <a:lstStyle/>
                    <a:p>
                      <a:pPr algn="r"/>
                      <a:r>
                        <a:rPr sz="1087" b="0">
                          <a:solidFill>
                            <a:srgbClr val="22252B"/>
                          </a:solidFill>
                          <a:latin typeface="Arial"/>
                        </a:rPr>
                        <a:t>-1,9 GW</a:t>
                      </a:r>
                    </a:p>
                  </a:txBody>
                  <a:tcPr marL="76200" marR="76200" marT="57150" marB="57150">
                    <a:solidFill>
                      <a:srgbClr val="FFFFFF"/>
                    </a:solidFill>
                  </a:tcPr>
                </a:tc>
              </a:tr>
              <a:tr h="515838">
                <a:tc>
                  <a:txBody>
                    <a:bodyPr wrap="square"/>
                    <a:lstStyle/>
                    <a:p>
                      <a:r>
                        <a:rPr sz="1087" b="0">
                          <a:solidFill>
                            <a:srgbClr val="22252B"/>
                          </a:solidFill>
                          <a:latin typeface="Arial"/>
                        </a:rPr>
                        <a:t>Éolien + solaire allemands / conso. allemande</a:t>
                      </a:r>
                    </a:p>
                  </a:txBody>
                  <a:tcPr marL="76200" marR="76200" marT="57150" marB="57150">
                    <a:solidFill>
                      <a:srgbClr val="FFFFFF"/>
                    </a:solidFill>
                  </a:tcPr>
                </a:tc>
                <a:tc>
                  <a:txBody>
                    <a:bodyPr wrap="square"/>
                    <a:lstStyle/>
                    <a:p>
                      <a:pPr algn="r"/>
                      <a:r>
                        <a:rPr sz="1087" b="0">
                          <a:solidFill>
                            <a:srgbClr val="22252B"/>
                          </a:solidFill>
                          <a:latin typeface="Arial"/>
                        </a:rPr>
                        <a:t>43 %</a:t>
                      </a:r>
                    </a:p>
                  </a:txBody>
                  <a:tcPr marL="76200" marR="76200" marT="57150" marB="57150">
                    <a:solidFill>
                      <a:srgbClr val="FFFFFF"/>
                    </a:solidFill>
                  </a:tcPr>
                </a:tc>
                <a:tc>
                  <a:txBody>
                    <a:bodyPr wrap="square"/>
                    <a:lstStyle/>
                    <a:p>
                      <a:pPr algn="r"/>
                      <a:r>
                        <a:rPr sz="1087" b="0">
                          <a:solidFill>
                            <a:srgbClr val="22252B"/>
                          </a:solidFill>
                          <a:latin typeface="Arial"/>
                        </a:rPr>
                        <a:t>36 %</a:t>
                      </a:r>
                    </a:p>
                  </a:txBody>
                  <a:tcPr marL="76200" marR="76200" marT="57150" marB="57150">
                    <a:solidFill>
                      <a:srgbClr val="FFFFFF"/>
                    </a:solidFill>
                  </a:tcPr>
                </a:tc>
              </a:tr>
              <a:tr h="319831">
                <a:tc>
                  <a:txBody>
                    <a:bodyPr wrap="square"/>
                    <a:lstStyle/>
                    <a:p>
                      <a:r>
                        <a:rPr sz="1087" b="0">
                          <a:solidFill>
                            <a:srgbClr val="22252B"/>
                          </a:solidFill>
                          <a:latin typeface="Arial"/>
                        </a:rPr>
                        <a:t>Prix France / Allemagne</a:t>
                      </a:r>
                    </a:p>
                  </a:txBody>
                  <a:tcPr marL="76200" marR="76200" marT="57150" marB="57150">
                    <a:solidFill>
                      <a:srgbClr val="FFFFFF"/>
                    </a:solidFill>
                  </a:tcPr>
                </a:tc>
                <a:tc>
                  <a:txBody>
                    <a:bodyPr wrap="square"/>
                    <a:lstStyle/>
                    <a:p>
                      <a:pPr algn="r"/>
                      <a:r>
                        <a:rPr sz="1087" b="0">
                          <a:solidFill>
                            <a:srgbClr val="22252B"/>
                          </a:solidFill>
                          <a:latin typeface="Arial"/>
                        </a:rPr>
                        <a:t>311 / 230 €</a:t>
                      </a:r>
                    </a:p>
                  </a:txBody>
                  <a:tcPr marL="76200" marR="76200" marT="57150" marB="57150">
                    <a:solidFill>
                      <a:srgbClr val="FFFFFF"/>
                    </a:solidFill>
                  </a:tcPr>
                </a:tc>
                <a:tc>
                  <a:txBody>
                    <a:bodyPr wrap="square"/>
                    <a:lstStyle/>
                    <a:p>
                      <a:pPr algn="r"/>
                    </a:p>
                  </a:txBody>
                  <a:tcPr marL="76200" marR="76200" marT="57150" marB="57150">
                    <a:solidFill>
                      <a:srgbClr val="FFFFFF"/>
                    </a:solidFill>
                  </a:tcPr>
                </a:tc>
              </a:tr>
            </a:tbl>
          </a:graphicData>
        </a:graphic>
      </p:graphicFrame>
      <p:sp>
        <p:nvSpPr>
          <p:cNvPr id="8" name="TextBox 7"/>
          <p:cNvSpPr txBox="1"/>
          <p:nvPr/>
        </p:nvSpPr>
        <p:spPr>
          <a:xfrm>
            <a:off x="6369992" y="4532411"/>
            <a:ext cx="5250507" cy="921543"/>
          </a:xfrm>
          <a:prstGeom prst="rect">
            <a:avLst/>
          </a:prstGeom>
          <a:solidFill>
            <a:srgbClr val="FBF6EA"/>
          </a:solidFill>
        </p:spPr>
        <p:txBody>
          <a:bodyPr wrap="square" lIns="133350" rIns="133350" tIns="95250" bIns="95250" anchor="t">
            <a:spAutoFit/>
          </a:bodyPr>
          <a:lstStyle/>
          <a:p>
            <a:r>
              <a:rPr sz="975" b="1">
                <a:solidFill>
                  <a:srgbClr val="22252B"/>
                </a:solidFill>
                <a:latin typeface="Arial"/>
              </a:rPr>
              <a:t>Heure typique : samedi 8 octobre 2022, 9 h–10 h.</a:t>
            </a:r>
            <a:r>
              <a:rPr sz="975" b="0">
                <a:solidFill>
                  <a:srgbClr val="22252B"/>
                </a:solidFill>
                <a:latin typeface="Arial"/>
              </a:rPr>
              <a:t> France 268,4 €, Allemagne 191,1 €, Belgique 167,5 €, Italie 275,8 €, Espagne 114,7 €. La France importe 4,0 GW ; consommation 41,7 GW ; nucléaire 25,5 GW (sur 28,9 disponibles) ; éolien 1,7 GW, solaire 1,0 GW ; en Allemagne, éolien + solaire = 47 % de la consommation.</a:t>
            </a:r>
          </a:p>
        </p:txBody>
      </p:sp>
      <p:sp>
        <p:nvSpPr>
          <p:cNvPr id="9" name="TextBox 8"/>
          <p:cNvSpPr txBox="1"/>
          <p:nvPr/>
        </p:nvSpPr>
        <p:spPr>
          <a:xfrm>
            <a:off x="571500" y="5660826"/>
            <a:ext cx="11049000" cy="359568"/>
          </a:xfrm>
          <a:prstGeom prst="rect">
            <a:avLst/>
          </a:prstGeom>
          <a:noFill/>
        </p:spPr>
        <p:txBody>
          <a:bodyPr wrap="square" lIns="0" rIns="0" tIns="0" bIns="0" anchor="t">
            <a:spAutoFit/>
          </a:bodyPr>
          <a:lstStyle/>
          <a:p>
            <a:r>
              <a:rPr sz="937" b="0">
                <a:solidFill>
                  <a:srgbClr val="8A8F98"/>
                </a:solidFill>
                <a:latin typeface="Arial"/>
              </a:rPr>
              <a:t>Heure typique : l’heure de 2022 la plus proche des valeurs médianes du cas (prix France, prix Allemagne, exports). Heures en heure de Paris. Sources : ENTSO-E, RTE éCO2mix, Energy-Charts ; calcul PowerKlock (case_profiles.py).</a:t>
            </a:r>
          </a:p>
        </p:txBody>
      </p:sp>
      <p:sp>
        <p:nvSpPr>
          <p:cNvPr id="10" name="TextBox 9"/>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a:t>
            </a:r>
            <a:r>
              <a:rPr sz="900" b="0">
                <a:solidFill>
                  <a:srgbClr val="AAAAAA"/>
                </a:solidFill>
                <a:latin typeface="Arial"/>
              </a:rPr>
              <a:t> · couplage des marchés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 RÉCAPITULATIF</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Tous les cas sur un seul dessin</a:t>
            </a:r>
          </a:p>
        </p:txBody>
      </p:sp>
      <p:pic>
        <p:nvPicPr>
          <p:cNvPr id="4" name="Picture 3" descr="image.png"/>
          <p:cNvPicPr>
            <a:picLocks noChangeAspect="1"/>
          </p:cNvPicPr>
          <p:nvPr/>
        </p:nvPicPr>
        <p:blipFill>
          <a:blip r:embed="rId2"/>
          <a:stretch>
            <a:fillRect/>
          </a:stretch>
        </p:blipFill>
        <p:spPr>
          <a:xfrm>
            <a:off x="571500" y="1101476"/>
            <a:ext cx="5148708" cy="2904380"/>
          </a:xfrm>
          <a:prstGeom prst="rect">
            <a:avLst/>
          </a:prstGeom>
        </p:spPr>
      </p:pic>
      <p:graphicFrame>
        <p:nvGraphicFramePr>
          <p:cNvPr id="5" name="Table 4"/>
          <p:cNvGraphicFramePr>
            <a:graphicFrameLocks noGrp="1"/>
          </p:cNvGraphicFramePr>
          <p:nvPr/>
        </p:nvGraphicFramePr>
        <p:xfrm>
          <a:off x="5929758" y="1101476"/>
          <a:ext cx="5690588" cy="2326478"/>
        </p:xfrm>
        <a:graphic>
          <a:graphicData uri="http://schemas.openxmlformats.org/drawingml/2006/table">
            <a:tbl>
              <a:tblPr firstRow="0" bandRow="0">
                <a:tableStyleId>{5C22544A-7EE6-4342-B048-85BDC9FD1C3A}</a:tableStyleId>
              </a:tblPr>
              <a:tblGrid>
                <a:gridCol w="958155"/>
                <a:gridCol w="1596925"/>
                <a:gridCol w="396626"/>
                <a:gridCol w="396626"/>
                <a:gridCol w="396626"/>
                <a:gridCol w="965448"/>
                <a:gridCol w="980182"/>
              </a:tblGrid>
              <a:tr h="254793">
                <a:tc>
                  <a:txBody>
                    <a:bodyPr wrap="square"/>
                    <a:lstStyle/>
                    <a:p>
                      <a:r>
                        <a:rPr sz="975" b="1">
                          <a:solidFill>
                            <a:srgbClr val="22252B"/>
                          </a:solidFill>
                          <a:latin typeface="Arial"/>
                        </a:rPr>
                        <a:t>Cas</a:t>
                      </a:r>
                    </a:p>
                  </a:txBody>
                  <a:tcPr marL="57150" marR="57150" marT="47625" marB="47625">
                    <a:solidFill>
                      <a:srgbClr val="F5F3FB"/>
                    </a:solidFill>
                  </a:tcPr>
                </a:tc>
                <a:tc>
                  <a:txBody>
                    <a:bodyPr wrap="square"/>
                    <a:lstStyle/>
                    <a:p>
                      <a:r>
                        <a:rPr sz="975" b="1">
                          <a:solidFill>
                            <a:srgbClr val="22252B"/>
                          </a:solidFill>
                          <a:latin typeface="Arial"/>
                        </a:rPr>
                        <a:t>Prix français</a:t>
                      </a:r>
                    </a:p>
                  </a:txBody>
                  <a:tcPr marL="57150" marR="57150" marT="47625" marB="47625">
                    <a:solidFill>
                      <a:srgbClr val="F5F3FB"/>
                    </a:solidFill>
                  </a:tcPr>
                </a:tc>
                <a:tc>
                  <a:txBody>
                    <a:bodyPr wrap="square"/>
                    <a:lstStyle/>
                    <a:p>
                      <a:pPr algn="r"/>
                      <a:r>
                        <a:rPr sz="975" b="1">
                          <a:solidFill>
                            <a:srgbClr val="22252B"/>
                          </a:solidFill>
                          <a:latin typeface="Arial"/>
                        </a:rPr>
                        <a:t>2019</a:t>
                      </a:r>
                    </a:p>
                  </a:txBody>
                  <a:tcPr marL="57150" marR="57150" marT="47625" marB="47625">
                    <a:solidFill>
                      <a:srgbClr val="F5F3FB"/>
                    </a:solidFill>
                  </a:tcPr>
                </a:tc>
                <a:tc>
                  <a:txBody>
                    <a:bodyPr wrap="square"/>
                    <a:lstStyle/>
                    <a:p>
                      <a:pPr algn="r"/>
                      <a:r>
                        <a:rPr sz="975" b="1">
                          <a:solidFill>
                            <a:srgbClr val="22252B"/>
                          </a:solidFill>
                          <a:latin typeface="Arial"/>
                        </a:rPr>
                        <a:t>2022</a:t>
                      </a:r>
                    </a:p>
                  </a:txBody>
                  <a:tcPr marL="57150" marR="57150" marT="47625" marB="47625">
                    <a:solidFill>
                      <a:srgbClr val="F5F3FB"/>
                    </a:solidFill>
                  </a:tcPr>
                </a:tc>
                <a:tc>
                  <a:txBody>
                    <a:bodyPr wrap="square"/>
                    <a:lstStyle/>
                    <a:p>
                      <a:pPr algn="r"/>
                      <a:r>
                        <a:rPr sz="975" b="1">
                          <a:solidFill>
                            <a:srgbClr val="22252B"/>
                          </a:solidFill>
                          <a:latin typeface="Arial"/>
                        </a:rPr>
                        <a:t>2025</a:t>
                      </a:r>
                    </a:p>
                  </a:txBody>
                  <a:tcPr marL="57150" marR="57150" marT="47625" marB="47625">
                    <a:solidFill>
                      <a:srgbClr val="F5F3FB"/>
                    </a:solidFill>
                  </a:tcPr>
                </a:tc>
                <a:tc>
                  <a:txBody>
                    <a:bodyPr wrap="square"/>
                    <a:lstStyle/>
                    <a:p>
                      <a:r>
                        <a:rPr sz="975" b="1">
                          <a:solidFill>
                            <a:srgbClr val="22252B"/>
                          </a:solidFill>
                          <a:latin typeface="Arial"/>
                        </a:rPr>
                        <a:t>Sécurité</a:t>
                      </a:r>
                    </a:p>
                  </a:txBody>
                  <a:tcPr marL="57150" marR="57150" marT="47625" marB="47625">
                    <a:solidFill>
                      <a:srgbClr val="F5F3FB"/>
                    </a:solidFill>
                  </a:tcPr>
                </a:tc>
                <a:tc>
                  <a:txBody>
                    <a:bodyPr wrap="square"/>
                    <a:lstStyle/>
                    <a:p>
                      <a:r>
                        <a:rPr sz="975" b="1">
                          <a:solidFill>
                            <a:srgbClr val="22252B"/>
                          </a:solidFill>
                          <a:latin typeface="Arial"/>
                        </a:rPr>
                        <a:t>Rente</a:t>
                      </a:r>
                    </a:p>
                  </a:txBody>
                  <a:tcPr marL="57150" marR="57150" marT="47625" marB="47625">
                    <a:solidFill>
                      <a:srgbClr val="F5F3FB"/>
                    </a:solidFill>
                  </a:tcPr>
                </a:tc>
              </a:tr>
              <a:tr h="414337">
                <a:tc>
                  <a:txBody>
                    <a:bodyPr wrap="square"/>
                    <a:lstStyle/>
                    <a:p>
                      <a:r>
                        <a:rPr sz="975" b="0">
                          <a:solidFill>
                            <a:srgbClr val="22252B"/>
                          </a:solidFill>
                          <a:latin typeface="Arial"/>
                        </a:rPr>
                        <a:t>1. Export, ligne libre</a:t>
                      </a:r>
                    </a:p>
                  </a:txBody>
                  <a:tcPr marL="57150" marR="57150" marT="47625" marB="47625">
                    <a:solidFill>
                      <a:srgbClr val="FFFFFF"/>
                    </a:solidFill>
                  </a:tcPr>
                </a:tc>
                <a:tc>
                  <a:txBody>
                    <a:bodyPr wrap="square"/>
                    <a:lstStyle/>
                    <a:p>
                      <a:r>
                        <a:rPr sz="975" b="0">
                          <a:solidFill>
                            <a:srgbClr val="22252B"/>
                          </a:solidFill>
                          <a:latin typeface="Arial"/>
                        </a:rPr>
                        <a:t>monte jusqu’aux voisins</a:t>
                      </a:r>
                    </a:p>
                  </a:txBody>
                  <a:tcPr marL="57150" marR="57150" marT="47625" marB="47625">
                    <a:solidFill>
                      <a:srgbClr val="FFFFFF"/>
                    </a:solidFill>
                  </a:tcPr>
                </a:tc>
                <a:tc>
                  <a:txBody>
                    <a:bodyPr wrap="square"/>
                    <a:lstStyle/>
                    <a:p>
                      <a:pPr algn="r"/>
                      <a:r>
                        <a:rPr sz="975" b="0">
                          <a:solidFill>
                            <a:srgbClr val="22252B"/>
                          </a:solidFill>
                          <a:latin typeface="Arial"/>
                        </a:rPr>
                        <a:t>41 %</a:t>
                      </a:r>
                    </a:p>
                  </a:txBody>
                  <a:tcPr marL="57150" marR="57150" marT="47625" marB="47625">
                    <a:solidFill>
                      <a:srgbClr val="FFFFFF"/>
                    </a:solidFill>
                  </a:tcPr>
                </a:tc>
                <a:tc>
                  <a:txBody>
                    <a:bodyPr wrap="square"/>
                    <a:lstStyle/>
                    <a:p>
                      <a:pPr algn="r"/>
                      <a:r>
                        <a:rPr sz="975" b="0">
                          <a:solidFill>
                            <a:srgbClr val="22252B"/>
                          </a:solidFill>
                          <a:latin typeface="Arial"/>
                        </a:rPr>
                        <a:t>14 %</a:t>
                      </a:r>
                    </a:p>
                  </a:txBody>
                  <a:tcPr marL="57150" marR="57150" marT="47625" marB="47625">
                    <a:solidFill>
                      <a:srgbClr val="FFFFFF"/>
                    </a:solidFill>
                  </a:tcPr>
                </a:tc>
                <a:tc>
                  <a:txBody>
                    <a:bodyPr wrap="square"/>
                    <a:lstStyle/>
                    <a:p>
                      <a:pPr algn="r"/>
                      <a:r>
                        <a:rPr sz="975" b="0">
                          <a:solidFill>
                            <a:srgbClr val="22252B"/>
                          </a:solidFill>
                          <a:latin typeface="Arial"/>
                        </a:rPr>
                        <a:t>10 %</a:t>
                      </a:r>
                    </a:p>
                  </a:txBody>
                  <a:tcPr marL="57150" marR="57150" marT="47625" marB="47625">
                    <a:solidFill>
                      <a:srgbClr val="FFFFFF"/>
                    </a:solidFill>
                  </a:tcPr>
                </a:tc>
                <a:tc>
                  <a:txBody>
                    <a:bodyPr wrap="square"/>
                    <a:lstStyle/>
                    <a:p>
                      <a:r>
                        <a:rPr sz="975" b="0">
                          <a:solidFill>
                            <a:srgbClr val="22252B"/>
                          </a:solidFill>
                          <a:latin typeface="Arial"/>
                        </a:rPr>
                        <a:t>aide les voisins</a:t>
                      </a:r>
                    </a:p>
                  </a:txBody>
                  <a:tcPr marL="57150" marR="57150" marT="47625" marB="47625">
                    <a:solidFill>
                      <a:srgbClr val="FFFFFF"/>
                    </a:solidFill>
                  </a:tcPr>
                </a:tc>
                <a:tc>
                  <a:txBody>
                    <a:bodyPr wrap="square"/>
                    <a:lstStyle/>
                    <a:p>
                      <a:r>
                        <a:rPr sz="975" b="0">
                          <a:solidFill>
                            <a:srgbClr val="22252B"/>
                          </a:solidFill>
                          <a:latin typeface="Arial"/>
                        </a:rPr>
                        <a:t>faible</a:t>
                      </a:r>
                    </a:p>
                  </a:txBody>
                  <a:tcPr marL="57150" marR="57150" marT="47625" marB="47625">
                    <a:solidFill>
                      <a:srgbClr val="FFFFFF"/>
                    </a:solidFill>
                  </a:tcPr>
                </a:tc>
              </a:tr>
              <a:tr h="414337">
                <a:tc>
                  <a:txBody>
                    <a:bodyPr wrap="square"/>
                    <a:lstStyle/>
                    <a:p>
                      <a:r>
                        <a:rPr sz="975" b="0">
                          <a:solidFill>
                            <a:srgbClr val="22252B"/>
                          </a:solidFill>
                          <a:latin typeface="Arial"/>
                        </a:rPr>
                        <a:t>2. Export, ligne pleine</a:t>
                      </a:r>
                    </a:p>
                  </a:txBody>
                  <a:tcPr marL="57150" marR="57150" marT="47625" marB="47625">
                    <a:solidFill>
                      <a:srgbClr val="FFFFFF"/>
                    </a:solidFill>
                  </a:tcPr>
                </a:tc>
                <a:tc>
                  <a:txBody>
                    <a:bodyPr wrap="square"/>
                    <a:lstStyle/>
                    <a:p>
                      <a:r>
                        <a:rPr sz="975" b="0">
                          <a:solidFill>
                            <a:srgbClr val="22252B"/>
                          </a:solidFill>
                          <a:latin typeface="Arial"/>
                        </a:rPr>
                        <a:t>monte un peu, reste sous les voisins</a:t>
                      </a:r>
                    </a:p>
                  </a:txBody>
                  <a:tcPr marL="57150" marR="57150" marT="47625" marB="47625">
                    <a:solidFill>
                      <a:srgbClr val="FFFFFF"/>
                    </a:solidFill>
                  </a:tcPr>
                </a:tc>
                <a:tc>
                  <a:txBody>
                    <a:bodyPr wrap="square"/>
                    <a:lstStyle/>
                    <a:p>
                      <a:pPr algn="r"/>
                      <a:r>
                        <a:rPr sz="975" b="0">
                          <a:solidFill>
                            <a:srgbClr val="22252B"/>
                          </a:solidFill>
                          <a:latin typeface="Arial"/>
                        </a:rPr>
                        <a:t>16 %</a:t>
                      </a:r>
                    </a:p>
                  </a:txBody>
                  <a:tcPr marL="57150" marR="57150" marT="47625" marB="47625">
                    <a:solidFill>
                      <a:srgbClr val="FFFFFF"/>
                    </a:solidFill>
                  </a:tcPr>
                </a:tc>
                <a:tc>
                  <a:txBody>
                    <a:bodyPr wrap="square"/>
                    <a:lstStyle/>
                    <a:p>
                      <a:pPr algn="r"/>
                      <a:r>
                        <a:rPr sz="975" b="0">
                          <a:solidFill>
                            <a:srgbClr val="22252B"/>
                          </a:solidFill>
                          <a:latin typeface="Arial"/>
                        </a:rPr>
                        <a:t>1 %</a:t>
                      </a:r>
                    </a:p>
                  </a:txBody>
                  <a:tcPr marL="57150" marR="57150" marT="47625" marB="47625">
                    <a:solidFill>
                      <a:srgbClr val="FFFFFF"/>
                    </a:solidFill>
                  </a:tcPr>
                </a:tc>
                <a:tc>
                  <a:txBody>
                    <a:bodyPr wrap="square"/>
                    <a:lstStyle/>
                    <a:p>
                      <a:pPr algn="r"/>
                      <a:r>
                        <a:rPr sz="975" b="0">
                          <a:solidFill>
                            <a:srgbClr val="22252B"/>
                          </a:solidFill>
                          <a:latin typeface="Arial"/>
                        </a:rPr>
                        <a:t>66 %</a:t>
                      </a:r>
                    </a:p>
                  </a:txBody>
                  <a:tcPr marL="57150" marR="57150" marT="47625" marB="47625">
                    <a:solidFill>
                      <a:srgbClr val="FFFFFF"/>
                    </a:solidFill>
                  </a:tcPr>
                </a:tc>
                <a:tc>
                  <a:txBody>
                    <a:bodyPr wrap="square"/>
                    <a:lstStyle/>
                    <a:p>
                      <a:r>
                        <a:rPr sz="975" b="0">
                          <a:solidFill>
                            <a:srgbClr val="22252B"/>
                          </a:solidFill>
                          <a:latin typeface="Arial"/>
                        </a:rPr>
                        <a:t>aucune tension</a:t>
                      </a:r>
                    </a:p>
                  </a:txBody>
                  <a:tcPr marL="57150" marR="57150" marT="47625" marB="47625">
                    <a:solidFill>
                      <a:srgbClr val="FFFFFF"/>
                    </a:solidFill>
                  </a:tcPr>
                </a:tc>
                <a:tc>
                  <a:txBody>
                    <a:bodyPr wrap="square"/>
                    <a:lstStyle/>
                    <a:p>
                      <a:r>
                        <a:rPr sz="975" b="1">
                          <a:solidFill>
                            <a:srgbClr val="22252B"/>
                          </a:solidFill>
                          <a:latin typeface="Arial"/>
                        </a:rPr>
                        <a:t>forte</a:t>
                      </a:r>
                      <a:r>
                        <a:rPr sz="975" b="0">
                          <a:solidFill>
                            <a:srgbClr val="22252B"/>
                          </a:solidFill>
                          <a:latin typeface="Arial"/>
                        </a:rPr>
                        <a:t> : 3,6 Md€ (2025)</a:t>
                      </a:r>
                    </a:p>
                  </a:txBody>
                  <a:tcPr marL="57150" marR="57150" marT="47625" marB="47625">
                    <a:solidFill>
                      <a:srgbClr val="FFFFFF"/>
                    </a:solidFill>
                  </a:tcPr>
                </a:tc>
              </a:tr>
              <a:tr h="414337">
                <a:tc>
                  <a:txBody>
                    <a:bodyPr wrap="square"/>
                    <a:lstStyle/>
                    <a:p>
                      <a:r>
                        <a:rPr sz="975" b="0">
                          <a:solidFill>
                            <a:srgbClr val="22252B"/>
                          </a:solidFill>
                          <a:latin typeface="Arial"/>
                        </a:rPr>
                        <a:t>3. Import, ligne libre</a:t>
                      </a:r>
                    </a:p>
                  </a:txBody>
                  <a:tcPr marL="57150" marR="57150" marT="47625" marB="47625">
                    <a:solidFill>
                      <a:srgbClr val="FFFFFF"/>
                    </a:solidFill>
                  </a:tcPr>
                </a:tc>
                <a:tc>
                  <a:txBody>
                    <a:bodyPr wrap="square"/>
                    <a:lstStyle/>
                    <a:p>
                      <a:r>
                        <a:rPr sz="975" b="0">
                          <a:solidFill>
                            <a:srgbClr val="22252B"/>
                          </a:solidFill>
                          <a:latin typeface="Arial"/>
                        </a:rPr>
                        <a:t>baisse jusqu’aux voisins</a:t>
                      </a:r>
                    </a:p>
                  </a:txBody>
                  <a:tcPr marL="57150" marR="57150" marT="47625" marB="47625">
                    <a:solidFill>
                      <a:srgbClr val="FFFFFF"/>
                    </a:solidFill>
                  </a:tcPr>
                </a:tc>
                <a:tc>
                  <a:txBody>
                    <a:bodyPr wrap="square"/>
                    <a:lstStyle/>
                    <a:p>
                      <a:pPr algn="r"/>
                      <a:r>
                        <a:rPr sz="975" b="0">
                          <a:solidFill>
                            <a:srgbClr val="22252B"/>
                          </a:solidFill>
                          <a:latin typeface="Arial"/>
                        </a:rPr>
                        <a:t>1 %</a:t>
                      </a:r>
                    </a:p>
                  </a:txBody>
                  <a:tcPr marL="57150" marR="57150" marT="47625" marB="47625">
                    <a:solidFill>
                      <a:srgbClr val="FFFFFF"/>
                    </a:solidFill>
                  </a:tcPr>
                </a:tc>
                <a:tc>
                  <a:txBody>
                    <a:bodyPr wrap="square"/>
                    <a:lstStyle/>
                    <a:p>
                      <a:pPr algn="r"/>
                      <a:r>
                        <a:rPr sz="975" b="0">
                          <a:solidFill>
                            <a:srgbClr val="22252B"/>
                          </a:solidFill>
                          <a:latin typeface="Arial"/>
                        </a:rPr>
                        <a:t>19 %</a:t>
                      </a:r>
                    </a:p>
                  </a:txBody>
                  <a:tcPr marL="57150" marR="57150" marT="47625" marB="47625">
                    <a:solidFill>
                      <a:srgbClr val="FFFFFF"/>
                    </a:solidFill>
                  </a:tcPr>
                </a:tc>
                <a:tc>
                  <a:txBody>
                    <a:bodyPr wrap="square"/>
                    <a:lstStyle/>
                    <a:p>
                      <a:pPr algn="r"/>
                      <a:r>
                        <a:rPr sz="975" b="0">
                          <a:solidFill>
                            <a:srgbClr val="22252B"/>
                          </a:solidFill>
                          <a:latin typeface="Arial"/>
                        </a:rPr>
                        <a:t>0 %</a:t>
                      </a:r>
                    </a:p>
                  </a:txBody>
                  <a:tcPr marL="57150" marR="57150" marT="47625" marB="47625">
                    <a:solidFill>
                      <a:srgbClr val="FFFFFF"/>
                    </a:solidFill>
                  </a:tcPr>
                </a:tc>
                <a:tc>
                  <a:txBody>
                    <a:bodyPr wrap="square"/>
                    <a:lstStyle/>
                    <a:p>
                      <a:r>
                        <a:rPr sz="975" b="0">
                          <a:solidFill>
                            <a:srgbClr val="22252B"/>
                          </a:solidFill>
                          <a:latin typeface="Arial"/>
                        </a:rPr>
                        <a:t>pas de tension</a:t>
                      </a:r>
                    </a:p>
                  </a:txBody>
                  <a:tcPr marL="57150" marR="57150" marT="47625" marB="47625">
                    <a:solidFill>
                      <a:srgbClr val="FFFFFF"/>
                    </a:solidFill>
                  </a:tcPr>
                </a:tc>
                <a:tc>
                  <a:txBody>
                    <a:bodyPr wrap="square"/>
                    <a:lstStyle/>
                    <a:p>
                      <a:r>
                        <a:rPr sz="975" b="0">
                          <a:solidFill>
                            <a:srgbClr val="22252B"/>
                          </a:solidFill>
                          <a:latin typeface="Arial"/>
                        </a:rPr>
                        <a:t>faible</a:t>
                      </a:r>
                    </a:p>
                  </a:txBody>
                  <a:tcPr marL="57150" marR="57150" marT="47625" marB="47625">
                    <a:solidFill>
                      <a:srgbClr val="FFFFFF"/>
                    </a:solidFill>
                  </a:tcPr>
                </a:tc>
              </a:tr>
              <a:tr h="414337">
                <a:tc>
                  <a:txBody>
                    <a:bodyPr wrap="square"/>
                    <a:lstStyle/>
                    <a:p>
                      <a:r>
                        <a:rPr sz="975" b="0">
                          <a:solidFill>
                            <a:srgbClr val="22252B"/>
                          </a:solidFill>
                          <a:latin typeface="Arial"/>
                        </a:rPr>
                        <a:t>4. Import, ligne pleine</a:t>
                      </a:r>
                    </a:p>
                  </a:txBody>
                  <a:tcPr marL="57150" marR="57150" marT="47625" marB="47625">
                    <a:solidFill>
                      <a:srgbClr val="FFFFFF"/>
                    </a:solidFill>
                  </a:tcPr>
                </a:tc>
                <a:tc>
                  <a:txBody>
                    <a:bodyPr wrap="square"/>
                    <a:lstStyle/>
                    <a:p>
                      <a:r>
                        <a:rPr sz="975" b="0">
                          <a:solidFill>
                            <a:srgbClr val="22252B"/>
                          </a:solidFill>
                          <a:latin typeface="Arial"/>
                        </a:rPr>
                        <a:t>baisse, reste au-dessus des voisins</a:t>
                      </a:r>
                    </a:p>
                  </a:txBody>
                  <a:tcPr marL="57150" marR="57150" marT="47625" marB="47625">
                    <a:solidFill>
                      <a:srgbClr val="FFFFFF"/>
                    </a:solidFill>
                  </a:tcPr>
                </a:tc>
                <a:tc>
                  <a:txBody>
                    <a:bodyPr wrap="square"/>
                    <a:lstStyle/>
                    <a:p>
                      <a:pPr algn="r"/>
                      <a:r>
                        <a:rPr sz="975" b="0">
                          <a:solidFill>
                            <a:srgbClr val="22252B"/>
                          </a:solidFill>
                          <a:latin typeface="Arial"/>
                        </a:rPr>
                        <a:t>4 %</a:t>
                      </a:r>
                    </a:p>
                  </a:txBody>
                  <a:tcPr marL="57150" marR="57150" marT="47625" marB="47625">
                    <a:solidFill>
                      <a:srgbClr val="FFFFFF"/>
                    </a:solidFill>
                  </a:tcPr>
                </a:tc>
                <a:tc>
                  <a:txBody>
                    <a:bodyPr wrap="square"/>
                    <a:lstStyle/>
                    <a:p>
                      <a:pPr algn="r"/>
                      <a:r>
                        <a:rPr sz="975" b="0">
                          <a:solidFill>
                            <a:srgbClr val="22252B"/>
                          </a:solidFill>
                          <a:latin typeface="Arial"/>
                        </a:rPr>
                        <a:t>40 %</a:t>
                      </a:r>
                    </a:p>
                  </a:txBody>
                  <a:tcPr marL="57150" marR="57150" marT="47625" marB="47625">
                    <a:solidFill>
                      <a:srgbClr val="FFFFFF"/>
                    </a:solidFill>
                  </a:tcPr>
                </a:tc>
                <a:tc>
                  <a:txBody>
                    <a:bodyPr wrap="square"/>
                    <a:lstStyle/>
                    <a:p>
                      <a:pPr algn="r"/>
                      <a:r>
                        <a:rPr sz="975" b="0">
                          <a:solidFill>
                            <a:srgbClr val="22252B"/>
                          </a:solidFill>
                          <a:latin typeface="Arial"/>
                        </a:rPr>
                        <a:t>1 %</a:t>
                      </a:r>
                    </a:p>
                  </a:txBody>
                  <a:tcPr marL="57150" marR="57150" marT="47625" marB="47625">
                    <a:solidFill>
                      <a:srgbClr val="FFFFFF"/>
                    </a:solidFill>
                  </a:tcPr>
                </a:tc>
                <a:tc>
                  <a:txBody>
                    <a:bodyPr wrap="square"/>
                    <a:lstStyle/>
                    <a:p>
                      <a:r>
                        <a:rPr sz="975" b="1">
                          <a:solidFill>
                            <a:srgbClr val="22252B"/>
                          </a:solidFill>
                          <a:latin typeface="Arial"/>
                        </a:rPr>
                        <a:t>tension</a:t>
                      </a:r>
                    </a:p>
                  </a:txBody>
                  <a:tcPr marL="57150" marR="57150" marT="47625" marB="47625">
                    <a:solidFill>
                      <a:srgbClr val="FFFFFF"/>
                    </a:solidFill>
                  </a:tcPr>
                </a:tc>
                <a:tc>
                  <a:txBody>
                    <a:bodyPr wrap="square"/>
                    <a:lstStyle/>
                    <a:p>
                      <a:r>
                        <a:rPr sz="975" b="1">
                          <a:solidFill>
                            <a:srgbClr val="22252B"/>
                          </a:solidFill>
                          <a:latin typeface="Arial"/>
                        </a:rPr>
                        <a:t>forte</a:t>
                      </a:r>
                      <a:r>
                        <a:rPr sz="975" b="0">
                          <a:solidFill>
                            <a:srgbClr val="22252B"/>
                          </a:solidFill>
                          <a:latin typeface="Arial"/>
                        </a:rPr>
                        <a:t> : 3,5 Md€ (2022)</a:t>
                      </a:r>
                    </a:p>
                  </a:txBody>
                  <a:tcPr marL="57150" marR="57150" marT="47625" marB="47625">
                    <a:solidFill>
                      <a:srgbClr val="FFFFFF"/>
                    </a:solidFill>
                  </a:tcPr>
                </a:tc>
              </a:tr>
              <a:tr h="414337">
                <a:tc>
                  <a:txBody>
                    <a:bodyPr wrap="square"/>
                    <a:lstStyle/>
                    <a:p>
                      <a:r>
                        <a:rPr sz="975" b="0">
                          <a:solidFill>
                            <a:srgbClr val="22252B"/>
                          </a:solidFill>
                          <a:latin typeface="Arial"/>
                        </a:rPr>
                        <a:t>0. Seule</a:t>
                      </a:r>
                    </a:p>
                  </a:txBody>
                  <a:tcPr marL="57150" marR="57150" marT="47625" marB="47625">
                    <a:solidFill>
                      <a:srgbClr val="FFFFFF"/>
                    </a:solidFill>
                  </a:tcPr>
                </a:tc>
                <a:tc>
                  <a:txBody>
                    <a:bodyPr wrap="square"/>
                    <a:lstStyle/>
                    <a:p>
                      <a:r>
                        <a:rPr sz="975" b="0">
                          <a:solidFill>
                            <a:srgbClr val="22252B"/>
                          </a:solidFill>
                          <a:latin typeface="Arial"/>
                        </a:rPr>
                        <a:t>se lit à la consommation</a:t>
                      </a:r>
                    </a:p>
                  </a:txBody>
                  <a:tcPr marL="57150" marR="57150" marT="47625" marB="47625">
                    <a:solidFill>
                      <a:srgbClr val="FFFFFF"/>
                    </a:solidFill>
                  </a:tcPr>
                </a:tc>
                <a:tc>
                  <a:txBody>
                    <a:bodyPr wrap="square"/>
                    <a:lstStyle/>
                    <a:p>
                      <a:pPr algn="r"/>
                      <a:r>
                        <a:rPr sz="975" b="0">
                          <a:solidFill>
                            <a:srgbClr val="22252B"/>
                          </a:solidFill>
                          <a:latin typeface="Arial"/>
                        </a:rPr>
                        <a:t>0 %</a:t>
                      </a:r>
                    </a:p>
                  </a:txBody>
                  <a:tcPr marL="57150" marR="57150" marT="47625" marB="47625">
                    <a:solidFill>
                      <a:srgbClr val="FFFFFF"/>
                    </a:solidFill>
                  </a:tcPr>
                </a:tc>
                <a:tc>
                  <a:txBody>
                    <a:bodyPr wrap="square"/>
                    <a:lstStyle/>
                    <a:p>
                      <a:pPr algn="r"/>
                      <a:r>
                        <a:rPr sz="975" b="0">
                          <a:solidFill>
                            <a:srgbClr val="22252B"/>
                          </a:solidFill>
                          <a:latin typeface="Arial"/>
                        </a:rPr>
                        <a:t>0 %</a:t>
                      </a:r>
                    </a:p>
                  </a:txBody>
                  <a:tcPr marL="57150" marR="57150" marT="47625" marB="47625">
                    <a:solidFill>
                      <a:srgbClr val="FFFFFF"/>
                    </a:solidFill>
                  </a:tcPr>
                </a:tc>
                <a:tc>
                  <a:txBody>
                    <a:bodyPr wrap="square"/>
                    <a:lstStyle/>
                    <a:p>
                      <a:pPr algn="r"/>
                      <a:r>
                        <a:rPr sz="975" b="0">
                          <a:solidFill>
                            <a:srgbClr val="22252B"/>
                          </a:solidFill>
                          <a:latin typeface="Arial"/>
                        </a:rPr>
                        <a:t>0 %</a:t>
                      </a:r>
                    </a:p>
                  </a:txBody>
                  <a:tcPr marL="57150" marR="57150" marT="47625" marB="47625">
                    <a:solidFill>
                      <a:srgbClr val="FFFFFF"/>
                    </a:solidFill>
                  </a:tcPr>
                </a:tc>
                <a:tc>
                  <a:txBody>
                    <a:bodyPr wrap="square"/>
                    <a:lstStyle/>
                    <a:p>
                      <a:r>
                        <a:rPr sz="975" b="0">
                          <a:solidFill>
                            <a:srgbClr val="22252B"/>
                          </a:solidFill>
                          <a:latin typeface="Arial"/>
                        </a:rPr>
                        <a:t>personne pour aider</a:t>
                      </a:r>
                    </a:p>
                  </a:txBody>
                  <a:tcPr marL="57150" marR="57150" marT="47625" marB="47625">
                    <a:solidFill>
                      <a:srgbClr val="FFFFFF"/>
                    </a:solidFill>
                  </a:tcPr>
                </a:tc>
                <a:tc>
                  <a:txBody>
                    <a:bodyPr wrap="square"/>
                    <a:lstStyle/>
                    <a:p>
                      <a:r>
                        <a:rPr sz="975" b="0">
                          <a:solidFill>
                            <a:srgbClr val="22252B"/>
                          </a:solidFill>
                          <a:latin typeface="Arial"/>
                        </a:rPr>
                        <a:t>aucune</a:t>
                      </a:r>
                    </a:p>
                  </a:txBody>
                  <a:tcPr marL="57150" marR="57150" marT="47625" marB="47625">
                    <a:solidFill>
                      <a:srgbClr val="FFFFFF"/>
                    </a:solidFill>
                  </a:tcPr>
                </a:tc>
              </a:tr>
            </a:tbl>
          </a:graphicData>
        </a:graphic>
      </p:graphicFrame>
      <p:sp>
        <p:nvSpPr>
          <p:cNvPr id="6" name="TextBox 5"/>
          <p:cNvSpPr txBox="1"/>
          <p:nvPr/>
        </p:nvSpPr>
        <p:spPr>
          <a:xfrm>
            <a:off x="5929758" y="3508920"/>
            <a:ext cx="5690592" cy="666750"/>
          </a:xfrm>
          <a:prstGeom prst="rect">
            <a:avLst/>
          </a:prstGeom>
          <a:noFill/>
        </p:spPr>
        <p:txBody>
          <a:bodyPr wrap="square" lIns="0" rIns="0" tIns="0" bIns="0" anchor="t">
            <a:spAutoFit/>
          </a:bodyPr>
          <a:lstStyle/>
          <a:p>
            <a:r>
              <a:rPr sz="1162" b="0">
                <a:solidFill>
                  <a:srgbClr val="22252B"/>
                </a:solidFill>
                <a:latin typeface="Arial"/>
              </a:rPr>
              <a:t>Le reste du temps (23 % en 2025) : prix français entre ceux de la Belgique et de l’Allemagne, ou plus cher que les deux en exportant vers l’Italie, la Suisse et la Grande-Bretagne (souvent un surplus de vent et de soleil en Allemagne).</a:t>
            </a:r>
          </a:p>
        </p:txBody>
      </p:sp>
      <p:sp>
        <p:nvSpPr>
          <p:cNvPr id="7" name="TextBox 6"/>
          <p:cNvSpPr txBox="1"/>
          <p:nvPr/>
        </p:nvSpPr>
        <p:spPr>
          <a:xfrm>
            <a:off x="571500" y="4399508"/>
            <a:ext cx="11049000" cy="520303"/>
          </a:xfrm>
          <a:prstGeom prst="rect">
            <a:avLst/>
          </a:prstGeom>
          <a:noFill/>
        </p:spPr>
        <p:txBody>
          <a:bodyPr wrap="square" lIns="0" rIns="0" tIns="0" bIns="0" anchor="t">
            <a:spAutoFit/>
          </a:bodyPr>
          <a:lstStyle/>
          <a:p>
            <a:r>
              <a:rPr sz="937" b="0">
                <a:solidFill>
                  <a:srgbClr val="8A8F98"/>
                </a:solidFill>
                <a:latin typeface="Arial"/>
              </a:rPr>
              <a:t>Merit order simplifié, identique sur tous les dessins : parc et prix illustratifs. Point rouge : prix de la France, lu sur la production française ; point blanc : prix de la France seule (50 €). Les vrais chiffres sont dans les tableaux (ENTSO-E, Energy-Charts, RTE ; calcul PowerKlock). Ligne pas saturée = prix France égal à ceux de la Belgique et de l’Allemagne (au centime) ; saturée = France moins chère (exportatrice) ou plus chère (importatrice) que les deux ; exportatrice / importatrice = signe des échanges commerciaux. Sources : ENTSO-E, Energy-Charts ; calcul PowerKlock (cases5.py, cases_hist.py).</a:t>
            </a:r>
          </a:p>
        </p:txBody>
      </p:sp>
      <p:sp>
        <p:nvSpPr>
          <p:cNvPr id="8" name="TextBox 7"/>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a:t>
            </a:r>
            <a:r>
              <a:rPr sz="900" b="0">
                <a:solidFill>
                  <a:srgbClr val="AAAAAA"/>
                </a:solidFill>
                <a:latin typeface="Arial"/>
              </a:rPr>
              <a:t> · couplage des marchés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PLUS CHER ?</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Le consommateur paie-t-il plus cher ? Oui et non</a:t>
            </a:r>
          </a:p>
        </p:txBody>
      </p:sp>
      <p:sp>
        <p:nvSpPr>
          <p:cNvPr id="4" name="TextBox 3"/>
          <p:cNvSpPr txBox="1"/>
          <p:nvPr/>
        </p:nvSpPr>
        <p:spPr>
          <a:xfrm>
            <a:off x="571500" y="1101476"/>
            <a:ext cx="5512742" cy="281433"/>
          </a:xfrm>
          <a:prstGeom prst="rect">
            <a:avLst/>
          </a:prstGeom>
          <a:noFill/>
        </p:spPr>
        <p:txBody>
          <a:bodyPr wrap="square" lIns="0" rIns="0" tIns="0" bIns="0" anchor="t">
            <a:spAutoFit/>
          </a:bodyPr>
          <a:lstStyle/>
          <a:p>
            <a:r>
              <a:rPr sz="1350" b="1">
                <a:solidFill>
                  <a:srgbClr val="C8453A"/>
                </a:solidFill>
                <a:latin typeface="Arial"/>
              </a:rPr>
              <a:t>Oui, pour le prix spot</a:t>
            </a:r>
          </a:p>
        </p:txBody>
      </p:sp>
      <p:sp>
        <p:nvSpPr>
          <p:cNvPr id="5" name="TextBox 4"/>
          <p:cNvSpPr txBox="1"/>
          <p:nvPr/>
        </p:nvSpPr>
        <p:spPr>
          <a:xfrm>
            <a:off x="571500" y="1401960"/>
            <a:ext cx="5512742" cy="1171575"/>
          </a:xfrm>
          <a:prstGeom prst="rect">
            <a:avLst/>
          </a:prstGeom>
          <a:noFill/>
        </p:spPr>
        <p:txBody>
          <a:bodyPr wrap="square" lIns="0" rIns="0" tIns="0" bIns="0" anchor="t">
            <a:spAutoFit/>
          </a:bodyPr>
          <a:lstStyle/>
          <a:p>
            <a:pPr marL="152400" indent="-133350">
              <a:spcAft>
                <a:spcPts val="500"/>
              </a:spcAft>
              <a:buChar char="•"/>
            </a:pPr>
            <a:r>
              <a:rPr sz="1162" b="0">
                <a:solidFill>
                  <a:srgbClr val="22252B"/>
                </a:solidFill>
                <a:latin typeface="Arial"/>
              </a:rPr>
              <a:t>Quand la France exporte (99 % du temps en 2025), ses acheteurs tirent le prix vers le leur. La CRE le dit à propos du mécanisme ibérique : un prix français plus bas « aurait conduit à des exports massifs vers les pays voisins ».</a:t>
            </a:r>
          </a:p>
          <a:p>
            <a:pPr marL="152400" indent="-133350">
              <a:spcAft>
                <a:spcPts val="500"/>
              </a:spcAft>
              <a:buChar char="•"/>
            </a:pPr>
            <a:r>
              <a:rPr sz="1162" b="0">
                <a:solidFill>
                  <a:srgbClr val="22252B"/>
                </a:solidFill>
                <a:latin typeface="Arial"/>
              </a:rPr>
              <a:t>Le prix spot français est donc plus haut que celui d’une France qui garderait tout pour elle.</a:t>
            </a:r>
          </a:p>
        </p:txBody>
      </p:sp>
      <p:sp>
        <p:nvSpPr>
          <p:cNvPr id="6" name="TextBox 5"/>
          <p:cNvSpPr txBox="1"/>
          <p:nvPr/>
        </p:nvSpPr>
        <p:spPr>
          <a:xfrm>
            <a:off x="571500" y="2649735"/>
            <a:ext cx="5512742" cy="281433"/>
          </a:xfrm>
          <a:prstGeom prst="rect">
            <a:avLst/>
          </a:prstGeom>
          <a:noFill/>
        </p:spPr>
        <p:txBody>
          <a:bodyPr wrap="square" lIns="0" rIns="0" tIns="0" bIns="0" anchor="t">
            <a:spAutoFit/>
          </a:bodyPr>
          <a:lstStyle/>
          <a:p>
            <a:r>
              <a:rPr sz="1350" b="1">
                <a:solidFill>
                  <a:srgbClr val="3B6FB6"/>
                </a:solidFill>
                <a:latin typeface="Arial"/>
              </a:rPr>
              <a:t>Non, pour ce que paie le client</a:t>
            </a:r>
          </a:p>
        </p:txBody>
      </p:sp>
      <p:sp>
        <p:nvSpPr>
          <p:cNvPr id="7" name="TextBox 6"/>
          <p:cNvSpPr txBox="1"/>
          <p:nvPr/>
        </p:nvSpPr>
        <p:spPr>
          <a:xfrm>
            <a:off x="571500" y="2950219"/>
            <a:ext cx="5512742" cy="1866900"/>
          </a:xfrm>
          <a:prstGeom prst="rect">
            <a:avLst/>
          </a:prstGeom>
          <a:noFill/>
        </p:spPr>
        <p:txBody>
          <a:bodyPr wrap="square" lIns="0" rIns="0" tIns="0" bIns="0" anchor="t">
            <a:spAutoFit/>
          </a:bodyPr>
          <a:lstStyle/>
          <a:p>
            <a:pPr marL="152400" indent="-133350">
              <a:spcAft>
                <a:spcPts val="500"/>
              </a:spcAft>
              <a:buChar char="•"/>
            </a:pPr>
            <a:r>
              <a:rPr sz="1162" b="1">
                <a:solidFill>
                  <a:srgbClr val="22252B"/>
                </a:solidFill>
                <a:latin typeface="Arial"/>
              </a:rPr>
              <a:t>La France reste parmi les moins chères</a:t>
            </a:r>
            <a:r>
              <a:rPr sz="1162" b="0">
                <a:solidFill>
                  <a:srgbClr val="22252B"/>
                </a:solidFill>
                <a:latin typeface="Arial"/>
              </a:rPr>
              <a:t> : 61 € contre 89 € en Allemagne en 2025. RTE : « pour la première fois depuis 2011, le prix spot moyen a été plus faible en France qu’en Allemagne » (2024).</a:t>
            </a:r>
          </a:p>
          <a:p>
            <a:pPr marL="152400" indent="-133350">
              <a:spcAft>
                <a:spcPts val="500"/>
              </a:spcAft>
              <a:buChar char="•"/>
            </a:pPr>
            <a:r>
              <a:rPr sz="1162" b="1">
                <a:solidFill>
                  <a:srgbClr val="22252B"/>
                </a:solidFill>
                <a:latin typeface="Arial"/>
              </a:rPr>
              <a:t>Le client ne paie pas le spot</a:t>
            </a:r>
            <a:r>
              <a:rPr sz="1162" b="0">
                <a:solidFill>
                  <a:srgbClr val="22252B"/>
                </a:solidFill>
                <a:latin typeface="Arial"/>
              </a:rPr>
              <a:t> : le tarif réglementé achète des produits annuels lissés sur deux ans (63,9 €/MWh pour 2026, CRE). Jusqu’en 2025, l’ARENH à 42 €/MWh couvrait 43,8 % de sa consommation.</a:t>
            </a:r>
          </a:p>
          <a:p>
            <a:pPr marL="152400" indent="-133350">
              <a:spcAft>
                <a:spcPts val="500"/>
              </a:spcAft>
              <a:buChar char="•"/>
            </a:pPr>
            <a:r>
              <a:rPr sz="1162" b="1">
                <a:solidFill>
                  <a:srgbClr val="22252B"/>
                </a:solidFill>
                <a:latin typeface="Arial"/>
              </a:rPr>
              <a:t>Quand la France manque</a:t>
            </a:r>
            <a:r>
              <a:rPr sz="1162" b="0">
                <a:solidFill>
                  <a:srgbClr val="22252B"/>
                </a:solidFill>
                <a:latin typeface="Arial"/>
              </a:rPr>
              <a:t> (2022), les imports font baisser le prix et couvrent les pointes.</a:t>
            </a:r>
          </a:p>
        </p:txBody>
      </p:sp>
      <p:graphicFrame>
        <p:nvGraphicFramePr>
          <p:cNvPr id="8" name="Table 7"/>
          <p:cNvGraphicFramePr>
            <a:graphicFrameLocks noGrp="1"/>
          </p:cNvGraphicFramePr>
          <p:nvPr/>
        </p:nvGraphicFramePr>
        <p:xfrm>
          <a:off x="6369992" y="1101476"/>
          <a:ext cx="5250506" cy="1792036"/>
        </p:xfrm>
        <a:graphic>
          <a:graphicData uri="http://schemas.openxmlformats.org/drawingml/2006/table">
            <a:tbl>
              <a:tblPr firstRow="0" bandRow="0">
                <a:tableStyleId>{5C22544A-7EE6-4342-B048-85BDC9FD1C3A}</a:tableStyleId>
              </a:tblPr>
              <a:tblGrid>
                <a:gridCol w="999083"/>
                <a:gridCol w="1579364"/>
                <a:gridCol w="1239142"/>
                <a:gridCol w="1432917"/>
              </a:tblGrid>
              <a:tr h="512712">
                <a:tc>
                  <a:txBody>
                    <a:bodyPr wrap="square"/>
                    <a:lstStyle/>
                    <a:p>
                      <a:r>
                        <a:rPr sz="1087" b="1">
                          <a:solidFill>
                            <a:srgbClr val="22252B"/>
                          </a:solidFill>
                          <a:latin typeface="Arial"/>
                        </a:rPr>
                        <a:t>Livraison</a:t>
                      </a:r>
                    </a:p>
                  </a:txBody>
                  <a:tcPr marL="76200" marR="76200" marT="57150" marB="57150">
                    <a:solidFill>
                      <a:srgbClr val="F5F3FB"/>
                    </a:solidFill>
                  </a:tcPr>
                </a:tc>
                <a:tc>
                  <a:txBody>
                    <a:bodyPr wrap="square"/>
                    <a:lstStyle/>
                    <a:p>
                      <a:pPr algn="r"/>
                      <a:r>
                        <a:rPr sz="1087" b="1">
                          <a:solidFill>
                            <a:srgbClr val="22252B"/>
                          </a:solidFill>
                          <a:latin typeface="Arial"/>
                        </a:rPr>
                        <a:t>Cal France</a:t>
                      </a:r>
                    </a:p>
                    <a:p>
                      <a:pPr algn="r"/>
                      <a:r>
                        <a:rPr sz="937" b="0">
                          <a:solidFill>
                            <a:srgbClr val="777777"/>
                          </a:solidFill>
                          <a:latin typeface="Arial"/>
                        </a:rPr>
                        <a:t>coté l’année d’avant</a:t>
                      </a:r>
                    </a:p>
                  </a:txBody>
                  <a:tcPr marL="76200" marR="76200" marT="57150" marB="57150">
                    <a:solidFill>
                      <a:srgbClr val="F5F3FB"/>
                    </a:solidFill>
                  </a:tcPr>
                </a:tc>
                <a:tc>
                  <a:txBody>
                    <a:bodyPr wrap="square"/>
                    <a:lstStyle/>
                    <a:p>
                      <a:pPr algn="r"/>
                      <a:r>
                        <a:rPr sz="1087" b="1">
                          <a:solidFill>
                            <a:srgbClr val="22252B"/>
                          </a:solidFill>
                          <a:latin typeface="Arial"/>
                        </a:rPr>
                        <a:t>Spot France</a:t>
                      </a:r>
                    </a:p>
                    <a:p>
                      <a:pPr algn="r"/>
                      <a:r>
                        <a:rPr sz="937" b="0">
                          <a:solidFill>
                            <a:srgbClr val="777777"/>
                          </a:solidFill>
                          <a:latin typeface="Arial"/>
                        </a:rPr>
                        <a:t>réalisé</a:t>
                      </a:r>
                    </a:p>
                  </a:txBody>
                  <a:tcPr marL="76200" marR="76200" marT="57150" marB="57150">
                    <a:solidFill>
                      <a:srgbClr val="F5F3FB"/>
                    </a:solidFill>
                  </a:tcPr>
                </a:tc>
                <a:tc>
                  <a:txBody>
                    <a:bodyPr wrap="square"/>
                    <a:lstStyle/>
                    <a:p>
                      <a:pPr algn="r"/>
                      <a:r>
                        <a:rPr sz="1087" b="1">
                          <a:solidFill>
                            <a:srgbClr val="22252B"/>
                          </a:solidFill>
                          <a:latin typeface="Arial"/>
                        </a:rPr>
                        <a:t>Cal Allemagne</a:t>
                      </a:r>
                    </a:p>
                  </a:txBody>
                  <a:tcPr marL="76200" marR="76200" marT="57150" marB="57150">
                    <a:solidFill>
                      <a:srgbClr val="F5F3FB"/>
                    </a:solidFill>
                  </a:tcPr>
                </a:tc>
              </a:tr>
              <a:tr h="319831">
                <a:tc>
                  <a:txBody>
                    <a:bodyPr wrap="square"/>
                    <a:lstStyle/>
                    <a:p>
                      <a:r>
                        <a:rPr sz="1087" b="0">
                          <a:solidFill>
                            <a:srgbClr val="22252B"/>
                          </a:solidFill>
                          <a:latin typeface="Arial"/>
                        </a:rPr>
                        <a:t>2024</a:t>
                      </a:r>
                    </a:p>
                  </a:txBody>
                  <a:tcPr marL="76200" marR="76200" marT="57150" marB="57150">
                    <a:solidFill>
                      <a:srgbClr val="FFFFFF"/>
                    </a:solidFill>
                  </a:tcPr>
                </a:tc>
                <a:tc>
                  <a:txBody>
                    <a:bodyPr wrap="square"/>
                    <a:lstStyle/>
                    <a:p>
                      <a:pPr algn="r"/>
                      <a:r>
                        <a:rPr sz="1087" b="0">
                          <a:solidFill>
                            <a:srgbClr val="22252B"/>
                          </a:solidFill>
                          <a:latin typeface="Arial"/>
                        </a:rPr>
                        <a:t>99,8</a:t>
                      </a:r>
                    </a:p>
                  </a:txBody>
                  <a:tcPr marL="76200" marR="76200" marT="57150" marB="57150">
                    <a:solidFill>
                      <a:srgbClr val="FFFFFF"/>
                    </a:solidFill>
                  </a:tcPr>
                </a:tc>
                <a:tc>
                  <a:txBody>
                    <a:bodyPr wrap="square"/>
                    <a:lstStyle/>
                    <a:p>
                      <a:pPr algn="r"/>
                      <a:r>
                        <a:rPr sz="1087" b="0">
                          <a:solidFill>
                            <a:srgbClr val="22252B"/>
                          </a:solidFill>
                          <a:latin typeface="Arial"/>
                        </a:rPr>
                        <a:t>58,0</a:t>
                      </a:r>
                    </a:p>
                  </a:txBody>
                  <a:tcPr marL="76200" marR="76200" marT="57150" marB="57150">
                    <a:solidFill>
                      <a:srgbClr val="FFFFFF"/>
                    </a:solidFill>
                  </a:tcPr>
                </a:tc>
                <a:tc>
                  <a:txBody>
                    <a:bodyPr wrap="square"/>
                    <a:lstStyle/>
                    <a:p>
                      <a:pPr algn="r"/>
                      <a:r>
                        <a:rPr sz="1087" b="0">
                          <a:solidFill>
                            <a:srgbClr val="22252B"/>
                          </a:solidFill>
                          <a:latin typeface="Arial"/>
                        </a:rPr>
                        <a:t>96,8</a:t>
                      </a:r>
                    </a:p>
                  </a:txBody>
                  <a:tcPr marL="76200" marR="76200" marT="57150" marB="57150">
                    <a:solidFill>
                      <a:srgbClr val="FFFFFF"/>
                    </a:solidFill>
                  </a:tcPr>
                </a:tc>
              </a:tr>
              <a:tr h="319831">
                <a:tc>
                  <a:txBody>
                    <a:bodyPr wrap="square"/>
                    <a:lstStyle/>
                    <a:p>
                      <a:r>
                        <a:rPr sz="1087" b="0">
                          <a:solidFill>
                            <a:srgbClr val="22252B"/>
                          </a:solidFill>
                          <a:latin typeface="Arial"/>
                        </a:rPr>
                        <a:t>2025</a:t>
                      </a:r>
                    </a:p>
                  </a:txBody>
                  <a:tcPr marL="76200" marR="76200" marT="57150" marB="57150">
                    <a:solidFill>
                      <a:srgbClr val="FFFFFF"/>
                    </a:solidFill>
                  </a:tcPr>
                </a:tc>
                <a:tc>
                  <a:txBody>
                    <a:bodyPr wrap="square"/>
                    <a:lstStyle/>
                    <a:p>
                      <a:pPr algn="r"/>
                      <a:r>
                        <a:rPr sz="1087" b="0">
                          <a:solidFill>
                            <a:srgbClr val="22252B"/>
                          </a:solidFill>
                          <a:latin typeface="Arial"/>
                        </a:rPr>
                        <a:t>63,8</a:t>
                      </a:r>
                    </a:p>
                  </a:txBody>
                  <a:tcPr marL="76200" marR="76200" marT="57150" marB="57150">
                    <a:solidFill>
                      <a:srgbClr val="FFFFFF"/>
                    </a:solidFill>
                  </a:tcPr>
                </a:tc>
                <a:tc>
                  <a:txBody>
                    <a:bodyPr wrap="square"/>
                    <a:lstStyle/>
                    <a:p>
                      <a:pPr algn="r"/>
                      <a:r>
                        <a:rPr sz="1087" b="0">
                          <a:solidFill>
                            <a:srgbClr val="22252B"/>
                          </a:solidFill>
                          <a:latin typeface="Arial"/>
                        </a:rPr>
                        <a:t>61,1</a:t>
                      </a:r>
                    </a:p>
                  </a:txBody>
                  <a:tcPr marL="76200" marR="76200" marT="57150" marB="57150">
                    <a:solidFill>
                      <a:srgbClr val="FFFFFF"/>
                    </a:solidFill>
                  </a:tcPr>
                </a:tc>
                <a:tc>
                  <a:txBody>
                    <a:bodyPr wrap="square"/>
                    <a:lstStyle/>
                    <a:p>
                      <a:pPr algn="r"/>
                      <a:r>
                        <a:rPr sz="1087" b="0">
                          <a:solidFill>
                            <a:srgbClr val="22252B"/>
                          </a:solidFill>
                          <a:latin typeface="Arial"/>
                        </a:rPr>
                        <a:t>73,4</a:t>
                      </a:r>
                    </a:p>
                  </a:txBody>
                  <a:tcPr marL="76200" marR="76200" marT="57150" marB="57150">
                    <a:solidFill>
                      <a:srgbClr val="FFFFFF"/>
                    </a:solidFill>
                  </a:tcPr>
                </a:tc>
              </a:tr>
              <a:tr h="319831">
                <a:tc>
                  <a:txBody>
                    <a:bodyPr wrap="square"/>
                    <a:lstStyle/>
                    <a:p>
                      <a:r>
                        <a:rPr sz="1087" b="0">
                          <a:solidFill>
                            <a:srgbClr val="22252B"/>
                          </a:solidFill>
                          <a:latin typeface="Arial"/>
                        </a:rPr>
                        <a:t>2026</a:t>
                      </a:r>
                    </a:p>
                  </a:txBody>
                  <a:tcPr marL="76200" marR="76200" marT="57150" marB="57150">
                    <a:solidFill>
                      <a:srgbClr val="FFFFFF"/>
                    </a:solidFill>
                  </a:tcPr>
                </a:tc>
                <a:tc>
                  <a:txBody>
                    <a:bodyPr wrap="square"/>
                    <a:lstStyle/>
                    <a:p>
                      <a:pPr algn="r"/>
                      <a:r>
                        <a:rPr sz="1087" b="0">
                          <a:solidFill>
                            <a:srgbClr val="22252B"/>
                          </a:solidFill>
                          <a:latin typeface="Arial"/>
                        </a:rPr>
                        <a:t>59,5</a:t>
                      </a:r>
                    </a:p>
                  </a:txBody>
                  <a:tcPr marL="76200" marR="76200" marT="57150" marB="57150">
                    <a:solidFill>
                      <a:srgbClr val="FFFFFF"/>
                    </a:solidFill>
                  </a:tcPr>
                </a:tc>
                <a:tc>
                  <a:txBody>
                    <a:bodyPr wrap="square"/>
                    <a:lstStyle/>
                    <a:p>
                      <a:pPr algn="r"/>
                      <a:r>
                        <a:rPr sz="1087" b="0">
                          <a:solidFill>
                            <a:srgbClr val="22252B"/>
                          </a:solidFill>
                          <a:latin typeface="Arial"/>
                        </a:rPr>
                        <a:t>90,1</a:t>
                      </a:r>
                    </a:p>
                  </a:txBody>
                  <a:tcPr marL="76200" marR="76200" marT="57150" marB="57150">
                    <a:solidFill>
                      <a:srgbClr val="FFFFFF"/>
                    </a:solidFill>
                  </a:tcPr>
                </a:tc>
                <a:tc>
                  <a:txBody>
                    <a:bodyPr wrap="square"/>
                    <a:lstStyle/>
                    <a:p>
                      <a:pPr algn="r"/>
                      <a:r>
                        <a:rPr sz="1087" b="0">
                          <a:solidFill>
                            <a:srgbClr val="22252B"/>
                          </a:solidFill>
                          <a:latin typeface="Arial"/>
                        </a:rPr>
                        <a:t>81,0</a:t>
                      </a:r>
                    </a:p>
                  </a:txBody>
                  <a:tcPr marL="76200" marR="76200" marT="57150" marB="57150">
                    <a:solidFill>
                      <a:srgbClr val="FFFFFF"/>
                    </a:solidFill>
                  </a:tcPr>
                </a:tc>
              </a:tr>
              <a:tr h="319831">
                <a:tc>
                  <a:txBody>
                    <a:bodyPr wrap="square"/>
                    <a:lstStyle/>
                    <a:p>
                      <a:r>
                        <a:rPr sz="1087" b="0">
                          <a:solidFill>
                            <a:srgbClr val="22252B"/>
                          </a:solidFill>
                          <a:latin typeface="Arial"/>
                        </a:rPr>
                        <a:t>2027</a:t>
                      </a:r>
                    </a:p>
                  </a:txBody>
                  <a:tcPr marL="76200" marR="76200" marT="57150" marB="57150">
                    <a:solidFill>
                      <a:srgbClr val="FFFFFF"/>
                    </a:solidFill>
                  </a:tcPr>
                </a:tc>
                <a:tc>
                  <a:txBody>
                    <a:bodyPr wrap="square"/>
                    <a:lstStyle/>
                    <a:p>
                      <a:pPr algn="r"/>
                      <a:r>
                        <a:rPr sz="1087" b="0">
                          <a:solidFill>
                            <a:srgbClr val="22252B"/>
                          </a:solidFill>
                          <a:latin typeface="Arial"/>
                        </a:rPr>
                        <a:t>64,8</a:t>
                      </a:r>
                    </a:p>
                  </a:txBody>
                  <a:tcPr marL="76200" marR="76200" marT="57150" marB="57150">
                    <a:solidFill>
                      <a:srgbClr val="FFFFFF"/>
                    </a:solidFill>
                  </a:tcPr>
                </a:tc>
                <a:tc>
                  <a:txBody>
                    <a:bodyPr wrap="square"/>
                    <a:lstStyle/>
                    <a:p>
                      <a:pPr algn="r"/>
                      <a:r>
                        <a:rPr sz="1087" b="0">
                          <a:solidFill>
                            <a:srgbClr val="22252B"/>
                          </a:solidFill>
                          <a:latin typeface="Arial"/>
                        </a:rPr>
                        <a:t>–</a:t>
                      </a:r>
                    </a:p>
                  </a:txBody>
                  <a:tcPr marL="76200" marR="76200" marT="57150" marB="57150">
                    <a:solidFill>
                      <a:srgbClr val="FFFFFF"/>
                    </a:solidFill>
                  </a:tcPr>
                </a:tc>
                <a:tc>
                  <a:txBody>
                    <a:bodyPr wrap="square"/>
                    <a:lstStyle/>
                    <a:p>
                      <a:pPr algn="r"/>
                      <a:r>
                        <a:rPr sz="1087" b="0">
                          <a:solidFill>
                            <a:srgbClr val="22252B"/>
                          </a:solidFill>
                          <a:latin typeface="Arial"/>
                        </a:rPr>
                        <a:t>102,1</a:t>
                      </a:r>
                    </a:p>
                  </a:txBody>
                  <a:tcPr marL="76200" marR="76200" marT="57150" marB="57150">
                    <a:solidFill>
                      <a:srgbClr val="FFFFFF"/>
                    </a:solidFill>
                  </a:tcPr>
                </a:tc>
              </a:tr>
            </a:tbl>
          </a:graphicData>
        </a:graphic>
      </p:graphicFrame>
      <p:sp>
        <p:nvSpPr>
          <p:cNvPr id="9" name="TextBox 8"/>
          <p:cNvSpPr txBox="1"/>
          <p:nvPr/>
        </p:nvSpPr>
        <p:spPr>
          <a:xfrm>
            <a:off x="6369992" y="3012578"/>
            <a:ext cx="5250507" cy="841771"/>
          </a:xfrm>
          <a:prstGeom prst="rect">
            <a:avLst/>
          </a:prstGeom>
          <a:noFill/>
        </p:spPr>
        <p:txBody>
          <a:bodyPr wrap="square" lIns="0" rIns="0" tIns="0" bIns="0" anchor="t">
            <a:spAutoFit/>
          </a:bodyPr>
          <a:lstStyle/>
          <a:p>
            <a:r>
              <a:rPr sz="937" b="0">
                <a:solidFill>
                  <a:srgbClr val="8A8F98"/>
                </a:solidFill>
                <a:latin typeface="Arial"/>
              </a:rPr>
              <a:t>€/MWh. Le prix à terme français, sur lequel se construisent les contrats, a intégré année après année le découplage avec l’Allemagne : il anticipe le spot couplé. L’effet du couplage sur la facture passe par là, avec un à deux ans de décalage ; il n’est pas chiffrable directement. 2026 : spot de janvier à octobre. Sources : SEFE (base PowerKlock), ENTSO-E ; CRE, délibération TRVE 2026-06 ; RTE, Bilan électrique 2024.</a:t>
            </a:r>
          </a:p>
        </p:txBody>
      </p:sp>
      <p:sp>
        <p:nvSpPr>
          <p:cNvPr id="10" name="TextBox 9"/>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a:t>
            </a:r>
            <a:r>
              <a:rPr sz="900" b="0">
                <a:solidFill>
                  <a:srgbClr val="AAAAAA"/>
                </a:solidFill>
                <a:latin typeface="Arial"/>
              </a:rPr>
              <a:t> · couplage des marchés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71500" y="381000"/>
            <a:ext cx="11049000" cy="190500"/>
          </a:xfrm>
          <a:prstGeom prst="rect">
            <a:avLst/>
          </a:prstGeom>
          <a:noFill/>
        </p:spPr>
        <p:txBody>
          <a:bodyPr wrap="square" lIns="0" rIns="0" tIns="0" bIns="0" anchor="t">
            <a:spAutoFit/>
          </a:bodyPr>
          <a:lstStyle/>
          <a:p>
            <a:r>
              <a:rPr sz="1050" b="1">
                <a:solidFill>
                  <a:srgbClr val="7A5CC7"/>
                </a:solidFill>
                <a:latin typeface="Arial"/>
              </a:rPr>
              <a:t>LES GAINS</a:t>
            </a:r>
          </a:p>
        </p:txBody>
      </p:sp>
      <p:sp>
        <p:nvSpPr>
          <p:cNvPr id="3" name="TextBox 2"/>
          <p:cNvSpPr txBox="1"/>
          <p:nvPr/>
        </p:nvSpPr>
        <p:spPr>
          <a:xfrm>
            <a:off x="571500" y="590550"/>
            <a:ext cx="11049000" cy="377576"/>
          </a:xfrm>
          <a:prstGeom prst="rect">
            <a:avLst/>
          </a:prstGeom>
          <a:noFill/>
        </p:spPr>
        <p:txBody>
          <a:bodyPr wrap="square" lIns="0" rIns="0" tIns="0" bIns="0" anchor="t">
            <a:spAutoFit/>
          </a:bodyPr>
          <a:lstStyle/>
          <a:p>
            <a:r>
              <a:rPr sz="2325" b="1">
                <a:solidFill>
                  <a:srgbClr val="22252B"/>
                </a:solidFill>
                <a:latin typeface="Arial"/>
              </a:rPr>
              <a:t>Les gains, avec les chiffres de RTE et de la CRE</a:t>
            </a:r>
          </a:p>
        </p:txBody>
      </p:sp>
      <p:sp>
        <p:nvSpPr>
          <p:cNvPr id="4" name="TextBox 3"/>
          <p:cNvSpPr txBox="1"/>
          <p:nvPr/>
        </p:nvSpPr>
        <p:spPr>
          <a:xfrm>
            <a:off x="571500" y="1101476"/>
            <a:ext cx="2647950" cy="1326505"/>
          </a:xfrm>
          <a:prstGeom prst="rect">
            <a:avLst/>
          </a:prstGeom>
          <a:solidFill>
            <a:srgbClr val="F5F3FB"/>
          </a:solidFill>
        </p:spPr>
        <p:txBody>
          <a:bodyPr wrap="square" lIns="152400" rIns="152400" tIns="152400" bIns="152400" anchor="t">
            <a:spAutoFit/>
          </a:bodyPr>
          <a:lstStyle/>
          <a:p>
            <a:r>
              <a:rPr sz="2250" b="1">
                <a:solidFill>
                  <a:srgbClr val="7A5CC7"/>
                </a:solidFill>
                <a:latin typeface="Arial"/>
              </a:rPr>
              <a:t>92,3 TWh</a:t>
            </a:r>
          </a:p>
          <a:p>
            <a:r>
              <a:rPr sz="1050" b="0">
                <a:solidFill>
                  <a:srgbClr val="22252B"/>
                </a:solidFill>
                <a:latin typeface="Arial"/>
              </a:rPr>
              <a:t>exportés en net en 2025, un record ; la France exportatrice 99 % du temps (RTE)</a:t>
            </a:r>
          </a:p>
        </p:txBody>
      </p:sp>
      <p:sp>
        <p:nvSpPr>
          <p:cNvPr id="5" name="TextBox 4"/>
          <p:cNvSpPr txBox="1"/>
          <p:nvPr/>
        </p:nvSpPr>
        <p:spPr>
          <a:xfrm>
            <a:off x="3371850" y="1101476"/>
            <a:ext cx="2647950" cy="1326505"/>
          </a:xfrm>
          <a:prstGeom prst="rect">
            <a:avLst/>
          </a:prstGeom>
          <a:solidFill>
            <a:srgbClr val="F5F3FB"/>
          </a:solidFill>
        </p:spPr>
        <p:txBody>
          <a:bodyPr wrap="square" lIns="152400" rIns="152400" tIns="152400" bIns="152400" anchor="t">
            <a:spAutoFit/>
          </a:bodyPr>
          <a:lstStyle/>
          <a:p>
            <a:r>
              <a:rPr sz="2250" b="1">
                <a:solidFill>
                  <a:srgbClr val="7A5CC7"/>
                </a:solidFill>
                <a:latin typeface="Arial"/>
              </a:rPr>
              <a:t>5,4 Md€</a:t>
            </a:r>
          </a:p>
          <a:p>
            <a:r>
              <a:rPr sz="1050" b="0">
                <a:solidFill>
                  <a:srgbClr val="22252B"/>
                </a:solidFill>
                <a:latin typeface="Arial"/>
              </a:rPr>
              <a:t>valeur nette des exports en 2025 au prix français ; de l’ordre de 9 Md€ au prix des pays acheteurs (RTE)</a:t>
            </a:r>
          </a:p>
        </p:txBody>
      </p:sp>
      <p:sp>
        <p:nvSpPr>
          <p:cNvPr id="6" name="TextBox 5"/>
          <p:cNvSpPr txBox="1"/>
          <p:nvPr/>
        </p:nvSpPr>
        <p:spPr>
          <a:xfrm>
            <a:off x="6172200" y="1101476"/>
            <a:ext cx="2647950" cy="1326505"/>
          </a:xfrm>
          <a:prstGeom prst="rect">
            <a:avLst/>
          </a:prstGeom>
          <a:solidFill>
            <a:srgbClr val="F5F3FB"/>
          </a:solidFill>
        </p:spPr>
        <p:txBody>
          <a:bodyPr wrap="square" lIns="152400" rIns="152400" tIns="152400" bIns="152400" anchor="t">
            <a:spAutoFit/>
          </a:bodyPr>
          <a:lstStyle/>
          <a:p>
            <a:r>
              <a:rPr sz="2250" b="1">
                <a:solidFill>
                  <a:srgbClr val="7A5CC7"/>
                </a:solidFill>
                <a:latin typeface="Arial"/>
              </a:rPr>
              <a:t>2,05 Md€</a:t>
            </a:r>
          </a:p>
          <a:p>
            <a:r>
              <a:rPr sz="1050" b="0">
                <a:solidFill>
                  <a:srgbClr val="22252B"/>
                </a:solidFill>
                <a:latin typeface="Arial"/>
              </a:rPr>
              <a:t>recettes d’interconnexion de RTE en 2025 (frontières UE, brut) ; 459,7 M€ d’excédent déduits du TURPE (CRE)</a:t>
            </a:r>
          </a:p>
        </p:txBody>
      </p:sp>
      <p:sp>
        <p:nvSpPr>
          <p:cNvPr id="7" name="TextBox 6"/>
          <p:cNvSpPr txBox="1"/>
          <p:nvPr/>
        </p:nvSpPr>
        <p:spPr>
          <a:xfrm>
            <a:off x="8972550" y="1101476"/>
            <a:ext cx="2647950" cy="1326505"/>
          </a:xfrm>
          <a:prstGeom prst="rect">
            <a:avLst/>
          </a:prstGeom>
          <a:solidFill>
            <a:srgbClr val="F5F3FB"/>
          </a:solidFill>
        </p:spPr>
        <p:txBody>
          <a:bodyPr wrap="square" lIns="152400" rIns="152400" tIns="152400" bIns="152400" anchor="t">
            <a:spAutoFit/>
          </a:bodyPr>
          <a:lstStyle/>
          <a:p>
            <a:r>
              <a:rPr sz="2250" b="1">
                <a:solidFill>
                  <a:srgbClr val="7A5CC7"/>
                </a:solidFill>
                <a:latin typeface="Arial"/>
              </a:rPr>
              <a:t>1,94 Md€</a:t>
            </a:r>
          </a:p>
          <a:p>
            <a:r>
              <a:rPr sz="1050" b="0">
                <a:solidFill>
                  <a:srgbClr val="22252B"/>
                </a:solidFill>
                <a:latin typeface="Arial"/>
              </a:rPr>
              <a:t>versés en plus aux utilisateurs du réseau au titre de 2022, grâce aux recettes d’interconnexion (CRE)</a:t>
            </a:r>
          </a:p>
        </p:txBody>
      </p:sp>
      <p:sp>
        <p:nvSpPr>
          <p:cNvPr id="8" name="TextBox 7"/>
          <p:cNvSpPr txBox="1"/>
          <p:nvPr/>
        </p:nvSpPr>
        <p:spPr>
          <a:xfrm>
            <a:off x="571500" y="2580382"/>
            <a:ext cx="11049000" cy="1514475"/>
          </a:xfrm>
          <a:prstGeom prst="rect">
            <a:avLst/>
          </a:prstGeom>
          <a:noFill/>
        </p:spPr>
        <p:txBody>
          <a:bodyPr wrap="square" lIns="0" rIns="0" tIns="0" bIns="0" anchor="t">
            <a:spAutoFit/>
          </a:bodyPr>
          <a:lstStyle/>
          <a:p>
            <a:pPr marL="152400" indent="-133350">
              <a:spcAft>
                <a:spcPts val="500"/>
              </a:spcAft>
              <a:buChar char="•"/>
            </a:pPr>
            <a:r>
              <a:rPr sz="1162" b="1">
                <a:solidFill>
                  <a:srgbClr val="22252B"/>
                </a:solidFill>
                <a:latin typeface="Arial"/>
              </a:rPr>
              <a:t>Où va l’argent des exports</a:t>
            </a:r>
            <a:r>
              <a:rPr sz="1162" b="0">
                <a:solidFill>
                  <a:srgbClr val="22252B"/>
                </a:solidFill>
                <a:latin typeface="Arial"/>
              </a:rPr>
              <a:t> : surtout à EDF, détenue à 100 % par l’État depuis juin 2023, donc en partie au contribuable. Un prix de marché plus haut réduit aussi ce que l’État verse aux éoliennes et panneaux sous contrat de soutien (6,2 Md€ en 2025, CRE).</a:t>
            </a:r>
          </a:p>
          <a:p>
            <a:pPr marL="152400" indent="-133350">
              <a:spcAft>
                <a:spcPts val="500"/>
              </a:spcAft>
              <a:buChar char="•"/>
            </a:pPr>
            <a:r>
              <a:rPr sz="1162" b="1">
                <a:solidFill>
                  <a:srgbClr val="22252B"/>
                </a:solidFill>
                <a:latin typeface="Arial"/>
              </a:rPr>
              <a:t>Sécurité d’approvisionnement</a:t>
            </a:r>
            <a:r>
              <a:rPr sz="1162" b="0">
                <a:solidFill>
                  <a:srgbClr val="22252B"/>
                </a:solidFill>
                <a:latin typeface="Arial"/>
              </a:rPr>
              <a:t> : en 2022, avec la moitié du nucléaire à l’arrêt, la France a importé ; la CRE juge que « la France bénéficie largement de cette intégration européenne ».</a:t>
            </a:r>
          </a:p>
          <a:p>
            <a:pPr marL="152400" indent="-133350">
              <a:spcAft>
                <a:spcPts val="500"/>
              </a:spcAft>
              <a:buChar char="•"/>
            </a:pPr>
            <a:r>
              <a:rPr sz="1162" b="1">
                <a:solidFill>
                  <a:srgbClr val="22252B"/>
                </a:solidFill>
                <a:latin typeface="Arial"/>
              </a:rPr>
              <a:t>Europe</a:t>
            </a:r>
            <a:r>
              <a:rPr sz="1162" b="0">
                <a:solidFill>
                  <a:srgbClr val="22252B"/>
                </a:solidFill>
                <a:latin typeface="Arial"/>
              </a:rPr>
              <a:t> : environ 34 Md€ de gains des échanges transfrontaliers en 2021, comparé à un monde sans interconnexions (ACER).</a:t>
            </a:r>
          </a:p>
          <a:p>
            <a:pPr marL="152400" indent="-133350">
              <a:spcAft>
                <a:spcPts val="500"/>
              </a:spcAft>
              <a:buChar char="•"/>
            </a:pPr>
            <a:r>
              <a:rPr sz="1162" b="1">
                <a:solidFill>
                  <a:srgbClr val="22252B"/>
                </a:solidFill>
                <a:latin typeface="Arial"/>
              </a:rPr>
              <a:t>En résumé</a:t>
            </a:r>
            <a:r>
              <a:rPr sz="1162" b="0">
                <a:solidFill>
                  <a:srgbClr val="22252B"/>
                </a:solidFill>
                <a:latin typeface="Arial"/>
              </a:rPr>
              <a:t> : le spot est plus haut qu’en autarcie, mais une bonne part de cette valeur revient en France, par EDF (l’État), par le TURPE et par le soutien public évité.</a:t>
            </a:r>
          </a:p>
        </p:txBody>
      </p:sp>
      <p:sp>
        <p:nvSpPr>
          <p:cNvPr id="9" name="TextBox 8"/>
          <p:cNvSpPr txBox="1"/>
          <p:nvPr/>
        </p:nvSpPr>
        <p:spPr>
          <a:xfrm>
            <a:off x="571500" y="4152007"/>
            <a:ext cx="11049000" cy="359568"/>
          </a:xfrm>
          <a:prstGeom prst="rect">
            <a:avLst/>
          </a:prstGeom>
          <a:noFill/>
        </p:spPr>
        <p:txBody>
          <a:bodyPr wrap="square" lIns="0" rIns="0" tIns="0" bIns="0" anchor="t">
            <a:spAutoFit/>
          </a:bodyPr>
          <a:lstStyle/>
          <a:p>
            <a:r>
              <a:rPr sz="937" b="0">
                <a:solidFill>
                  <a:srgbClr val="8A8F98"/>
                </a:solidFill>
                <a:latin typeface="Arial"/>
              </a:rPr>
              <a:t>Sources : RTE, Bilan électrique 2025 (pp. 14–16) ; CRE, Utilisation des recettes de congestion 2025 ; CRE, versement exceptionnel de RTE au titre de 2022 ; CRE, charges de service public 2025 (délibération 2026-149) ; EDF, communiqué du 9 juin 2023 ; CRE, surveillance des marchés de gros 2025 ; ACER, Final Assessment of the EU Wholesale Electricity Market Design (2022). Liens : sources.md.</a:t>
            </a:r>
          </a:p>
        </p:txBody>
      </p:sp>
      <p:sp>
        <p:nvSpPr>
          <p:cNvPr id="10" name="TextBox 9"/>
          <p:cNvSpPr txBox="1"/>
          <p:nvPr/>
        </p:nvSpPr>
        <p:spPr>
          <a:xfrm>
            <a:off x="8241357" y="6572250"/>
            <a:ext cx="3379142" cy="171450"/>
          </a:xfrm>
          <a:prstGeom prst="rect">
            <a:avLst/>
          </a:prstGeom>
          <a:noFill/>
        </p:spPr>
        <p:txBody>
          <a:bodyPr wrap="square" lIns="0" rIns="0" tIns="0" bIns="0" anchor="t">
            <a:spAutoFit/>
          </a:bodyPr>
          <a:lstStyle/>
          <a:p>
            <a:pPr algn="r"/>
            <a:r>
              <a:rPr sz="900" b="0">
                <a:solidFill>
                  <a:srgbClr val="AAAAAA"/>
                </a:solidFill>
                <a:latin typeface="Arial"/>
              </a:rPr>
              <a:t>PowerKlock</a:t>
            </a:r>
            <a:r>
              <a:rPr sz="900" b="0">
                <a:solidFill>
                  <a:srgbClr val="AAAAAA"/>
                </a:solidFill>
                <a:latin typeface="Arial"/>
              </a:rPr>
              <a:t> · couplage des marchés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